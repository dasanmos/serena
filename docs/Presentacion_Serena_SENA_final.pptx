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s/slide34.xml" ContentType="application/vnd.openxmlformats-officedocument.presentationml.slide+xml"/>
  <Override PartName="/ppt/slides/slide35.xml" ContentType="application/vnd.openxmlformats-officedocument.presentationml.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90" r:id="rId40"/>
    <p:sldId id="259" r:id="rId8"/>
    <p:sldId id="260" r:id="rId9"/>
    <p:sldId id="278" r:id="rId28"/>
    <p:sldId id="279" r:id="rId29"/>
    <p:sldId id="280" r:id="rId30"/>
    <p:sldId id="281" r:id="rId31"/>
    <p:sldId id="276" r:id="rId26"/>
    <p:sldId id="282" r:id="rId32"/>
    <p:sldId id="283" r:id="rId33"/>
    <p:sldId id="284" r:id="rId34"/>
    <p:sldId id="285" r:id="rId35"/>
    <p:sldId id="286" r:id="rId36"/>
    <p:sldId id="287" r:id="rId37"/>
    <p:sldId id="277" r:id="rId27"/>
    <p:sldId id="261" r:id="rId10"/>
    <p:sldId id="262" r:id="rId11"/>
    <p:sldId id="263" r:id="rId12"/>
    <p:sldId id="274" r:id="rId24"/>
    <p:sldId id="264" r:id="rId13"/>
    <p:sldId id="265" r:id="rId14"/>
    <p:sldId id="275" r:id="rId25"/>
    <p:sldId id="266" r:id="rId15"/>
    <p:sldId id="267" r:id="rId16"/>
    <p:sldId id="268" r:id="rId17"/>
    <p:sldId id="269" r:id="rId18"/>
    <p:sldId id="270" r:id="rId19"/>
    <p:sldId id="271" r:id="rId20"/>
    <p:sldId id="272" r:id="rId21"/>
    <p:sldId id="289" r:id="rId39"/>
    <p:sldId id="288" r:id="rId38"/>
    <p:sldId id="273" r:id="rId2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iZuOwr1j21sfk0UixlGGvI6PAx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18.xml"/><Relationship Id="rId11" Type="http://schemas.openxmlformats.org/officeDocument/2006/relationships/slide" Target="slides/slide19.xml"/><Relationship Id="rId12" Type="http://schemas.openxmlformats.org/officeDocument/2006/relationships/slide" Target="slides/slide20.xml"/><Relationship Id="rId13" Type="http://schemas.openxmlformats.org/officeDocument/2006/relationships/slide" Target="slides/slide22.xml"/><Relationship Id="rId14" Type="http://schemas.openxmlformats.org/officeDocument/2006/relationships/slide" Target="slides/slide23.xml"/><Relationship Id="rId15" Type="http://schemas.openxmlformats.org/officeDocument/2006/relationships/slide" Target="slides/slide25.xml"/><Relationship Id="rId16" Type="http://schemas.openxmlformats.org/officeDocument/2006/relationships/slide" Target="slides/slide26.xml"/><Relationship Id="rId17" Type="http://schemas.openxmlformats.org/officeDocument/2006/relationships/slide" Target="slides/slide27.xml"/><Relationship Id="rId18" Type="http://schemas.openxmlformats.org/officeDocument/2006/relationships/slide" Target="slides/slide28.xml"/><Relationship Id="rId19" Type="http://schemas.openxmlformats.org/officeDocument/2006/relationships/slide" Target="slides/slide29.xml"/><Relationship Id="rId20" Type="http://schemas.openxmlformats.org/officeDocument/2006/relationships/slide" Target="slides/slide30.xml"/><Relationship Id="rId21" Type="http://schemas.openxmlformats.org/officeDocument/2006/relationships/slide" Target="slides/slide31.xml"/><Relationship Id="rId22" Type="http://schemas.openxmlformats.org/officeDocument/2006/relationships/slide" Target="slides/slide33.xml"/><Relationship Id="rId23" Type="http://customschemas.google.com/relationships/presentationmetadata" Target="metadata"/><Relationship Id="rId24" Type="http://schemas.openxmlformats.org/officeDocument/2006/relationships/slide" Target="slides/slide21.xml"/><Relationship Id="rId25" Type="http://schemas.openxmlformats.org/officeDocument/2006/relationships/slide" Target="slides/slide24.xml"/><Relationship Id="rId26" Type="http://schemas.openxmlformats.org/officeDocument/2006/relationships/slide" Target="slides/slide10.xml"/><Relationship Id="rId27" Type="http://schemas.openxmlformats.org/officeDocument/2006/relationships/slide" Target="slides/slide17.xml"/><Relationship Id="rId28" Type="http://schemas.openxmlformats.org/officeDocument/2006/relationships/slide" Target="slides/slide6.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11.xml"/><Relationship Id="rId33" Type="http://schemas.openxmlformats.org/officeDocument/2006/relationships/slide" Target="slides/slide12.xml"/><Relationship Id="rId34" Type="http://schemas.openxmlformats.org/officeDocument/2006/relationships/slide" Target="slides/slide13.xml"/><Relationship Id="rId35" Type="http://schemas.openxmlformats.org/officeDocument/2006/relationships/slide" Target="slides/slide14.xml"/><Relationship Id="rId36" Type="http://schemas.openxmlformats.org/officeDocument/2006/relationships/slide" Target="slides/slide15.xml"/><Relationship Id="rId37" Type="http://schemas.openxmlformats.org/officeDocument/2006/relationships/slide" Target="slides/slide16.xml"/><Relationship Id="rId38" Type="http://schemas.openxmlformats.org/officeDocument/2006/relationships/slide" Target="slides/slide32.xml"/>  <Relationship Id="rId39" Type="http://schemas.openxmlformats.org/officeDocument/2006/relationships/slide" Target="slides/slide34.xml"/>
  <Relationship Id="rId40" Type="http://schemas.openxmlformats.org/officeDocument/2006/relationships/slide" Target="slides/slide3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Presentación de la socialización de etapa productiva. Serena es una plataforma web académica y de bienestar emocional para toda la institución. Presentan David Santiago Mosquera Mosquera y Ana Sofía Ángel Moncada, aprendices del Técnico en Desarrollo de Software del SENA.</a:t>
            </a:r>
          </a:p>
        </p:txBody>
      </p:sp>
      <p:sp>
        <p:nvSpPr>
          <p:cNvPr id="25" name="Google Shape;2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Presentación del equipo: los dos aprendices del Técnico en Desarrollo de Software del SENA y el proyecto Serena.</a:t>
            </a:r>
            <a:endParaRPr/>
          </a:p>
        </p:txBody>
      </p:sp>
      <p:sp>
        <p:nvSpPr>
          <p:cNvPr id="39" name="Google Shape;3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Recorrido de la presentación en seis bloques: problema, solución, producto, construcción, seguridad e impacto, cerrando con la demostración en vivo.</a:t>
            </a:r>
            <a:endParaRPr/>
          </a:p>
        </p:txBody>
      </p:sp>
      <p:sp>
        <p:nvSpPr>
          <p:cNvPr id="61" name="Google Shape;6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problema: estrés, ansiedad, falta de motivación y desorganización en jóvenes. La brecha: las apps existentes miden emociones, hábitos o diario por separado. La necesidad: una herramienta gratuita y segura para toda la institución desde grado sexto.</a:t>
            </a:r>
            <a:endParaRPr/>
          </a:p>
        </p:txBody>
      </p:sp>
      <p:sp>
        <p:nvSpPr>
          <p:cNvPr id="93" name="Google Shape;9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Referentes analizados: Daylio, Habitica y Reflectly. Cada uno cubre una sola dimensión (emociones, hábitos o diario). Serena las reúne en una sola plataforma y la conecta con psicología y orientación.</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Serena es una plataforma web académica y de bienestar emocional para toda la institución desde grado sexto. Cifras del proyecto: 11 roles de usuario con su propio panel, 344 archivos PHP y 46 migraciones SQL.</a:t>
            </a:r>
          </a:p>
        </p:txBody>
      </p:sp>
      <p:sp>
        <p:nvSpPr>
          <p:cNvPr id="143" name="Google Shape;14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Objetivo general: una plataforma académica y de bienestar emocional para la institución. Cuatro objetivos específicos: modelo de datos y 11 roles, módulos de bienestar y académicos, alertas con chat y citas más certificados e informes, y protección de datos con la Ley 1581.</a:t>
            </a:r>
          </a:p>
        </p:txBody>
      </p:sp>
      <p:sp>
        <p:nvSpPr>
          <p:cNvPr id="164" name="Google Shape;16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Módulos de bienestar emocional: emociones (varias veces al día), sueño, diario con PIN, hábitos y metas con rachas e insignias, estadísticas con informe en PDF, alertas tempranas, chat y citas, y apoyo con encuestas, respiración y líneas de ayuda.</a:t>
            </a:r>
          </a:p>
        </p:txBody>
      </p:sp>
      <p:sp>
        <p:nvSpPr>
          <p:cNvPr id="188" name="Google Shape;18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Once roles, cada uno con su panel: estudiante, acudiente, docente, psicología, orientación, coordinación, rectoría, secretaría académica, administración, Secretaría de Educación y superadmin. Coordinación y rectoría ven informes agregados.</a:t>
            </a:r>
          </a:p>
        </p:txBody>
      </p:sp>
      <p:sp>
        <p:nvSpPr>
          <p:cNvPr id="228" name="Google Shape;22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Capturas reales de Serena: la pantalla de inicio con el resumen del día, el registro emocional y el diario personal. La interfaz es responsive (celular, tablet y computador) y tiene modo oscuro pensado para la accesibilidad visual.</a:t>
            </a:r>
            <a:endParaRPr/>
          </a:p>
        </p:txBody>
      </p:sp>
      <p:sp>
        <p:nvSpPr>
          <p:cNvPr id="253" name="Google Shape;25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Flujo de acompañamiento: el estudiante registra, el sistema genera una alerta temprana tras días de ánimo bajo, psicología y orientación acompañan por chat y citas, y el estudiante cuenta con encuestas, respiración y líneas de ayuda. Coordinación y rectoría ven el bienestar solo en cifras agregadas, nunca las emociones ni el diario de un estudiante.</a:t>
            </a:r>
            <a:endParaRPr/>
          </a:p>
        </p:txBody>
      </p:sp>
      <p:sp>
        <p:nvSpPr>
          <p:cNvPr id="288" name="Google Shape;28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Se trabajó en cascada: análisis, diseño, desarrollo, pruebas e implementación. Los dos trabajaron en conjunto en el desarrollo. Las pruebas incluyeron una auditoría de seguridad archivo por archivo con correcciones por fases. La base de datos crece con 46 migraciones SQL.</a:t>
            </a:r>
          </a:p>
        </p:txBody>
      </p:sp>
      <p:sp>
        <p:nvSpPr>
          <p:cNvPr id="321" name="Google Shape;32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Pila: PHP, MySQL, HTML, CSS y JavaScript, sin frameworks. Se eligió software libre con hosting gratuito (costo cero) y se descartó Firebase por su costo a gran escala. El despliegue incluye 46 migraciones SQL.</a:t>
            </a:r>
          </a:p>
        </p:txBody>
      </p:sp>
      <p:sp>
        <p:nvSpPr>
          <p:cNvPr id="350" name="Google Shape;35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Seis capas de protección: consentimiento según la Ley 1581 de 2012, verificación en 2 pasos con secretos cifrados AES-256-GCM, acceso seguro (sentencias preparadas, CSRF, control por rol), límite de intentos (5 fallidos bloquean 15 minutos), diario con PIN y sesiones con bitácora de cambios sensibles.</a:t>
            </a:r>
            <a:endParaRPr/>
          </a:p>
        </p:txBody>
      </p:sp>
      <p:sp>
        <p:nvSpPr>
          <p:cNvPr id="377" name="Google Shape;37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Impactos: social (acompañamiento temprano y seguimiento académico desde grado sexto), ambiental (menos papel), tecnológico (aplicación web responsive, verificación en 2 pasos, certificados con QR y asistente de IA opcional) y económico (costo cero con herramientas libres y hosting gratuito).</a:t>
            </a:r>
          </a:p>
        </p:txBody>
      </p:sp>
      <p:sp>
        <p:nvSpPr>
          <p:cNvPr id="409" name="Google Shape;4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Conclusiones: Serena reúne bienestar emocional y gestión académica en un solo lugar, detecta señales a tiempo y protege los datos a costo cero para la institución.</a:t>
            </a:r>
          </a:p>
        </p:txBody>
      </p:sp>
      <p:sp>
        <p:nvSpPr>
          <p:cNvPr id="437" name="Google Shape;43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Demostración en vivo: Serena funcionando en servidor real en serena.infinityfreeapp.com. Se puede entrar desde el celular escaneando el código QR o desde el computador.</a:t>
            </a:r>
            <a:endParaRPr/>
          </a:p>
        </p:txBody>
      </p:sp>
      <p:sp>
        <p:nvSpPr>
          <p:cNvPr id="461" name="Google Shape;46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Cierre y agradecimientos. Abrir espacio para preguntas.</a:t>
            </a:r>
            <a:endParaRPr/>
          </a:p>
        </p:txBody>
      </p:sp>
      <p:sp>
        <p:nvSpPr>
          <p:cNvPr id="476" name="Google Shape;47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Módulos académicos: inscripción y matrícula por año lectivo, notas con actividades y logros y boletín, asistencia con alerta de ausentismo, horarios con detección de cruces, expediente del estudiante con convivencia (Ley 1620), certificados con código QR verificable, 69 informes en PDF o CSV, y SIMAT y SIMPADE.</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Capturas reales de la gestión académica: el seguimiento del docente, el boletín de notas que ven estudiantes y acudientes, y el catálogo de informes. Los certificados llevan código QR y se verifican en línea sin iniciar sesión; los informes salen en PDF o CSV con el formato institucional.</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Plataformas académicas que ya existen en Colombia: Master2000, Sinaí, Phidias, Q10 y Akros Soluciones, entre muchas más. Se centran en lo académico y administrativo (notas, asistencia, horarios, matrículas, facturación). Serena suma el bienestar emocional, las alertas tempranas y la inteligencia artificial.</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En qué es mejor Serena: reúne gestión académica y bienestar emocional en una sola plataforma, incluye inteligencia artificial (asistente Pregúntale a Serena y análisis en informes, con datos anonimizados) y es gratuita para la institución.</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Daylio es un micro-diario: se registra el ánimo en dos toques y se eligen actividades. Genera estadísticas y correlaciones, recordatorios y logros. Los datos se guardan en el dispositivo; PIN y copia en la nube son Premium. Es individual: no conecta con psicología ni con lo académico.</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Habitica convierte las tareas en un juego de rol: hábitos, diarias y pendientes dan experiencia y oro. Tiene grupos, misiones, retos y gremios de comunidad. Es gratis con suscripción opcional. Se centra en productividad: no mide emociones ni se conecta con la institución.</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Reflectly es un diario con inteligencia artificial: hace preguntas guiadas, registra el ánimo, admite voz y fotos y muestra gráficas. Funciona con prueba gratuita y plan Premium. Es una herramienta personal: no hay acompañamiento profesional ni gestión académica.</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Master2000 es una plataforma de gestión académica con módulos académico, comunicaciones, costos educativos, NEE y talentos, Master Kids y administración. Se usa en web y app. Cubre bien lo académico y administrativo; no incluye bienestar emocional.</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Sinaí es el Sistema de Información Académica Institucional. Tiene tres módulos de acceso, evaluación por criterios, boletines, alerta académica, observador, excusas con avisos por WhatsApp, apps móviles y sistema electoral. Se contrata por licencia. No cubre el bienestar emocional.</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Phidias Académico es una plataforma en la nube que se contrata por módulos: académico, tesorería, administración, comunicación y seguimientos, entre otros. Su módulo de seguimientos registra incidentes y tutorías, pero no mide el estado emocional del estudiante.</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Q10 es un software académico en la nube, desarrollado por la empresa colombiana Uparsistem. Integra gestión académica, admisiones, cobros, educación virtual y CRM, y atiende desde colegios hasta universidades. No incluye bienestar emocional.</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Soluciones Akros, de Medellín, desarrolla software académico a la medida. Ofrece planilla docente, consulta de notas, aula virtual y pruebas tipo test. Hay contratos con instituciones oficiales de Medellín en SECOP. No incluye bienestar emocional.</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Fuentes de la comparación con otras herramientas. Es información pública de sitios oficiales, tiendas de aplicaciones y reseñas; puede cambiar con el tiempo.</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Comparación de Serena con las tres apps de bienestar analizadas. Las tres cubren una sola dimensión y ninguna conecta al estudiante con la institución. Serena reúne todo y suma alertas y acompañamiento.</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Comparación con las plataformas académicas. Todas cubren notas y administración; Serena es la única que suma bienestar emocional con alertas tempranas y acompañamiento de psicología. Aclarar que Serena no maneja tesorería, y que la tabla refleja la información pública consultada.</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20"/>
          <p:cNvSpPr txBox="1"/>
          <p:nvPr>
            <p:ph type="title"/>
          </p:nvPr>
        </p:nvSpPr>
        <p:spPr>
          <a:xfrm>
            <a:off x="731520" y="1463040"/>
            <a:ext cx="6766560" cy="210312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5000"/>
              <a:buFont typeface="Georgia"/>
              <a:buNone/>
              <a:defRPr b="1" i="0" sz="5000" u="none" cap="none" strike="noStrike">
                <a:solidFill>
                  <a:schemeClr val="lt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p:cSld name="LIGHT">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21"/>
          <p:cNvSpPr txBox="1"/>
          <p:nvPr>
            <p:ph type="title"/>
          </p:nvPr>
        </p:nvSpPr>
        <p:spPr>
          <a:xfrm>
            <a:off x="640080" y="713232"/>
            <a:ext cx="9875520" cy="7772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3400"/>
              <a:buFont typeface="Georgia"/>
              <a:buNone/>
              <a:defRPr b="1" i="0" sz="3400" u="none" cap="none" strike="noStrike">
                <a:solidFill>
                  <a:schemeClr val="dk2"/>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21"/>
          <p:cNvSpPr/>
          <p:nvPr/>
        </p:nvSpPr>
        <p:spPr>
          <a:xfrm>
            <a:off x="64008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000"/>
              <a:buFont typeface="Calibri"/>
              <a:buNone/>
            </a:pPr>
            <a:r>
              <a:rPr b="0" i="0" lang="en-US" sz="1000" u="none" cap="none" strike="noStrike">
                <a:solidFill>
                  <a:schemeClr val="accent6"/>
                </a:solidFill>
                <a:latin typeface="Calibri"/>
                <a:ea typeface="Calibri"/>
                <a:cs typeface="Calibri"/>
                <a:sym typeface="Calibri"/>
              </a:rPr>
              <a:t>Serena  ·  Socialización de etapa productiva</a:t>
            </a:r>
            <a:endParaRPr b="0" i="0" sz="1000" u="none" cap="none" strike="noStrike">
              <a:solidFill>
                <a:schemeClr val="dk1"/>
              </a:solidFill>
              <a:latin typeface="Calibri"/>
              <a:ea typeface="Calibri"/>
              <a:cs typeface="Calibri"/>
              <a:sym typeface="Calibri"/>
            </a:endParaRPr>
          </a:p>
        </p:txBody>
      </p:sp>
      <p:sp>
        <p:nvSpPr>
          <p:cNvPr id="16" name="Google Shape;16;p21"/>
          <p:cNvSpPr txBox="1"/>
          <p:nvPr>
            <p:ph idx="12"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rgbClr val="4F6B58"/>
                </a:solidFill>
                <a:latin typeface="Calibri"/>
                <a:ea typeface="Calibri"/>
                <a:cs typeface="Calibri"/>
                <a:sym typeface="Calibri"/>
              </a:defRPr>
            </a:lvl1pPr>
            <a:lvl2pPr indent="0" lvl="1" marL="0" marR="0" algn="r">
              <a:spcBef>
                <a:spcPts val="0"/>
              </a:spcBef>
              <a:buNone/>
              <a:defRPr b="0" i="0" sz="1000" u="none" cap="none" strike="noStrike">
                <a:solidFill>
                  <a:srgbClr val="4F6B58"/>
                </a:solidFill>
                <a:latin typeface="Calibri"/>
                <a:ea typeface="Calibri"/>
                <a:cs typeface="Calibri"/>
                <a:sym typeface="Calibri"/>
              </a:defRPr>
            </a:lvl2pPr>
            <a:lvl3pPr indent="0" lvl="2" marL="0" marR="0" algn="r">
              <a:spcBef>
                <a:spcPts val="0"/>
              </a:spcBef>
              <a:buNone/>
              <a:defRPr b="0" i="0" sz="1000" u="none" cap="none" strike="noStrike">
                <a:solidFill>
                  <a:srgbClr val="4F6B58"/>
                </a:solidFill>
                <a:latin typeface="Calibri"/>
                <a:ea typeface="Calibri"/>
                <a:cs typeface="Calibri"/>
                <a:sym typeface="Calibri"/>
              </a:defRPr>
            </a:lvl3pPr>
            <a:lvl4pPr indent="0" lvl="3" marL="0" marR="0" algn="r">
              <a:spcBef>
                <a:spcPts val="0"/>
              </a:spcBef>
              <a:buNone/>
              <a:defRPr b="0" i="0" sz="1000" u="none" cap="none" strike="noStrike">
                <a:solidFill>
                  <a:srgbClr val="4F6B58"/>
                </a:solidFill>
                <a:latin typeface="Calibri"/>
                <a:ea typeface="Calibri"/>
                <a:cs typeface="Calibri"/>
                <a:sym typeface="Calibri"/>
              </a:defRPr>
            </a:lvl4pPr>
            <a:lvl5pPr indent="0" lvl="4" marL="0" marR="0" algn="r">
              <a:spcBef>
                <a:spcPts val="0"/>
              </a:spcBef>
              <a:buNone/>
              <a:defRPr b="0" i="0" sz="1000" u="none" cap="none" strike="noStrike">
                <a:solidFill>
                  <a:srgbClr val="4F6B58"/>
                </a:solidFill>
                <a:latin typeface="Calibri"/>
                <a:ea typeface="Calibri"/>
                <a:cs typeface="Calibri"/>
                <a:sym typeface="Calibri"/>
              </a:defRPr>
            </a:lvl5pPr>
            <a:lvl6pPr indent="0" lvl="5" marL="0" marR="0" algn="r">
              <a:spcBef>
                <a:spcPts val="0"/>
              </a:spcBef>
              <a:buNone/>
              <a:defRPr b="0" i="0" sz="1000" u="none" cap="none" strike="noStrike">
                <a:solidFill>
                  <a:srgbClr val="4F6B58"/>
                </a:solidFill>
                <a:latin typeface="Calibri"/>
                <a:ea typeface="Calibri"/>
                <a:cs typeface="Calibri"/>
                <a:sym typeface="Calibri"/>
              </a:defRPr>
            </a:lvl6pPr>
            <a:lvl7pPr indent="0" lvl="6" marL="0" marR="0" algn="r">
              <a:spcBef>
                <a:spcPts val="0"/>
              </a:spcBef>
              <a:buNone/>
              <a:defRPr b="0" i="0" sz="1000" u="none" cap="none" strike="noStrike">
                <a:solidFill>
                  <a:srgbClr val="4F6B58"/>
                </a:solidFill>
                <a:latin typeface="Calibri"/>
                <a:ea typeface="Calibri"/>
                <a:cs typeface="Calibri"/>
                <a:sym typeface="Calibri"/>
              </a:defRPr>
            </a:lvl7pPr>
            <a:lvl8pPr indent="0" lvl="7" marL="0" marR="0" algn="r">
              <a:spcBef>
                <a:spcPts val="0"/>
              </a:spcBef>
              <a:buNone/>
              <a:defRPr b="0" i="0" sz="1000" u="none" cap="none" strike="noStrike">
                <a:solidFill>
                  <a:srgbClr val="4F6B58"/>
                </a:solidFill>
                <a:latin typeface="Calibri"/>
                <a:ea typeface="Calibri"/>
                <a:cs typeface="Calibri"/>
                <a:sym typeface="Calibri"/>
              </a:defRPr>
            </a:lvl8pPr>
            <a:lvl9pPr indent="0" lvl="8" marL="0" marR="0" algn="r">
              <a:spcBef>
                <a:spcPts val="0"/>
              </a:spcBef>
              <a:buNone/>
              <a:defRPr b="0" i="0" sz="1000" u="none" cap="none" strike="noStrike">
                <a:solidFill>
                  <a:srgbClr val="4F6B5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22"/>
          <p:cNvSpPr txBox="1"/>
          <p:nvPr>
            <p:ph type="title"/>
          </p:nvPr>
        </p:nvSpPr>
        <p:spPr>
          <a:xfrm>
            <a:off x="640080" y="777240"/>
            <a:ext cx="9875520" cy="7772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400"/>
              <a:buFont typeface="Georgia"/>
              <a:buNone/>
              <a:defRPr b="1" i="0" sz="3400" u="none" cap="none" strike="noStrike">
                <a:solidFill>
                  <a:schemeClr val="lt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22"/>
          <p:cNvSpPr/>
          <p:nvPr/>
        </p:nvSpPr>
        <p:spPr>
          <a:xfrm>
            <a:off x="640080" y="64008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000"/>
              <a:buFont typeface="Calibri"/>
              <a:buNone/>
            </a:pPr>
            <a:r>
              <a:rPr b="0" i="0" lang="en-US" sz="1000" u="none" cap="none" strike="noStrike">
                <a:solidFill>
                  <a:schemeClr val="lt1"/>
                </a:solidFill>
                <a:latin typeface="Calibri"/>
                <a:ea typeface="Calibri"/>
                <a:cs typeface="Calibri"/>
                <a:sym typeface="Calibri"/>
              </a:rPr>
              <a:t>Serena  ·  Socialización de etapa productiva</a:t>
            </a:r>
            <a:endParaRPr b="0" i="0" sz="1000" u="none" cap="none" strike="noStrike">
              <a:solidFill>
                <a:schemeClr val="dk1"/>
              </a:solidFill>
              <a:latin typeface="Calibri"/>
              <a:ea typeface="Calibri"/>
              <a:cs typeface="Calibri"/>
              <a:sym typeface="Calibri"/>
            </a:endParaRPr>
          </a:p>
        </p:txBody>
      </p:sp>
      <p:sp>
        <p:nvSpPr>
          <p:cNvPr id="20" name="Google Shape;20;p22"/>
          <p:cNvSpPr txBox="1"/>
          <p:nvPr>
            <p:ph idx="12"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rgbClr val="FFFFFF"/>
                </a:solidFill>
                <a:latin typeface="Calibri"/>
                <a:ea typeface="Calibri"/>
                <a:cs typeface="Calibri"/>
                <a:sym typeface="Calibri"/>
              </a:defRPr>
            </a:lvl1pPr>
            <a:lvl2pPr indent="0" lvl="1" marL="0" marR="0" algn="r">
              <a:spcBef>
                <a:spcPts val="0"/>
              </a:spcBef>
              <a:buNone/>
              <a:defRPr b="0" i="0" sz="1000" u="none" cap="none" strike="noStrike">
                <a:solidFill>
                  <a:srgbClr val="FFFFFF"/>
                </a:solidFill>
                <a:latin typeface="Calibri"/>
                <a:ea typeface="Calibri"/>
                <a:cs typeface="Calibri"/>
                <a:sym typeface="Calibri"/>
              </a:defRPr>
            </a:lvl2pPr>
            <a:lvl3pPr indent="0" lvl="2" marL="0" marR="0" algn="r">
              <a:spcBef>
                <a:spcPts val="0"/>
              </a:spcBef>
              <a:buNone/>
              <a:defRPr b="0" i="0" sz="1000" u="none" cap="none" strike="noStrike">
                <a:solidFill>
                  <a:srgbClr val="FFFFFF"/>
                </a:solidFill>
                <a:latin typeface="Calibri"/>
                <a:ea typeface="Calibri"/>
                <a:cs typeface="Calibri"/>
                <a:sym typeface="Calibri"/>
              </a:defRPr>
            </a:lvl3pPr>
            <a:lvl4pPr indent="0" lvl="3" marL="0" marR="0" algn="r">
              <a:spcBef>
                <a:spcPts val="0"/>
              </a:spcBef>
              <a:buNone/>
              <a:defRPr b="0" i="0" sz="1000" u="none" cap="none" strike="noStrike">
                <a:solidFill>
                  <a:srgbClr val="FFFFFF"/>
                </a:solidFill>
                <a:latin typeface="Calibri"/>
                <a:ea typeface="Calibri"/>
                <a:cs typeface="Calibri"/>
                <a:sym typeface="Calibri"/>
              </a:defRPr>
            </a:lvl4pPr>
            <a:lvl5pPr indent="0" lvl="4" marL="0" marR="0" algn="r">
              <a:spcBef>
                <a:spcPts val="0"/>
              </a:spcBef>
              <a:buNone/>
              <a:defRPr b="0" i="0" sz="1000" u="none" cap="none" strike="noStrike">
                <a:solidFill>
                  <a:srgbClr val="FFFFFF"/>
                </a:solidFill>
                <a:latin typeface="Calibri"/>
                <a:ea typeface="Calibri"/>
                <a:cs typeface="Calibri"/>
                <a:sym typeface="Calibri"/>
              </a:defRPr>
            </a:lvl5pPr>
            <a:lvl6pPr indent="0" lvl="5" marL="0" marR="0" algn="r">
              <a:spcBef>
                <a:spcPts val="0"/>
              </a:spcBef>
              <a:buNone/>
              <a:defRPr b="0" i="0" sz="1000" u="none" cap="none" strike="noStrike">
                <a:solidFill>
                  <a:srgbClr val="FFFFFF"/>
                </a:solidFill>
                <a:latin typeface="Calibri"/>
                <a:ea typeface="Calibri"/>
                <a:cs typeface="Calibri"/>
                <a:sym typeface="Calibri"/>
              </a:defRPr>
            </a:lvl6pPr>
            <a:lvl7pPr indent="0" lvl="6" marL="0" marR="0" algn="r">
              <a:spcBef>
                <a:spcPts val="0"/>
              </a:spcBef>
              <a:buNone/>
              <a:defRPr b="0" i="0" sz="1000" u="none" cap="none" strike="noStrike">
                <a:solidFill>
                  <a:srgbClr val="FFFFFF"/>
                </a:solidFill>
                <a:latin typeface="Calibri"/>
                <a:ea typeface="Calibri"/>
                <a:cs typeface="Calibri"/>
                <a:sym typeface="Calibri"/>
              </a:defRPr>
            </a:lvl7pPr>
            <a:lvl8pPr indent="0" lvl="7" marL="0" marR="0" algn="r">
              <a:spcBef>
                <a:spcPts val="0"/>
              </a:spcBef>
              <a:buNone/>
              <a:defRPr b="0" i="0" sz="1000" u="none" cap="none" strike="noStrike">
                <a:solidFill>
                  <a:srgbClr val="FFFFFF"/>
                </a:solidFill>
                <a:latin typeface="Calibri"/>
                <a:ea typeface="Calibri"/>
                <a:cs typeface="Calibri"/>
                <a:sym typeface="Calibri"/>
              </a:defRPr>
            </a:lvl8pPr>
            <a:lvl9pPr indent="0" lvl="8" marL="0" marR="0" algn="r">
              <a:spcBef>
                <a:spcPts val="0"/>
              </a:spcBef>
              <a:buNone/>
              <a:defRPr b="0" i="0" sz="10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1" name="Shape 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9"/>
          <p:cNvSpPr txBox="1"/>
          <p:nvPr>
            <p:ph idx="12"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rgbClr val="4F6B58"/>
                </a:solidFill>
                <a:latin typeface="Calibri"/>
                <a:ea typeface="Calibri"/>
                <a:cs typeface="Calibri"/>
                <a:sym typeface="Calibri"/>
              </a:defRPr>
            </a:lvl1pPr>
            <a:lvl2pPr indent="0" lvl="1" marL="0" marR="0" rtl="0" algn="r">
              <a:spcBef>
                <a:spcPts val="0"/>
              </a:spcBef>
              <a:buNone/>
              <a:defRPr b="0" i="0" sz="1000" u="none" cap="none" strike="noStrike">
                <a:solidFill>
                  <a:srgbClr val="4F6B58"/>
                </a:solidFill>
                <a:latin typeface="Calibri"/>
                <a:ea typeface="Calibri"/>
                <a:cs typeface="Calibri"/>
                <a:sym typeface="Calibri"/>
              </a:defRPr>
            </a:lvl2pPr>
            <a:lvl3pPr indent="0" lvl="2" marL="0" marR="0" rtl="0" algn="r">
              <a:spcBef>
                <a:spcPts val="0"/>
              </a:spcBef>
              <a:buNone/>
              <a:defRPr b="0" i="0" sz="1000" u="none" cap="none" strike="noStrike">
                <a:solidFill>
                  <a:srgbClr val="4F6B58"/>
                </a:solidFill>
                <a:latin typeface="Calibri"/>
                <a:ea typeface="Calibri"/>
                <a:cs typeface="Calibri"/>
                <a:sym typeface="Calibri"/>
              </a:defRPr>
            </a:lvl3pPr>
            <a:lvl4pPr indent="0" lvl="3" marL="0" marR="0" rtl="0" algn="r">
              <a:spcBef>
                <a:spcPts val="0"/>
              </a:spcBef>
              <a:buNone/>
              <a:defRPr b="0" i="0" sz="1000" u="none" cap="none" strike="noStrike">
                <a:solidFill>
                  <a:srgbClr val="4F6B58"/>
                </a:solidFill>
                <a:latin typeface="Calibri"/>
                <a:ea typeface="Calibri"/>
                <a:cs typeface="Calibri"/>
                <a:sym typeface="Calibri"/>
              </a:defRPr>
            </a:lvl4pPr>
            <a:lvl5pPr indent="0" lvl="4" marL="0" marR="0" rtl="0" algn="r">
              <a:spcBef>
                <a:spcPts val="0"/>
              </a:spcBef>
              <a:buNone/>
              <a:defRPr b="0" i="0" sz="1000" u="none" cap="none" strike="noStrike">
                <a:solidFill>
                  <a:srgbClr val="4F6B58"/>
                </a:solidFill>
                <a:latin typeface="Calibri"/>
                <a:ea typeface="Calibri"/>
                <a:cs typeface="Calibri"/>
                <a:sym typeface="Calibri"/>
              </a:defRPr>
            </a:lvl5pPr>
            <a:lvl6pPr indent="0" lvl="5" marL="0" marR="0" rtl="0" algn="r">
              <a:spcBef>
                <a:spcPts val="0"/>
              </a:spcBef>
              <a:buNone/>
              <a:defRPr b="0" i="0" sz="1000" u="none" cap="none" strike="noStrike">
                <a:solidFill>
                  <a:srgbClr val="4F6B58"/>
                </a:solidFill>
                <a:latin typeface="Calibri"/>
                <a:ea typeface="Calibri"/>
                <a:cs typeface="Calibri"/>
                <a:sym typeface="Calibri"/>
              </a:defRPr>
            </a:lvl6pPr>
            <a:lvl7pPr indent="0" lvl="6" marL="0" marR="0" rtl="0" algn="r">
              <a:spcBef>
                <a:spcPts val="0"/>
              </a:spcBef>
              <a:buNone/>
              <a:defRPr b="0" i="0" sz="1000" u="none" cap="none" strike="noStrike">
                <a:solidFill>
                  <a:srgbClr val="4F6B58"/>
                </a:solidFill>
                <a:latin typeface="Calibri"/>
                <a:ea typeface="Calibri"/>
                <a:cs typeface="Calibri"/>
                <a:sym typeface="Calibri"/>
              </a:defRPr>
            </a:lvl7pPr>
            <a:lvl8pPr indent="0" lvl="7" marL="0" marR="0" rtl="0" algn="r">
              <a:spcBef>
                <a:spcPts val="0"/>
              </a:spcBef>
              <a:buNone/>
              <a:defRPr b="0" i="0" sz="1000" u="none" cap="none" strike="noStrike">
                <a:solidFill>
                  <a:srgbClr val="4F6B58"/>
                </a:solidFill>
                <a:latin typeface="Calibri"/>
                <a:ea typeface="Calibri"/>
                <a:cs typeface="Calibri"/>
                <a:sym typeface="Calibri"/>
              </a:defRPr>
            </a:lvl8pPr>
            <a:lvl9pPr indent="0" lvl="8" marL="0" marR="0" rtl="0" algn="r">
              <a:spcBef>
                <a:spcPts val="0"/>
              </a:spcBef>
              <a:buNone/>
              <a:defRPr b="0" i="0" sz="1000" u="none" cap="none" strike="noStrike">
                <a:solidFill>
                  <a:srgbClr val="4F6B5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notesSlide" Target="../notesSlides/notesSlide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notesSlide" Target="../notesSlides/notesSlide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notesSlide" Target="../notesSlides/notesSlide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notesSlide" Target="../notesSlides/notesSlide3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notesSlide" Target="../notesSlides/notesSlide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notesSlide" Target="../notesSlides/notesSlide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notesSlide" Target="../notesSlides/notesSlide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notesSlide" Target="../notesSlides/notesSlide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notesSlide" Target="../notesSlides/notesSlide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notesSlide" Target="../notesSlides/notesSlide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notesSlide" Target="../notesSlides/notesSlide3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22.xml"/><Relationship Id="rId4" Type="http://schemas.openxmlformats.org/officeDocument/2006/relationships/image" Target="../media/image8.png"/><Relationship Id="rId5"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10.png"/><Relationship Id="rId8" Type="http://schemas.openxmlformats.org/officeDocument/2006/relationships/image" Target="../media/image20.png"/><Relationship Id="rId9" Type="http://schemas.openxmlformats.org/officeDocument/2006/relationships/image" Target="../media/image17.png"/><Relationship Id="rId10"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notesSlide" Target="../notesSlides/notesSlide19.xml"/><Relationship Id="rId5" Type="http://schemas.openxmlformats.org/officeDocument/2006/relationships/image" Target="../media/image15.png"/><Relationship Id="rId6" Type="http://schemas.openxmlformats.org/officeDocument/2006/relationships/image" Target="../media/image9.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0.png"/><Relationship Id="rId10"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10.png"/><Relationship Id="rId6"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jpg"/><Relationship Id="rId5" Type="http://schemas.openxmlformats.org/officeDocument/2006/relationships/image" Target="../media/image30.jpg"/><Relationship Id="rId6" Type="http://schemas.openxmlformats.org/officeDocument/2006/relationships/image" Target="../media/image1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jpg"/><Relationship Id="rId3" Type="http://schemas.openxmlformats.org/officeDocument/2006/relationships/image" Target="../media/image24.jpg"/><Relationship Id="rId4" Type="http://schemas.openxmlformats.org/officeDocument/2006/relationships/notesSlide" Target="../notesSlides/notesSlide20.xml"/><Relationship Id="rId5" Type="http://schemas.openxmlformats.org/officeDocument/2006/relationships/image" Target="../media/image2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17.png"/><Relationship Id="rId6"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35.png"/><Relationship Id="rId5" Type="http://schemas.openxmlformats.org/officeDocument/2006/relationships/image" Target="../media/image38.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3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8.png"/><Relationship Id="rId8"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image" Target="../media/image4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p1"/>
          <p:cNvSpPr/>
          <p:nvPr/>
        </p:nvSpPr>
        <p:spPr>
          <a:xfrm>
            <a:off x="731520" y="868680"/>
            <a:ext cx="5120640" cy="365760"/>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TÉCNICO EN DESARROLLO DE SOFTWARE  ·  SENA</a:t>
            </a:r>
            <a:endParaRPr b="0" i="0" sz="1100" u="none" cap="none" strike="noStrike">
              <a:solidFill>
                <a:schemeClr val="dk1"/>
              </a:solidFill>
              <a:latin typeface="Calibri"/>
              <a:ea typeface="Calibri"/>
              <a:cs typeface="Calibri"/>
              <a:sym typeface="Calibri"/>
            </a:endParaRPr>
          </a:p>
        </p:txBody>
      </p:sp>
      <p:sp>
        <p:nvSpPr>
          <p:cNvPr id="28" name="Google Shape;28;p1"/>
          <p:cNvSpPr txBox="1"/>
          <p:nvPr>
            <p:ph type="title"/>
          </p:nvPr>
        </p:nvSpPr>
        <p:spPr>
          <a:xfrm>
            <a:off x="731520" y="1463040"/>
            <a:ext cx="6766560" cy="21031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5000"/>
              <a:buFont typeface="Georgia"/>
              <a:buNone/>
            </a:pPr>
            <a:r>
              <a:rPr b="1" lang="en-US" sz="5000">
                <a:solidFill>
                  <a:schemeClr val="lt1"/>
                </a:solidFill>
              </a:rPr>
              <a:t>Socialización de</a:t>
            </a:r>
            <a:endParaRPr sz="5000"/>
          </a:p>
          <a:p>
            <a:pPr indent="0" lvl="0" marL="0" rtl="0" algn="l">
              <a:spcBef>
                <a:spcPts val="0"/>
              </a:spcBef>
              <a:spcAft>
                <a:spcPts val="0"/>
              </a:spcAft>
              <a:buClr>
                <a:schemeClr val="lt1"/>
              </a:buClr>
              <a:buSzPts val="5000"/>
              <a:buFont typeface="Georgia"/>
              <a:buNone/>
            </a:pPr>
            <a:r>
              <a:rPr b="1" lang="en-US" sz="5000">
                <a:solidFill>
                  <a:schemeClr val="lt1"/>
                </a:solidFill>
              </a:rPr>
              <a:t>etapa productiva</a:t>
            </a:r>
            <a:endParaRPr sz="5000"/>
          </a:p>
        </p:txBody>
      </p:sp>
      <p:sp>
        <p:nvSpPr>
          <p:cNvPr id="29" name="Google Shape;29;p1"/>
          <p:cNvSpPr/>
          <p:nvPr/>
        </p:nvSpPr>
        <p:spPr>
          <a:xfrm>
            <a:off x="731520" y="3794760"/>
            <a:ext cx="6766560" cy="2103120"/>
          </a:xfrm>
          <a:prstGeom prst="roundRect">
            <a:avLst>
              <a:gd fmla="val 6087" name="adj"/>
            </a:avLst>
          </a:prstGeom>
          <a:solidFill>
            <a:schemeClr val="dk2">
              <a:alpha val="7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txBox="1"/>
          <p:nvPr/>
        </p:nvSpPr>
        <p:spPr>
          <a:xfrm>
            <a:off x="1051560" y="4023360"/>
            <a:ext cx="612648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200"/>
              <a:buFont typeface="Calibri"/>
              <a:buNone/>
            </a:pPr>
            <a:r>
              <a:rPr b="0" i="0" lang="en-US" sz="2200" u="none" cap="none" strike="noStrike">
                <a:solidFill>
                  <a:schemeClr val="lt1"/>
                </a:solidFill>
                <a:latin typeface="Calibri"/>
                <a:ea typeface="Calibri"/>
                <a:cs typeface="Calibri"/>
                <a:sym typeface="Calibri"/>
              </a:rPr>
              <a:t>Serena: plataforma académica y de bienestar emocional</a:t>
            </a:r>
            <a:endParaRPr b="0" i="0" sz="2200" u="none" cap="none" strike="noStrike">
              <a:solidFill>
                <a:schemeClr val="dk1"/>
              </a:solidFill>
              <a:latin typeface="Calibri"/>
              <a:ea typeface="Calibri"/>
              <a:cs typeface="Calibri"/>
              <a:sym typeface="Calibri"/>
            </a:endParaRPr>
          </a:p>
        </p:txBody>
      </p:sp>
      <p:sp>
        <p:nvSpPr>
          <p:cNvPr id="31" name="Google Shape;31;p1"/>
          <p:cNvSpPr txBox="1"/>
          <p:nvPr/>
        </p:nvSpPr>
        <p:spPr>
          <a:xfrm>
            <a:off x="1051560" y="4937760"/>
            <a:ext cx="2743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100"/>
              <a:buFont typeface="Calibri"/>
              <a:buNone/>
            </a:pPr>
            <a:r>
              <a:rPr b="1" i="0" lang="en-US" sz="1100" u="none" cap="none" strike="noStrike">
                <a:solidFill>
                  <a:schemeClr val="accent3"/>
                </a:solidFill>
                <a:latin typeface="Calibri"/>
                <a:ea typeface="Calibri"/>
                <a:cs typeface="Calibri"/>
                <a:sym typeface="Calibri"/>
              </a:rPr>
              <a:t>APRENDICES</a:t>
            </a:r>
            <a:endParaRPr b="0" i="0" sz="1100" u="none" cap="none" strike="noStrike">
              <a:solidFill>
                <a:schemeClr val="dk1"/>
              </a:solidFill>
              <a:latin typeface="Calibri"/>
              <a:ea typeface="Calibri"/>
              <a:cs typeface="Calibri"/>
              <a:sym typeface="Calibri"/>
            </a:endParaRPr>
          </a:p>
        </p:txBody>
      </p:sp>
      <p:sp>
        <p:nvSpPr>
          <p:cNvPr id="32" name="Google Shape;32;p1"/>
          <p:cNvSpPr txBox="1"/>
          <p:nvPr/>
        </p:nvSpPr>
        <p:spPr>
          <a:xfrm>
            <a:off x="1051560" y="5212080"/>
            <a:ext cx="61264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David Santiago Mosquera Mosquera</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Ana Sofía Ángel Moncada</a:t>
            </a:r>
            <a:endParaRPr b="0" i="0" sz="1600" u="none" cap="none" strike="noStrike">
              <a:solidFill>
                <a:schemeClr val="dk1"/>
              </a:solidFill>
              <a:latin typeface="Calibri"/>
              <a:ea typeface="Calibri"/>
              <a:cs typeface="Calibri"/>
              <a:sym typeface="Calibri"/>
            </a:endParaRPr>
          </a:p>
        </p:txBody>
      </p:sp>
      <p:sp>
        <p:nvSpPr>
          <p:cNvPr id="33" name="Google Shape;33;p1"/>
          <p:cNvSpPr/>
          <p:nvPr/>
        </p:nvSpPr>
        <p:spPr>
          <a:xfrm>
            <a:off x="7269480" y="914400"/>
            <a:ext cx="4937760" cy="4937760"/>
          </a:xfrm>
          <a:prstGeom prst="ellipse">
            <a:avLst/>
          </a:prstGeom>
          <a:solidFill>
            <a:schemeClr val="lt1">
              <a:alpha val="1803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
          <p:cNvSpPr/>
          <p:nvPr/>
        </p:nvSpPr>
        <p:spPr>
          <a:xfrm>
            <a:off x="7680960" y="1325880"/>
            <a:ext cx="4114800" cy="4114800"/>
          </a:xfrm>
          <a:prstGeom prst="ellipse">
            <a:avLst/>
          </a:prstGeom>
          <a:solidFill>
            <a:schemeClr val="lt1"/>
          </a:solidFill>
          <a:ln>
            <a:noFill/>
          </a:ln>
          <a:effectLst>
            <a:outerShdw blurRad="1016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 de Serena" id="35" name="Google Shape;35;p1"/>
          <p:cNvPicPr preferRelativeResize="0"/>
          <p:nvPr/>
        </p:nvPicPr>
        <p:blipFill rotWithShape="1">
          <a:blip r:embed="rId3">
            <a:alphaModFix/>
          </a:blip>
          <a:srcRect b="0" l="0" r="0" t="0"/>
          <a:stretch/>
        </p:blipFill>
        <p:spPr>
          <a:xfrm>
            <a:off x="8366760" y="1993392"/>
            <a:ext cx="2743200" cy="2807208"/>
          </a:xfrm>
          <a:prstGeom prst="rect">
            <a:avLst/>
          </a:prstGeom>
          <a:noFill/>
          <a:ln>
            <a:noFill/>
          </a:ln>
        </p:spPr>
      </p:pic>
      <p:sp>
        <p:nvSpPr>
          <p:cNvPr id="90" name="Repositorio"/>
          <p:cNvSpPr txBox="1"/>
          <p:nvPr/>
        </p:nvSpPr>
        <p:spPr>
          <a:xfrm>
            <a:off x="1051560" y="6080760"/>
            <a:ext cx="6126480" cy="320040"/>
          </a:xfrm>
          <a:prstGeom prst="rect">
            <a:avLst/>
          </a:prstGeom>
          <a:noFill/>
        </p:spPr>
        <p:txBody>
          <a:bodyPr wrap="square" lIns="0" tIns="0" rIns="0" bIns="0" anchor="t">
            <a:noAutofit/>
          </a:bodyPr>
          <a:lstStyle/>
          <a:p>
            <a:r>
              <a:rPr lang="es-CO" sz="1400" b="1">
                <a:solidFill>
                  <a:schemeClr val="lt1"/>
                </a:solidFill>
                <a:latin typeface="Calibri"/>
              </a:rPr>
              <a:t>Repositorio: github.com/dasanmos/serena</a:t>
            </a: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
                                        </p:tgtEl>
                                        <p:attrNameLst>
                                          <p:attrName>style.visibility</p:attrName>
                                        </p:attrNameLst>
                                      </p:cBhvr>
                                      <p:to>
                                        <p:strVal val="visible"/>
                                      </p:to>
                                    </p:set>
                                    <p:animEffect filter="fade" transition="in">
                                      <p:cBhvr>
                                        <p:cTn dur="500"/>
                                        <p:tgtEl>
                                          <p:spTgt spid="27"/>
                                        </p:tgtEl>
                                      </p:cBhvr>
                                    </p:animEffect>
                                  </p:childTnLst>
                                </p:cTn>
                              </p:par>
                              <p:par>
                                <p:cTn fill="hold" nodeType="withEffect" presetClass="entr" presetID="23" presetSubtype="16">
                                  <p:stCondLst>
                                    <p:cond delay="0"/>
                                  </p:stCondLst>
                                  <p:childTnLst>
                                    <p:set>
                                      <p:cBhvr>
                                        <p:cTn dur="1" fill="hold">
                                          <p:stCondLst>
                                            <p:cond delay="0"/>
                                          </p:stCondLst>
                                        </p:cTn>
                                        <p:tgtEl>
                                          <p:spTgt spid="33"/>
                                        </p:tgtEl>
                                        <p:attrNameLst>
                                          <p:attrName>style.visibility</p:attrName>
                                        </p:attrNameLst>
                                      </p:cBhvr>
                                      <p:to>
                                        <p:strVal val="visible"/>
                                      </p:to>
                                    </p:set>
                                    <p:anim calcmode="lin" valueType="num">
                                      <p:cBhvr additive="base">
                                        <p:cTn dur="500"/>
                                        <p:tgtEl>
                                          <p:spTgt spid="33"/>
                                        </p:tgtEl>
                                        <p:attrNameLst>
                                          <p:attrName>ppt_w</p:attrName>
                                        </p:attrNameLst>
                                      </p:cBhvr>
                                      <p:tavLst>
                                        <p:tav fmla="" tm="0">
                                          <p:val>
                                            <p:strVal val="0"/>
                                          </p:val>
                                        </p:tav>
                                        <p:tav fmla="" tm="100000">
                                          <p:val>
                                            <p:strVal val="#ppt_w"/>
                                          </p:val>
                                        </p:tav>
                                      </p:tavLst>
                                    </p:anim>
                                    <p:anim calcmode="lin" valueType="num">
                                      <p:cBhvr additive="base">
                                        <p:cTn dur="500"/>
                                        <p:tgtEl>
                                          <p:spTgt spid="3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500"/>
                                        <p:tgtEl>
                                          <p:spTgt spid="34"/>
                                        </p:tgtEl>
                                        <p:attrNameLst>
                                          <p:attrName>ppt_w</p:attrName>
                                        </p:attrNameLst>
                                      </p:cBhvr>
                                      <p:tavLst>
                                        <p:tav fmla="" tm="0">
                                          <p:val>
                                            <p:strVal val="0"/>
                                          </p:val>
                                        </p:tav>
                                        <p:tav fmla="" tm="100000">
                                          <p:val>
                                            <p:strVal val="#ppt_w"/>
                                          </p:val>
                                        </p:tav>
                                      </p:tavLst>
                                    </p:anim>
                                    <p:anim calcmode="lin" valueType="num">
                                      <p:cBhvr additive="base">
                                        <p:cTn dur="500"/>
                                        <p:tgtEl>
                                          <p:spTgt spid="3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5"/>
                                        </p:tgtEl>
                                        <p:attrNameLst>
                                          <p:attrName>style.visibility</p:attrName>
                                        </p:attrNameLst>
                                      </p:cBhvr>
                                      <p:to>
                                        <p:strVal val="visible"/>
                                      </p:to>
                                    </p:set>
                                    <p:anim calcmode="lin" valueType="num">
                                      <p:cBhvr additive="base">
                                        <p:cTn dur="500"/>
                                        <p:tgtEl>
                                          <p:spTgt spid="35"/>
                                        </p:tgtEl>
                                        <p:attrNameLst>
                                          <p:attrName>ppt_w</p:attrName>
                                        </p:attrNameLst>
                                      </p:cBhvr>
                                      <p:tavLst>
                                        <p:tav fmla="" tm="0">
                                          <p:val>
                                            <p:strVal val="0"/>
                                          </p:val>
                                        </p:tav>
                                        <p:tav fmla="" tm="100000">
                                          <p:val>
                                            <p:strVal val="#ppt_w"/>
                                          </p:val>
                                        </p:tav>
                                      </p:tavLst>
                                    </p:anim>
                                    <p:anim calcmode="lin" valueType="num">
                                      <p:cBhvr additive="base">
                                        <p:cTn dur="500"/>
                                        <p:tgtEl>
                                          <p:spTgt spid="3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60"/>
                                  </p:stCondLst>
                                  <p:childTnLst>
                                    <p:set>
                                      <p:cBhvr>
                                        <p:cTn dur="1" fill="hold">
                                          <p:stCondLst>
                                            <p:cond delay="0"/>
                                          </p:stCondLst>
                                        </p:cTn>
                                        <p:tgtEl>
                                          <p:spTgt spid="29"/>
                                        </p:tgtEl>
                                        <p:attrNameLst>
                                          <p:attrName>style.visibility</p:attrName>
                                        </p:attrNameLst>
                                      </p:cBhvr>
                                      <p:to>
                                        <p:strVal val="visible"/>
                                      </p:to>
                                    </p:set>
                                    <p:animEffect filter="fade" transition="in">
                                      <p:cBhvr>
                                        <p:cTn dur="500"/>
                                        <p:tgtEl>
                                          <p:spTgt spid="29"/>
                                        </p:tgtEl>
                                      </p:cBhvr>
                                    </p:animEffect>
                                  </p:childTnLst>
                                </p:cTn>
                              </p:par>
                              <p:par>
                                <p:cTn fill="hold" nodeType="withEffect" presetClass="entr" presetID="10" presetSubtype="0">
                                  <p:stCondLst>
                                    <p:cond delay="260"/>
                                  </p:stCondLst>
                                  <p:childTnLst>
                                    <p:set>
                                      <p:cBhvr>
                                        <p:cTn dur="1" fill="hold">
                                          <p:stCondLst>
                                            <p:cond delay="0"/>
                                          </p:stCondLst>
                                        </p:cTn>
                                        <p:tgtEl>
                                          <p:spTgt spid="30"/>
                                        </p:tgtEl>
                                        <p:attrNameLst>
                                          <p:attrName>style.visibility</p:attrName>
                                        </p:attrNameLst>
                                      </p:cBhvr>
                                      <p:to>
                                        <p:strVal val="visible"/>
                                      </p:to>
                                    </p:set>
                                    <p:animEffect filter="fade" transition="in">
                                      <p:cBhvr>
                                        <p:cTn dur="500"/>
                                        <p:tgtEl>
                                          <p:spTgt spid="30"/>
                                        </p:tgtEl>
                                      </p:cBhvr>
                                    </p:animEffect>
                                  </p:childTnLst>
                                </p:cTn>
                              </p:par>
                              <p:par>
                                <p:cTn fill="hold" nodeType="withEffect" presetClass="entr" presetID="10" presetSubtype="0">
                                  <p:stCondLst>
                                    <p:cond delay="520"/>
                                  </p:stCondLst>
                                  <p:childTnLst>
                                    <p:set>
                                      <p:cBhvr>
                                        <p:cTn dur="1" fill="hold">
                                          <p:stCondLst>
                                            <p:cond delay="0"/>
                                          </p:stCondLst>
                                        </p:cTn>
                                        <p:tgtEl>
                                          <p:spTgt spid="31"/>
                                        </p:tgtEl>
                                        <p:attrNameLst>
                                          <p:attrName>style.visibility</p:attrName>
                                        </p:attrNameLst>
                                      </p:cBhvr>
                                      <p:to>
                                        <p:strVal val="visible"/>
                                      </p:to>
                                    </p:set>
                                    <p:animEffect filter="fade" transition="in">
                                      <p:cBhvr>
                                        <p:cTn dur="500"/>
                                        <p:tgtEl>
                                          <p:spTgt spid="31"/>
                                        </p:tgtEl>
                                      </p:cBhvr>
                                    </p:animEffect>
                                  </p:childTnLst>
                                </p:cTn>
                              </p:par>
                              <p:par>
                                <p:cTn fill="hold" nodeType="withEffect" presetClass="entr" presetID="10" presetSubtype="0">
                                  <p:stCondLst>
                                    <p:cond delay="520"/>
                                  </p:stCondLst>
                                  <p:childTnLst>
                                    <p:set>
                                      <p:cBhvr>
                                        <p:cTn dur="1" fill="hold">
                                          <p:stCondLst>
                                            <p:cond delay="0"/>
                                          </p:stCondLst>
                                        </p:cTn>
                                        <p:tgtEl>
                                          <p:spTgt spid="32"/>
                                        </p:tgtEl>
                                        <p:attrNameLst>
                                          <p:attrName>style.visibility</p:attrName>
                                        </p:attrNameLst>
                                      </p:cBhvr>
                                      <p:to>
                                        <p:strVal val="visible"/>
                                      </p:to>
                                    </p:set>
                                    <p:animEffect filter="fade" transition="in">
                                      <p:cBhvr>
                                        <p:cTn dur="500"/>
                                        <p:tgtEl>
                                          <p:spTgt spid="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2"/>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EL EQUIPO</a:t>
            </a:r>
            <a:endParaRPr b="0" i="0" sz="1200" u="none" cap="none" strike="noStrike">
              <a:solidFill>
                <a:schemeClr val="dk1"/>
              </a:solidFill>
              <a:latin typeface="Calibri"/>
              <a:ea typeface="Calibri"/>
              <a:cs typeface="Calibri"/>
              <a:sym typeface="Calibri"/>
            </a:endParaRPr>
          </a:p>
        </p:txBody>
      </p:sp>
      <p:sp>
        <p:nvSpPr>
          <p:cNvPr id="42" name="Google Shape;42;p2"/>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¿Quiénes somos?</a:t>
            </a:r>
            <a:endParaRPr sz="3400"/>
          </a:p>
        </p:txBody>
      </p:sp>
      <p:sp>
        <p:nvSpPr>
          <p:cNvPr id="43" name="Google Shape;43;p2"/>
          <p:cNvSpPr/>
          <p:nvPr/>
        </p:nvSpPr>
        <p:spPr>
          <a:xfrm>
            <a:off x="640080" y="1783080"/>
            <a:ext cx="4754880" cy="4343400"/>
          </a:xfrm>
          <a:prstGeom prst="roundRect">
            <a:avLst>
              <a:gd fmla="val 294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txBox="1"/>
          <p:nvPr/>
        </p:nvSpPr>
        <p:spPr>
          <a:xfrm>
            <a:off x="1005840" y="2148840"/>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200"/>
              <a:buFont typeface="Calibri"/>
              <a:buNone/>
            </a:pPr>
            <a:r>
              <a:rPr b="1" i="0" lang="en-US" sz="1200" u="none" cap="none" strike="noStrike">
                <a:solidFill>
                  <a:schemeClr val="accent3"/>
                </a:solidFill>
                <a:latin typeface="Calibri"/>
                <a:ea typeface="Calibri"/>
                <a:cs typeface="Calibri"/>
                <a:sym typeface="Calibri"/>
              </a:rPr>
              <a:t>PROYECTO</a:t>
            </a:r>
            <a:endParaRPr b="0" i="0" sz="1200" u="none" cap="none" strike="noStrike">
              <a:solidFill>
                <a:schemeClr val="dk1"/>
              </a:solidFill>
              <a:latin typeface="Calibri"/>
              <a:ea typeface="Calibri"/>
              <a:cs typeface="Calibri"/>
              <a:sym typeface="Calibri"/>
            </a:endParaRPr>
          </a:p>
        </p:txBody>
      </p:sp>
      <p:sp>
        <p:nvSpPr>
          <p:cNvPr id="45" name="Google Shape;45;p2"/>
          <p:cNvSpPr txBox="1"/>
          <p:nvPr/>
        </p:nvSpPr>
        <p:spPr>
          <a:xfrm>
            <a:off x="1005840" y="2468880"/>
            <a:ext cx="4023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4400"/>
              <a:buFont typeface="Georgia"/>
              <a:buNone/>
            </a:pPr>
            <a:r>
              <a:rPr b="1" i="0" lang="en-US" sz="4400" u="none" cap="none" strike="noStrike">
                <a:solidFill>
                  <a:schemeClr val="lt1"/>
                </a:solidFill>
                <a:latin typeface="Georgia"/>
                <a:ea typeface="Georgia"/>
                <a:cs typeface="Georgia"/>
                <a:sym typeface="Georgia"/>
              </a:rPr>
              <a:t>Serena</a:t>
            </a:r>
            <a:endParaRPr b="0" i="0" sz="4400" u="none" cap="none" strike="noStrike">
              <a:solidFill>
                <a:schemeClr val="dk1"/>
              </a:solidFill>
              <a:latin typeface="Calibri"/>
              <a:ea typeface="Calibri"/>
              <a:cs typeface="Calibri"/>
              <a:sym typeface="Calibri"/>
            </a:endParaRPr>
          </a:p>
        </p:txBody>
      </p:sp>
      <p:sp>
        <p:nvSpPr>
          <p:cNvPr id="46" name="Google Shape;46;p2"/>
          <p:cNvSpPr txBox="1"/>
          <p:nvPr/>
        </p:nvSpPr>
        <p:spPr>
          <a:xfrm>
            <a:off x="1005840" y="3337560"/>
            <a:ext cx="402336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000"/>
              <a:buFont typeface="Calibri"/>
              <a:buNone/>
            </a:pPr>
            <a:r>
              <a:rPr b="0" i="0" lang="en-US" sz="2000" u="none" cap="none" strike="noStrike">
                <a:solidFill>
                  <a:schemeClr val="lt1"/>
                </a:solidFill>
                <a:latin typeface="Calibri"/>
                <a:ea typeface="Calibri"/>
                <a:cs typeface="Calibri"/>
                <a:sym typeface="Calibri"/>
              </a:rPr>
              <a:t>Plataforma académica y de bienestar emocional</a:t>
            </a:r>
            <a:endParaRPr b="0" i="0" sz="2000" u="none" cap="none" strike="noStrike">
              <a:solidFill>
                <a:schemeClr val="dk1"/>
              </a:solidFill>
              <a:latin typeface="Calibri"/>
              <a:ea typeface="Calibri"/>
              <a:cs typeface="Calibri"/>
              <a:sym typeface="Calibri"/>
            </a:endParaRPr>
          </a:p>
        </p:txBody>
      </p:sp>
      <p:sp>
        <p:nvSpPr>
          <p:cNvPr id="47" name="Google Shape;47;p2"/>
          <p:cNvSpPr txBox="1"/>
          <p:nvPr/>
        </p:nvSpPr>
        <p:spPr>
          <a:xfrm>
            <a:off x="1005840" y="4617720"/>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200"/>
              <a:buFont typeface="Calibri"/>
              <a:buNone/>
            </a:pPr>
            <a:r>
              <a:rPr b="1" i="0" lang="en-US" sz="1200" u="none" cap="none" strike="noStrike">
                <a:solidFill>
                  <a:schemeClr val="accent3"/>
                </a:solidFill>
                <a:latin typeface="Calibri"/>
                <a:ea typeface="Calibri"/>
                <a:cs typeface="Calibri"/>
                <a:sym typeface="Calibri"/>
              </a:rPr>
              <a:t>PROGRAMA DE FORMACIÓN</a:t>
            </a:r>
            <a:endParaRPr b="0" i="0" sz="1200" u="none" cap="none" strike="noStrike">
              <a:solidFill>
                <a:schemeClr val="dk1"/>
              </a:solidFill>
              <a:latin typeface="Calibri"/>
              <a:ea typeface="Calibri"/>
              <a:cs typeface="Calibri"/>
              <a:sym typeface="Calibri"/>
            </a:endParaRPr>
          </a:p>
        </p:txBody>
      </p:sp>
      <p:sp>
        <p:nvSpPr>
          <p:cNvPr id="48" name="Google Shape;48;p2"/>
          <p:cNvSpPr txBox="1"/>
          <p:nvPr/>
        </p:nvSpPr>
        <p:spPr>
          <a:xfrm>
            <a:off x="1005840" y="4937760"/>
            <a:ext cx="402336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Técnico en Desarrollo de Software (SENA)</a:t>
            </a:r>
            <a:endParaRPr b="0" i="0" sz="1800" u="none" cap="none" strike="noStrike">
              <a:solidFill>
                <a:schemeClr val="dk1"/>
              </a:solidFill>
              <a:latin typeface="Calibri"/>
              <a:ea typeface="Calibri"/>
              <a:cs typeface="Calibri"/>
              <a:sym typeface="Calibri"/>
            </a:endParaRPr>
          </a:p>
        </p:txBody>
      </p:sp>
      <p:sp>
        <p:nvSpPr>
          <p:cNvPr id="49" name="Google Shape;49;p2"/>
          <p:cNvSpPr/>
          <p:nvPr/>
        </p:nvSpPr>
        <p:spPr>
          <a:xfrm>
            <a:off x="5760720" y="1783080"/>
            <a:ext cx="5788152" cy="2057400"/>
          </a:xfrm>
          <a:prstGeom prst="roundRect">
            <a:avLst>
              <a:gd fmla="val 6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6080760" y="2258568"/>
            <a:ext cx="1097280" cy="109728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800"/>
              <a:buFont typeface="Georgia"/>
              <a:buNone/>
            </a:pPr>
            <a:r>
              <a:rPr b="1" i="0" lang="en-US" sz="2800" u="none" cap="none" strike="noStrike">
                <a:solidFill>
                  <a:schemeClr val="lt1"/>
                </a:solidFill>
                <a:latin typeface="Georgia"/>
                <a:ea typeface="Georgia"/>
                <a:cs typeface="Georgia"/>
                <a:sym typeface="Georgia"/>
              </a:rPr>
              <a:t>DS</a:t>
            </a:r>
            <a:endParaRPr b="0" i="0" sz="2800" u="none" cap="none" strike="noStrike">
              <a:solidFill>
                <a:schemeClr val="dk1"/>
              </a:solidFill>
              <a:latin typeface="Calibri"/>
              <a:ea typeface="Calibri"/>
              <a:cs typeface="Calibri"/>
              <a:sym typeface="Calibri"/>
            </a:endParaRPr>
          </a:p>
        </p:txBody>
      </p:sp>
      <p:sp>
        <p:nvSpPr>
          <p:cNvPr id="51" name="Google Shape;51;p2"/>
          <p:cNvSpPr txBox="1"/>
          <p:nvPr/>
        </p:nvSpPr>
        <p:spPr>
          <a:xfrm>
            <a:off x="7452360" y="2167128"/>
            <a:ext cx="39319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200"/>
              <a:buFont typeface="Georgia"/>
              <a:buNone/>
            </a:pPr>
            <a:r>
              <a:rPr b="1" i="0" lang="en-US" sz="2200" u="none" cap="none" strike="noStrike">
                <a:solidFill>
                  <a:schemeClr val="dk2"/>
                </a:solidFill>
                <a:latin typeface="Georgia"/>
                <a:ea typeface="Georgia"/>
                <a:cs typeface="Georgia"/>
                <a:sym typeface="Georgia"/>
              </a:rPr>
              <a:t>David Santiago</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2200"/>
              <a:buFont typeface="Georgia"/>
              <a:buNone/>
            </a:pPr>
            <a:r>
              <a:rPr b="1" i="0" lang="en-US" sz="2200" u="none" cap="none" strike="noStrike">
                <a:solidFill>
                  <a:schemeClr val="dk2"/>
                </a:solidFill>
                <a:latin typeface="Georgia"/>
                <a:ea typeface="Georgia"/>
                <a:cs typeface="Georgia"/>
                <a:sym typeface="Georgia"/>
              </a:rPr>
              <a:t>Mosquera Mosquera</a:t>
            </a:r>
            <a:endParaRPr b="0" i="0" sz="2200" u="none" cap="none" strike="noStrike">
              <a:solidFill>
                <a:schemeClr val="dk1"/>
              </a:solidFill>
              <a:latin typeface="Calibri"/>
              <a:ea typeface="Calibri"/>
              <a:cs typeface="Calibri"/>
              <a:sym typeface="Calibri"/>
            </a:endParaRPr>
          </a:p>
        </p:txBody>
      </p:sp>
      <p:sp>
        <p:nvSpPr>
          <p:cNvPr id="52" name="Google Shape;52;p2"/>
          <p:cNvSpPr txBox="1"/>
          <p:nvPr/>
        </p:nvSpPr>
        <p:spPr>
          <a:xfrm>
            <a:off x="7452360" y="3063240"/>
            <a:ext cx="39319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Desarrollador full stack · Product Owner · Analista de requerimientos</a:t>
            </a:r>
            <a:endParaRPr b="0" i="0" sz="1400" u="none" cap="none" strike="noStrike">
              <a:solidFill>
                <a:schemeClr val="dk1"/>
              </a:solidFill>
              <a:latin typeface="Calibri"/>
              <a:ea typeface="Calibri"/>
              <a:cs typeface="Calibri"/>
              <a:sym typeface="Calibri"/>
            </a:endParaRPr>
          </a:p>
        </p:txBody>
      </p:sp>
      <p:sp>
        <p:nvSpPr>
          <p:cNvPr id="53" name="Google Shape;53;p2"/>
          <p:cNvSpPr/>
          <p:nvPr/>
        </p:nvSpPr>
        <p:spPr>
          <a:xfrm>
            <a:off x="5760720" y="4069080"/>
            <a:ext cx="5788152" cy="2057400"/>
          </a:xfrm>
          <a:prstGeom prst="roundRect">
            <a:avLst>
              <a:gd fmla="val 6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6080760" y="4544568"/>
            <a:ext cx="1097280" cy="109728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800"/>
              <a:buFont typeface="Georgia"/>
              <a:buNone/>
            </a:pPr>
            <a:r>
              <a:rPr b="1" i="0" lang="en-US" sz="2800" u="none" cap="none" strike="noStrike">
                <a:solidFill>
                  <a:schemeClr val="lt1"/>
                </a:solidFill>
                <a:latin typeface="Georgia"/>
                <a:ea typeface="Georgia"/>
                <a:cs typeface="Georgia"/>
                <a:sym typeface="Georgia"/>
              </a:rPr>
              <a:t>AS</a:t>
            </a:r>
            <a:endParaRPr b="0" i="0" sz="2800" u="none" cap="none" strike="noStrike">
              <a:solidFill>
                <a:schemeClr val="dk1"/>
              </a:solidFill>
              <a:latin typeface="Calibri"/>
              <a:ea typeface="Calibri"/>
              <a:cs typeface="Calibri"/>
              <a:sym typeface="Calibri"/>
            </a:endParaRPr>
          </a:p>
        </p:txBody>
      </p:sp>
      <p:sp>
        <p:nvSpPr>
          <p:cNvPr id="55" name="Google Shape;55;p2"/>
          <p:cNvSpPr txBox="1"/>
          <p:nvPr/>
        </p:nvSpPr>
        <p:spPr>
          <a:xfrm>
            <a:off x="7452360" y="4453128"/>
            <a:ext cx="39319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200"/>
              <a:buFont typeface="Georgia"/>
              <a:buNone/>
            </a:pPr>
            <a:r>
              <a:rPr b="1" i="0" lang="en-US" sz="2200" u="none" cap="none" strike="noStrike">
                <a:solidFill>
                  <a:schemeClr val="dk2"/>
                </a:solidFill>
                <a:latin typeface="Georgia"/>
                <a:ea typeface="Georgia"/>
                <a:cs typeface="Georgia"/>
                <a:sym typeface="Georgia"/>
              </a:rPr>
              <a:t>Ana Sofía</a:t>
            </a:r>
            <a:endParaRPr b="0" i="0" sz="2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2"/>
              </a:buClr>
              <a:buSzPts val="2200"/>
              <a:buFont typeface="Georgia"/>
              <a:buNone/>
            </a:pPr>
            <a:r>
              <a:rPr b="1" i="0" lang="en-US" sz="2200" u="none" cap="none" strike="noStrike">
                <a:solidFill>
                  <a:schemeClr val="dk2"/>
                </a:solidFill>
                <a:latin typeface="Georgia"/>
                <a:ea typeface="Georgia"/>
                <a:cs typeface="Georgia"/>
                <a:sym typeface="Georgia"/>
              </a:rPr>
              <a:t>Ángel Moncada</a:t>
            </a:r>
            <a:endParaRPr b="0" i="0" sz="2200" u="none" cap="none" strike="noStrike">
              <a:solidFill>
                <a:schemeClr val="dk1"/>
              </a:solidFill>
              <a:latin typeface="Calibri"/>
              <a:ea typeface="Calibri"/>
              <a:cs typeface="Calibri"/>
              <a:sym typeface="Calibri"/>
            </a:endParaRPr>
          </a:p>
        </p:txBody>
      </p:sp>
      <p:sp>
        <p:nvSpPr>
          <p:cNvPr id="56" name="Google Shape;56;p2"/>
          <p:cNvSpPr txBox="1"/>
          <p:nvPr/>
        </p:nvSpPr>
        <p:spPr>
          <a:xfrm>
            <a:off x="7452360" y="5349240"/>
            <a:ext cx="393192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Gestora de proyectos · Diseñadora UI/UX</a:t>
            </a:r>
            <a:endParaRPr b="0" i="0" sz="1400" u="none" cap="none" strike="noStrike">
              <a:solidFill>
                <a:schemeClr val="dk1"/>
              </a:solidFill>
              <a:latin typeface="Calibri"/>
              <a:ea typeface="Calibri"/>
              <a:cs typeface="Calibri"/>
              <a:sym typeface="Calibri"/>
            </a:endParaRPr>
          </a:p>
        </p:txBody>
      </p:sp>
      <p:sp>
        <p:nvSpPr>
          <p:cNvPr id="57" name="Google Shape;57;p2"/>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
                                        </p:tgtEl>
                                        <p:attrNameLst>
                                          <p:attrName>style.visibility</p:attrName>
                                        </p:attrNameLst>
                                      </p:cBhvr>
                                      <p:to>
                                        <p:strVal val="visible"/>
                                      </p:to>
                                    </p:set>
                                    <p:animEffect filter="fade" transition="in">
                                      <p:cBhvr>
                                        <p:cTn dur="500"/>
                                        <p:tgtEl>
                                          <p:spTgt spid="41"/>
                                        </p:tgtEl>
                                      </p:cBhvr>
                                    </p:animEffect>
                                  </p:childTnLst>
                                </p:cTn>
                              </p:par>
                              <p:par>
                                <p:cTn fill="hold" nodeType="withEffect" presetClass="entr" presetID="10" presetSubtype="0">
                                  <p:stCondLst>
                                    <p:cond delay="260"/>
                                  </p:stCondLst>
                                  <p:childTnLst>
                                    <p:set>
                                      <p:cBhvr>
                                        <p:cTn dur="1" fill="hold">
                                          <p:stCondLst>
                                            <p:cond delay="0"/>
                                          </p:stCondLst>
                                        </p:cTn>
                                        <p:tgtEl>
                                          <p:spTgt spid="43"/>
                                        </p:tgtEl>
                                        <p:attrNameLst>
                                          <p:attrName>style.visibility</p:attrName>
                                        </p:attrNameLst>
                                      </p:cBhvr>
                                      <p:to>
                                        <p:strVal val="visible"/>
                                      </p:to>
                                    </p:set>
                                    <p:animEffect filter="fade" transition="in">
                                      <p:cBhvr>
                                        <p:cTn dur="500"/>
                                        <p:tgtEl>
                                          <p:spTgt spid="43"/>
                                        </p:tgtEl>
                                      </p:cBhvr>
                                    </p:animEffect>
                                  </p:childTnLst>
                                </p:cTn>
                              </p:par>
                              <p:par>
                                <p:cTn fill="hold" nodeType="withEffect" presetClass="entr" presetID="10" presetSubtype="0">
                                  <p:stCondLst>
                                    <p:cond delay="260"/>
                                  </p:stCondLst>
                                  <p:childTnLst>
                                    <p:set>
                                      <p:cBhvr>
                                        <p:cTn dur="1" fill="hold">
                                          <p:stCondLst>
                                            <p:cond delay="0"/>
                                          </p:stCondLst>
                                        </p:cTn>
                                        <p:tgtEl>
                                          <p:spTgt spid="44"/>
                                        </p:tgtEl>
                                        <p:attrNameLst>
                                          <p:attrName>style.visibility</p:attrName>
                                        </p:attrNameLst>
                                      </p:cBhvr>
                                      <p:to>
                                        <p:strVal val="visible"/>
                                      </p:to>
                                    </p:set>
                                    <p:animEffect filter="fade" transition="in">
                                      <p:cBhvr>
                                        <p:cTn dur="500"/>
                                        <p:tgtEl>
                                          <p:spTgt spid="44"/>
                                        </p:tgtEl>
                                      </p:cBhvr>
                                    </p:animEffect>
                                  </p:childTnLst>
                                </p:cTn>
                              </p:par>
                              <p:par>
                                <p:cTn fill="hold" nodeType="withEffect" presetClass="entr" presetID="10" presetSubtype="0">
                                  <p:stCondLst>
                                    <p:cond delay="260"/>
                                  </p:stCondLst>
                                  <p:childTnLst>
                                    <p:set>
                                      <p:cBhvr>
                                        <p:cTn dur="1" fill="hold">
                                          <p:stCondLst>
                                            <p:cond delay="0"/>
                                          </p:stCondLst>
                                        </p:cTn>
                                        <p:tgtEl>
                                          <p:spTgt spid="45"/>
                                        </p:tgtEl>
                                        <p:attrNameLst>
                                          <p:attrName>style.visibility</p:attrName>
                                        </p:attrNameLst>
                                      </p:cBhvr>
                                      <p:to>
                                        <p:strVal val="visible"/>
                                      </p:to>
                                    </p:set>
                                    <p:animEffect filter="fade" transition="in">
                                      <p:cBhvr>
                                        <p:cTn dur="500"/>
                                        <p:tgtEl>
                                          <p:spTgt spid="45"/>
                                        </p:tgtEl>
                                      </p:cBhvr>
                                    </p:animEffect>
                                  </p:childTnLst>
                                </p:cTn>
                              </p:par>
                              <p:par>
                                <p:cTn fill="hold" nodeType="withEffect" presetClass="entr" presetID="10" presetSubtype="0">
                                  <p:stCondLst>
                                    <p:cond delay="260"/>
                                  </p:stCondLst>
                                  <p:childTnLst>
                                    <p:set>
                                      <p:cBhvr>
                                        <p:cTn dur="1" fill="hold">
                                          <p:stCondLst>
                                            <p:cond delay="0"/>
                                          </p:stCondLst>
                                        </p:cTn>
                                        <p:tgtEl>
                                          <p:spTgt spid="46"/>
                                        </p:tgtEl>
                                        <p:attrNameLst>
                                          <p:attrName>style.visibility</p:attrName>
                                        </p:attrNameLst>
                                      </p:cBhvr>
                                      <p:to>
                                        <p:strVal val="visible"/>
                                      </p:to>
                                    </p:set>
                                    <p:animEffect filter="fade" transition="in">
                                      <p:cBhvr>
                                        <p:cTn dur="500"/>
                                        <p:tgtEl>
                                          <p:spTgt spid="46"/>
                                        </p:tgtEl>
                                      </p:cBhvr>
                                    </p:animEffect>
                                  </p:childTnLst>
                                </p:cTn>
                              </p:par>
                              <p:par>
                                <p:cTn fill="hold" nodeType="withEffect" presetClass="entr" presetID="10" presetSubtype="0">
                                  <p:stCondLst>
                                    <p:cond delay="260"/>
                                  </p:stCondLst>
                                  <p:childTnLst>
                                    <p:set>
                                      <p:cBhvr>
                                        <p:cTn dur="1" fill="hold">
                                          <p:stCondLst>
                                            <p:cond delay="0"/>
                                          </p:stCondLst>
                                        </p:cTn>
                                        <p:tgtEl>
                                          <p:spTgt spid="47"/>
                                        </p:tgtEl>
                                        <p:attrNameLst>
                                          <p:attrName>style.visibility</p:attrName>
                                        </p:attrNameLst>
                                      </p:cBhvr>
                                      <p:to>
                                        <p:strVal val="visible"/>
                                      </p:to>
                                    </p:set>
                                    <p:animEffect filter="fade" transition="in">
                                      <p:cBhvr>
                                        <p:cTn dur="500"/>
                                        <p:tgtEl>
                                          <p:spTgt spid="47"/>
                                        </p:tgtEl>
                                      </p:cBhvr>
                                    </p:animEffect>
                                  </p:childTnLst>
                                </p:cTn>
                              </p:par>
                              <p:par>
                                <p:cTn fill="hold" nodeType="withEffect" presetClass="entr" presetID="10" presetSubtype="0">
                                  <p:stCondLst>
                                    <p:cond delay="260"/>
                                  </p:stCondLst>
                                  <p:childTnLst>
                                    <p:set>
                                      <p:cBhvr>
                                        <p:cTn dur="1" fill="hold">
                                          <p:stCondLst>
                                            <p:cond delay="0"/>
                                          </p:stCondLst>
                                        </p:cTn>
                                        <p:tgtEl>
                                          <p:spTgt spid="48"/>
                                        </p:tgtEl>
                                        <p:attrNameLst>
                                          <p:attrName>style.visibility</p:attrName>
                                        </p:attrNameLst>
                                      </p:cBhvr>
                                      <p:to>
                                        <p:strVal val="visible"/>
                                      </p:to>
                                    </p:set>
                                    <p:animEffect filter="fade" transition="in">
                                      <p:cBhvr>
                                        <p:cTn dur="500"/>
                                        <p:tgtEl>
                                          <p:spTgt spid="48"/>
                                        </p:tgtEl>
                                      </p:cBhvr>
                                    </p:animEffect>
                                  </p:childTnLst>
                                </p:cTn>
                              </p:par>
                              <p:par>
                                <p:cTn fill="hold" nodeType="withEffect" presetClass="entr" presetID="10" presetSubtype="0">
                                  <p:stCondLst>
                                    <p:cond delay="520"/>
                                  </p:stCondLst>
                                  <p:childTnLst>
                                    <p:set>
                                      <p:cBhvr>
                                        <p:cTn dur="1" fill="hold">
                                          <p:stCondLst>
                                            <p:cond delay="0"/>
                                          </p:stCondLst>
                                        </p:cTn>
                                        <p:tgtEl>
                                          <p:spTgt spid="49"/>
                                        </p:tgtEl>
                                        <p:attrNameLst>
                                          <p:attrName>style.visibility</p:attrName>
                                        </p:attrNameLst>
                                      </p:cBhvr>
                                      <p:to>
                                        <p:strVal val="visible"/>
                                      </p:to>
                                    </p:set>
                                    <p:animEffect filter="fade" transition="in">
                                      <p:cBhvr>
                                        <p:cTn dur="500"/>
                                        <p:tgtEl>
                                          <p:spTgt spid="49"/>
                                        </p:tgtEl>
                                      </p:cBhvr>
                                    </p:animEffect>
                                  </p:childTnLst>
                                </p:cTn>
                              </p:par>
                              <p:par>
                                <p:cTn fill="hold" nodeType="withEffect" presetClass="entr" presetID="10" presetSubtype="0">
                                  <p:stCondLst>
                                    <p:cond delay="520"/>
                                  </p:stCondLst>
                                  <p:childTnLst>
                                    <p:set>
                                      <p:cBhvr>
                                        <p:cTn dur="1" fill="hold">
                                          <p:stCondLst>
                                            <p:cond delay="0"/>
                                          </p:stCondLst>
                                        </p:cTn>
                                        <p:tgtEl>
                                          <p:spTgt spid="50"/>
                                        </p:tgtEl>
                                        <p:attrNameLst>
                                          <p:attrName>style.visibility</p:attrName>
                                        </p:attrNameLst>
                                      </p:cBhvr>
                                      <p:to>
                                        <p:strVal val="visible"/>
                                      </p:to>
                                    </p:set>
                                    <p:animEffect filter="fade" transition="in">
                                      <p:cBhvr>
                                        <p:cTn dur="500"/>
                                        <p:tgtEl>
                                          <p:spTgt spid="50"/>
                                        </p:tgtEl>
                                      </p:cBhvr>
                                    </p:animEffect>
                                  </p:childTnLst>
                                </p:cTn>
                              </p:par>
                              <p:par>
                                <p:cTn fill="hold" nodeType="withEffect" presetClass="entr" presetID="10" presetSubtype="0">
                                  <p:stCondLst>
                                    <p:cond delay="520"/>
                                  </p:stCondLst>
                                  <p:childTnLst>
                                    <p:set>
                                      <p:cBhvr>
                                        <p:cTn dur="1" fill="hold">
                                          <p:stCondLst>
                                            <p:cond delay="0"/>
                                          </p:stCondLst>
                                        </p:cTn>
                                        <p:tgtEl>
                                          <p:spTgt spid="51"/>
                                        </p:tgtEl>
                                        <p:attrNameLst>
                                          <p:attrName>style.visibility</p:attrName>
                                        </p:attrNameLst>
                                      </p:cBhvr>
                                      <p:to>
                                        <p:strVal val="visible"/>
                                      </p:to>
                                    </p:set>
                                    <p:animEffect filter="fade" transition="in">
                                      <p:cBhvr>
                                        <p:cTn dur="500"/>
                                        <p:tgtEl>
                                          <p:spTgt spid="51"/>
                                        </p:tgtEl>
                                      </p:cBhvr>
                                    </p:animEffect>
                                  </p:childTnLst>
                                </p:cTn>
                              </p:par>
                              <p:par>
                                <p:cTn fill="hold" nodeType="withEffect" presetClass="entr" presetID="10" presetSubtype="0">
                                  <p:stCondLst>
                                    <p:cond delay="520"/>
                                  </p:stCondLst>
                                  <p:childTnLst>
                                    <p:set>
                                      <p:cBhvr>
                                        <p:cTn dur="1" fill="hold">
                                          <p:stCondLst>
                                            <p:cond delay="0"/>
                                          </p:stCondLst>
                                        </p:cTn>
                                        <p:tgtEl>
                                          <p:spTgt spid="52"/>
                                        </p:tgtEl>
                                        <p:attrNameLst>
                                          <p:attrName>style.visibility</p:attrName>
                                        </p:attrNameLst>
                                      </p:cBhvr>
                                      <p:to>
                                        <p:strVal val="visible"/>
                                      </p:to>
                                    </p:set>
                                    <p:animEffect filter="fade" transition="in">
                                      <p:cBhvr>
                                        <p:cTn dur="500"/>
                                        <p:tgtEl>
                                          <p:spTgt spid="52"/>
                                        </p:tgtEl>
                                      </p:cBhvr>
                                    </p:animEffect>
                                  </p:childTnLst>
                                </p:cTn>
                              </p:par>
                              <p:par>
                                <p:cTn fill="hold" nodeType="withEffect" presetClass="entr" presetID="10" presetSubtype="0">
                                  <p:stCondLst>
                                    <p:cond delay="780"/>
                                  </p:stCondLst>
                                  <p:childTnLst>
                                    <p:set>
                                      <p:cBhvr>
                                        <p:cTn dur="1" fill="hold">
                                          <p:stCondLst>
                                            <p:cond delay="0"/>
                                          </p:stCondLst>
                                        </p:cTn>
                                        <p:tgtEl>
                                          <p:spTgt spid="53"/>
                                        </p:tgtEl>
                                        <p:attrNameLst>
                                          <p:attrName>style.visibility</p:attrName>
                                        </p:attrNameLst>
                                      </p:cBhvr>
                                      <p:to>
                                        <p:strVal val="visible"/>
                                      </p:to>
                                    </p:set>
                                    <p:animEffect filter="fade" transition="in">
                                      <p:cBhvr>
                                        <p:cTn dur="500"/>
                                        <p:tgtEl>
                                          <p:spTgt spid="53"/>
                                        </p:tgtEl>
                                      </p:cBhvr>
                                    </p:animEffect>
                                  </p:childTnLst>
                                </p:cTn>
                              </p:par>
                              <p:par>
                                <p:cTn fill="hold" nodeType="withEffect" presetClass="entr" presetID="10" presetSubtype="0">
                                  <p:stCondLst>
                                    <p:cond delay="780"/>
                                  </p:stCondLst>
                                  <p:childTnLst>
                                    <p:set>
                                      <p:cBhvr>
                                        <p:cTn dur="1" fill="hold">
                                          <p:stCondLst>
                                            <p:cond delay="0"/>
                                          </p:stCondLst>
                                        </p:cTn>
                                        <p:tgtEl>
                                          <p:spTgt spid="54"/>
                                        </p:tgtEl>
                                        <p:attrNameLst>
                                          <p:attrName>style.visibility</p:attrName>
                                        </p:attrNameLst>
                                      </p:cBhvr>
                                      <p:to>
                                        <p:strVal val="visible"/>
                                      </p:to>
                                    </p:set>
                                    <p:animEffect filter="fade" transition="in">
                                      <p:cBhvr>
                                        <p:cTn dur="500"/>
                                        <p:tgtEl>
                                          <p:spTgt spid="54"/>
                                        </p:tgtEl>
                                      </p:cBhvr>
                                    </p:animEffect>
                                  </p:childTnLst>
                                </p:cTn>
                              </p:par>
                              <p:par>
                                <p:cTn fill="hold" nodeType="withEffect" presetClass="entr" presetID="10" presetSubtype="0">
                                  <p:stCondLst>
                                    <p:cond delay="78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par>
                                <p:cTn fill="hold" nodeType="withEffect" presetClass="entr" presetID="10" presetSubtype="0">
                                  <p:stCondLst>
                                    <p:cond delay="78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3"/>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CONTENIDO</a:t>
            </a:r>
            <a:endParaRPr b="0" i="0" sz="1200" u="none" cap="none" strike="noStrike">
              <a:solidFill>
                <a:schemeClr val="dk1"/>
              </a:solidFill>
              <a:latin typeface="Calibri"/>
              <a:ea typeface="Calibri"/>
              <a:cs typeface="Calibri"/>
              <a:sym typeface="Calibri"/>
            </a:endParaRPr>
          </a:p>
        </p:txBody>
      </p:sp>
      <p:sp>
        <p:nvSpPr>
          <p:cNvPr id="64" name="Google Shape;64;p3"/>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Qué vamos a ver</a:t>
            </a:r>
            <a:endParaRPr sz="3400"/>
          </a:p>
        </p:txBody>
      </p:sp>
      <p:sp>
        <p:nvSpPr>
          <p:cNvPr id="65" name="Google Shape;65;p3"/>
          <p:cNvSpPr/>
          <p:nvPr/>
        </p:nvSpPr>
        <p:spPr>
          <a:xfrm>
            <a:off x="640080" y="1783080"/>
            <a:ext cx="5349240" cy="1234440"/>
          </a:xfrm>
          <a:prstGeom prst="roundRect">
            <a:avLst>
              <a:gd fmla="val 103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914400" y="2075688"/>
            <a:ext cx="640080" cy="64008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100"/>
              <a:buFont typeface="Georgia"/>
              <a:buNone/>
            </a:pPr>
            <a:r>
              <a:rPr b="1" i="0" lang="en-US" sz="2100" u="none" cap="none" strike="noStrike">
                <a:solidFill>
                  <a:schemeClr val="lt1"/>
                </a:solidFill>
                <a:latin typeface="Georgia"/>
                <a:ea typeface="Georgia"/>
                <a:cs typeface="Georgia"/>
                <a:sym typeface="Georgia"/>
              </a:rPr>
              <a:t>1</a:t>
            </a:r>
            <a:endParaRPr b="0" i="0" sz="2100" u="none" cap="none" strike="noStrike">
              <a:solidFill>
                <a:schemeClr val="dk1"/>
              </a:solidFill>
              <a:latin typeface="Calibri"/>
              <a:ea typeface="Calibri"/>
              <a:cs typeface="Calibri"/>
              <a:sym typeface="Calibri"/>
            </a:endParaRPr>
          </a:p>
        </p:txBody>
      </p:sp>
      <p:sp>
        <p:nvSpPr>
          <p:cNvPr id="67" name="Google Shape;67;p3"/>
          <p:cNvSpPr txBox="1"/>
          <p:nvPr/>
        </p:nvSpPr>
        <p:spPr>
          <a:xfrm>
            <a:off x="1737360" y="2039112"/>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900"/>
              <a:buFont typeface="Georgia"/>
              <a:buNone/>
            </a:pPr>
            <a:r>
              <a:rPr b="1" i="0" lang="en-US" sz="1900" u="none" cap="none" strike="noStrike">
                <a:solidFill>
                  <a:schemeClr val="dk2"/>
                </a:solidFill>
                <a:latin typeface="Georgia"/>
                <a:ea typeface="Georgia"/>
                <a:cs typeface="Georgia"/>
                <a:sym typeface="Georgia"/>
              </a:rPr>
              <a:t>El problema</a:t>
            </a:r>
            <a:endParaRPr b="0" i="0" sz="1900" u="none" cap="none" strike="noStrike">
              <a:solidFill>
                <a:schemeClr val="dk1"/>
              </a:solidFill>
              <a:latin typeface="Calibri"/>
              <a:ea typeface="Calibri"/>
              <a:cs typeface="Calibri"/>
              <a:sym typeface="Calibri"/>
            </a:endParaRPr>
          </a:p>
        </p:txBody>
      </p:sp>
      <p:sp>
        <p:nvSpPr>
          <p:cNvPr id="68" name="Google Shape;68;p3"/>
          <p:cNvSpPr txBox="1"/>
          <p:nvPr/>
        </p:nvSpPr>
        <p:spPr>
          <a:xfrm>
            <a:off x="1737360" y="247802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La necesidad y la brecha que atiende Serena</a:t>
            </a:r>
            <a:endParaRPr b="0" i="0" sz="1500" u="none" cap="none" strike="noStrike">
              <a:solidFill>
                <a:schemeClr val="dk1"/>
              </a:solidFill>
              <a:latin typeface="Calibri"/>
              <a:ea typeface="Calibri"/>
              <a:cs typeface="Calibri"/>
              <a:sym typeface="Calibri"/>
            </a:endParaRPr>
          </a:p>
        </p:txBody>
      </p:sp>
      <p:sp>
        <p:nvSpPr>
          <p:cNvPr id="69" name="Google Shape;69;p3"/>
          <p:cNvSpPr/>
          <p:nvPr/>
        </p:nvSpPr>
        <p:spPr>
          <a:xfrm>
            <a:off x="6199632" y="1783080"/>
            <a:ext cx="5349240" cy="1234440"/>
          </a:xfrm>
          <a:prstGeom prst="roundRect">
            <a:avLst>
              <a:gd fmla="val 103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6473952" y="2075688"/>
            <a:ext cx="640080" cy="64008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100"/>
              <a:buFont typeface="Georgia"/>
              <a:buNone/>
            </a:pPr>
            <a:r>
              <a:rPr b="1" i="0" lang="en-US" sz="2100" u="none" cap="none" strike="noStrike">
                <a:solidFill>
                  <a:schemeClr val="lt1"/>
                </a:solidFill>
                <a:latin typeface="Georgia"/>
                <a:ea typeface="Georgia"/>
                <a:cs typeface="Georgia"/>
                <a:sym typeface="Georgia"/>
              </a:rPr>
              <a:t>2</a:t>
            </a:r>
            <a:endParaRPr b="0" i="0" sz="2100" u="none" cap="none" strike="noStrike">
              <a:solidFill>
                <a:schemeClr val="dk1"/>
              </a:solidFill>
              <a:latin typeface="Calibri"/>
              <a:ea typeface="Calibri"/>
              <a:cs typeface="Calibri"/>
              <a:sym typeface="Calibri"/>
            </a:endParaRPr>
          </a:p>
        </p:txBody>
      </p:sp>
      <p:sp>
        <p:nvSpPr>
          <p:cNvPr id="71" name="Google Shape;71;p3"/>
          <p:cNvSpPr txBox="1"/>
          <p:nvPr/>
        </p:nvSpPr>
        <p:spPr>
          <a:xfrm>
            <a:off x="7296912" y="2039112"/>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900"/>
              <a:buFont typeface="Georgia"/>
              <a:buNone/>
            </a:pPr>
            <a:r>
              <a:rPr b="1" i="0" lang="en-US" sz="1900" u="none" cap="none" strike="noStrike">
                <a:solidFill>
                  <a:schemeClr val="dk2"/>
                </a:solidFill>
                <a:latin typeface="Georgia"/>
                <a:ea typeface="Georgia"/>
                <a:cs typeface="Georgia"/>
                <a:sym typeface="Georgia"/>
              </a:rPr>
              <a:t>La solución</a:t>
            </a:r>
            <a:endParaRPr b="0" i="0" sz="1900" u="none" cap="none" strike="noStrike">
              <a:solidFill>
                <a:schemeClr val="dk1"/>
              </a:solidFill>
              <a:latin typeface="Calibri"/>
              <a:ea typeface="Calibri"/>
              <a:cs typeface="Calibri"/>
              <a:sym typeface="Calibri"/>
            </a:endParaRPr>
          </a:p>
        </p:txBody>
      </p:sp>
      <p:sp>
        <p:nvSpPr>
          <p:cNvPr id="72" name="Google Shape;72;p3"/>
          <p:cNvSpPr txBox="1"/>
          <p:nvPr/>
        </p:nvSpPr>
        <p:spPr>
          <a:xfrm>
            <a:off x="7296912" y="247802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Descripción, objetivos, módulos y roles</a:t>
            </a:r>
            <a:endParaRPr b="0" i="0" sz="1500" u="none" cap="none" strike="noStrike">
              <a:solidFill>
                <a:schemeClr val="dk1"/>
              </a:solidFill>
              <a:latin typeface="Calibri"/>
              <a:ea typeface="Calibri"/>
              <a:cs typeface="Calibri"/>
              <a:sym typeface="Calibri"/>
            </a:endParaRPr>
          </a:p>
        </p:txBody>
      </p:sp>
      <p:sp>
        <p:nvSpPr>
          <p:cNvPr id="73" name="Google Shape;73;p3"/>
          <p:cNvSpPr/>
          <p:nvPr/>
        </p:nvSpPr>
        <p:spPr>
          <a:xfrm>
            <a:off x="640080" y="3246120"/>
            <a:ext cx="5349240" cy="1234440"/>
          </a:xfrm>
          <a:prstGeom prst="roundRect">
            <a:avLst>
              <a:gd fmla="val 103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914400" y="3538728"/>
            <a:ext cx="640080" cy="64008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100"/>
              <a:buFont typeface="Georgia"/>
              <a:buNone/>
            </a:pPr>
            <a:r>
              <a:rPr b="1" i="0" lang="en-US" sz="2100" u="none" cap="none" strike="noStrike">
                <a:solidFill>
                  <a:schemeClr val="lt1"/>
                </a:solidFill>
                <a:latin typeface="Georgia"/>
                <a:ea typeface="Georgia"/>
                <a:cs typeface="Georgia"/>
                <a:sym typeface="Georgia"/>
              </a:rPr>
              <a:t>3</a:t>
            </a:r>
            <a:endParaRPr b="0" i="0" sz="2100" u="none" cap="none" strike="noStrike">
              <a:solidFill>
                <a:schemeClr val="dk1"/>
              </a:solidFill>
              <a:latin typeface="Calibri"/>
              <a:ea typeface="Calibri"/>
              <a:cs typeface="Calibri"/>
              <a:sym typeface="Calibri"/>
            </a:endParaRPr>
          </a:p>
        </p:txBody>
      </p:sp>
      <p:sp>
        <p:nvSpPr>
          <p:cNvPr id="75" name="Google Shape;75;p3"/>
          <p:cNvSpPr txBox="1"/>
          <p:nvPr/>
        </p:nvSpPr>
        <p:spPr>
          <a:xfrm>
            <a:off x="1737360" y="3502152"/>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900"/>
              <a:buFont typeface="Georgia"/>
              <a:buNone/>
            </a:pPr>
            <a:r>
              <a:rPr b="1" i="0" lang="en-US" sz="1900" u="none" cap="none" strike="noStrike">
                <a:solidFill>
                  <a:schemeClr val="dk2"/>
                </a:solidFill>
                <a:latin typeface="Georgia"/>
                <a:ea typeface="Georgia"/>
                <a:cs typeface="Georgia"/>
                <a:sym typeface="Georgia"/>
              </a:rPr>
              <a:t>El producto</a:t>
            </a:r>
            <a:endParaRPr b="0" i="0" sz="1900" u="none" cap="none" strike="noStrike">
              <a:solidFill>
                <a:schemeClr val="dk1"/>
              </a:solidFill>
              <a:latin typeface="Calibri"/>
              <a:ea typeface="Calibri"/>
              <a:cs typeface="Calibri"/>
              <a:sym typeface="Calibri"/>
            </a:endParaRPr>
          </a:p>
        </p:txBody>
      </p:sp>
      <p:sp>
        <p:nvSpPr>
          <p:cNvPr id="76" name="Google Shape;76;p3"/>
          <p:cNvSpPr txBox="1"/>
          <p:nvPr/>
        </p:nvSpPr>
        <p:spPr>
          <a:xfrm>
            <a:off x="1737360" y="394106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Cómo se ve y cómo acompaña al estudiante</a:t>
            </a:r>
            <a:endParaRPr b="0" i="0" sz="1500" u="none" cap="none" strike="noStrike">
              <a:solidFill>
                <a:schemeClr val="dk1"/>
              </a:solidFill>
              <a:latin typeface="Calibri"/>
              <a:ea typeface="Calibri"/>
              <a:cs typeface="Calibri"/>
              <a:sym typeface="Calibri"/>
            </a:endParaRPr>
          </a:p>
        </p:txBody>
      </p:sp>
      <p:sp>
        <p:nvSpPr>
          <p:cNvPr id="77" name="Google Shape;77;p3"/>
          <p:cNvSpPr/>
          <p:nvPr/>
        </p:nvSpPr>
        <p:spPr>
          <a:xfrm>
            <a:off x="6199632" y="3246120"/>
            <a:ext cx="5349240" cy="1234440"/>
          </a:xfrm>
          <a:prstGeom prst="roundRect">
            <a:avLst>
              <a:gd fmla="val 103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6473952" y="3538728"/>
            <a:ext cx="640080" cy="64008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100"/>
              <a:buFont typeface="Georgia"/>
              <a:buNone/>
            </a:pPr>
            <a:r>
              <a:rPr b="1" i="0" lang="en-US" sz="2100" u="none" cap="none" strike="noStrike">
                <a:solidFill>
                  <a:schemeClr val="lt1"/>
                </a:solidFill>
                <a:latin typeface="Georgia"/>
                <a:ea typeface="Georgia"/>
                <a:cs typeface="Georgia"/>
                <a:sym typeface="Georgia"/>
              </a:rPr>
              <a:t>4</a:t>
            </a:r>
            <a:endParaRPr b="0" i="0" sz="2100" u="none" cap="none" strike="noStrike">
              <a:solidFill>
                <a:schemeClr val="dk1"/>
              </a:solidFill>
              <a:latin typeface="Calibri"/>
              <a:ea typeface="Calibri"/>
              <a:cs typeface="Calibri"/>
              <a:sym typeface="Calibri"/>
            </a:endParaRPr>
          </a:p>
        </p:txBody>
      </p:sp>
      <p:sp>
        <p:nvSpPr>
          <p:cNvPr id="79" name="Google Shape;79;p3"/>
          <p:cNvSpPr txBox="1"/>
          <p:nvPr/>
        </p:nvSpPr>
        <p:spPr>
          <a:xfrm>
            <a:off x="7296912" y="3502152"/>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900"/>
              <a:buFont typeface="Georgia"/>
              <a:buNone/>
            </a:pPr>
            <a:r>
              <a:rPr b="1" i="0" lang="en-US" sz="1900" u="none" cap="none" strike="noStrike">
                <a:solidFill>
                  <a:schemeClr val="dk2"/>
                </a:solidFill>
                <a:latin typeface="Georgia"/>
                <a:ea typeface="Georgia"/>
                <a:cs typeface="Georgia"/>
                <a:sym typeface="Georgia"/>
              </a:rPr>
              <a:t>Cómo lo construimos</a:t>
            </a:r>
            <a:endParaRPr b="0" i="0" sz="1900" u="none" cap="none" strike="noStrike">
              <a:solidFill>
                <a:schemeClr val="dk1"/>
              </a:solidFill>
              <a:latin typeface="Calibri"/>
              <a:ea typeface="Calibri"/>
              <a:cs typeface="Calibri"/>
              <a:sym typeface="Calibri"/>
            </a:endParaRPr>
          </a:p>
        </p:txBody>
      </p:sp>
      <p:sp>
        <p:nvSpPr>
          <p:cNvPr id="80" name="Google Shape;80;p3"/>
          <p:cNvSpPr txBox="1"/>
          <p:nvPr/>
        </p:nvSpPr>
        <p:spPr>
          <a:xfrm>
            <a:off x="7296912" y="394106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Metodología en cascada y tecnología</a:t>
            </a:r>
            <a:endParaRPr b="0" i="0" sz="1500" u="none" cap="none" strike="noStrike">
              <a:solidFill>
                <a:schemeClr val="dk1"/>
              </a:solidFill>
              <a:latin typeface="Calibri"/>
              <a:ea typeface="Calibri"/>
              <a:cs typeface="Calibri"/>
              <a:sym typeface="Calibri"/>
            </a:endParaRPr>
          </a:p>
        </p:txBody>
      </p:sp>
      <p:sp>
        <p:nvSpPr>
          <p:cNvPr id="81" name="Google Shape;81;p3"/>
          <p:cNvSpPr/>
          <p:nvPr/>
        </p:nvSpPr>
        <p:spPr>
          <a:xfrm>
            <a:off x="640080" y="4709160"/>
            <a:ext cx="5349240" cy="1234440"/>
          </a:xfrm>
          <a:prstGeom prst="roundRect">
            <a:avLst>
              <a:gd fmla="val 103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914400" y="5001768"/>
            <a:ext cx="640080" cy="64008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100"/>
              <a:buFont typeface="Georgia"/>
              <a:buNone/>
            </a:pPr>
            <a:r>
              <a:rPr b="1" i="0" lang="en-US" sz="2100" u="none" cap="none" strike="noStrike">
                <a:solidFill>
                  <a:schemeClr val="lt1"/>
                </a:solidFill>
                <a:latin typeface="Georgia"/>
                <a:ea typeface="Georgia"/>
                <a:cs typeface="Georgia"/>
                <a:sym typeface="Georgia"/>
              </a:rPr>
              <a:t>5</a:t>
            </a:r>
            <a:endParaRPr b="0" i="0" sz="2100" u="none" cap="none" strike="noStrike">
              <a:solidFill>
                <a:schemeClr val="dk1"/>
              </a:solidFill>
              <a:latin typeface="Calibri"/>
              <a:ea typeface="Calibri"/>
              <a:cs typeface="Calibri"/>
              <a:sym typeface="Calibri"/>
            </a:endParaRPr>
          </a:p>
        </p:txBody>
      </p:sp>
      <p:sp>
        <p:nvSpPr>
          <p:cNvPr id="83" name="Google Shape;83;p3"/>
          <p:cNvSpPr txBox="1"/>
          <p:nvPr/>
        </p:nvSpPr>
        <p:spPr>
          <a:xfrm>
            <a:off x="1737360" y="4965192"/>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900"/>
              <a:buFont typeface="Georgia"/>
              <a:buNone/>
            </a:pPr>
            <a:r>
              <a:rPr b="1" i="0" lang="en-US" sz="1900" u="none" cap="none" strike="noStrike">
                <a:solidFill>
                  <a:schemeClr val="dk2"/>
                </a:solidFill>
                <a:latin typeface="Georgia"/>
                <a:ea typeface="Georgia"/>
                <a:cs typeface="Georgia"/>
                <a:sym typeface="Georgia"/>
              </a:rPr>
              <a:t>Seguridad y privacidad</a:t>
            </a:r>
            <a:endParaRPr b="0" i="0" sz="1900" u="none" cap="none" strike="noStrike">
              <a:solidFill>
                <a:schemeClr val="dk1"/>
              </a:solidFill>
              <a:latin typeface="Calibri"/>
              <a:ea typeface="Calibri"/>
              <a:cs typeface="Calibri"/>
              <a:sym typeface="Calibri"/>
            </a:endParaRPr>
          </a:p>
        </p:txBody>
      </p:sp>
      <p:sp>
        <p:nvSpPr>
          <p:cNvPr id="84" name="Google Shape;84;p3"/>
          <p:cNvSpPr txBox="1"/>
          <p:nvPr/>
        </p:nvSpPr>
        <p:spPr>
          <a:xfrm>
            <a:off x="1737360" y="540410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Protección de los datos de la institución</a:t>
            </a:r>
            <a:endParaRPr b="0" i="0" sz="1500" u="none" cap="none" strike="noStrike">
              <a:solidFill>
                <a:schemeClr val="dk1"/>
              </a:solidFill>
              <a:latin typeface="Calibri"/>
              <a:ea typeface="Calibri"/>
              <a:cs typeface="Calibri"/>
              <a:sym typeface="Calibri"/>
            </a:endParaRPr>
          </a:p>
        </p:txBody>
      </p:sp>
      <p:sp>
        <p:nvSpPr>
          <p:cNvPr id="85" name="Google Shape;85;p3"/>
          <p:cNvSpPr/>
          <p:nvPr/>
        </p:nvSpPr>
        <p:spPr>
          <a:xfrm>
            <a:off x="6199632" y="4709160"/>
            <a:ext cx="5349240" cy="1234440"/>
          </a:xfrm>
          <a:prstGeom prst="roundRect">
            <a:avLst>
              <a:gd fmla="val 103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6473952" y="5001768"/>
            <a:ext cx="640080" cy="64008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100"/>
              <a:buFont typeface="Georgia"/>
              <a:buNone/>
            </a:pPr>
            <a:r>
              <a:rPr b="1" i="0" lang="en-US" sz="2100" u="none" cap="none" strike="noStrike">
                <a:solidFill>
                  <a:schemeClr val="lt1"/>
                </a:solidFill>
                <a:latin typeface="Georgia"/>
                <a:ea typeface="Georgia"/>
                <a:cs typeface="Georgia"/>
                <a:sym typeface="Georgia"/>
              </a:rPr>
              <a:t>6</a:t>
            </a:r>
            <a:endParaRPr b="0" i="0" sz="2100" u="none" cap="none" strike="noStrike">
              <a:solidFill>
                <a:schemeClr val="dk1"/>
              </a:solidFill>
              <a:latin typeface="Calibri"/>
              <a:ea typeface="Calibri"/>
              <a:cs typeface="Calibri"/>
              <a:sym typeface="Calibri"/>
            </a:endParaRPr>
          </a:p>
        </p:txBody>
      </p:sp>
      <p:sp>
        <p:nvSpPr>
          <p:cNvPr id="87" name="Google Shape;87;p3"/>
          <p:cNvSpPr txBox="1"/>
          <p:nvPr/>
        </p:nvSpPr>
        <p:spPr>
          <a:xfrm>
            <a:off x="7296912" y="4965192"/>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900"/>
              <a:buFont typeface="Georgia"/>
              <a:buNone/>
            </a:pPr>
            <a:r>
              <a:rPr b="1" i="0" lang="en-US" sz="1900" u="none" cap="none" strike="noStrike">
                <a:solidFill>
                  <a:schemeClr val="dk2"/>
                </a:solidFill>
                <a:latin typeface="Georgia"/>
                <a:ea typeface="Georgia"/>
                <a:cs typeface="Georgia"/>
                <a:sym typeface="Georgia"/>
              </a:rPr>
              <a:t>Impacto y demostración</a:t>
            </a:r>
            <a:endParaRPr b="0" i="0" sz="1900" u="none" cap="none" strike="noStrike">
              <a:solidFill>
                <a:schemeClr val="dk1"/>
              </a:solidFill>
              <a:latin typeface="Calibri"/>
              <a:ea typeface="Calibri"/>
              <a:cs typeface="Calibri"/>
              <a:sym typeface="Calibri"/>
            </a:endParaRPr>
          </a:p>
        </p:txBody>
      </p:sp>
      <p:sp>
        <p:nvSpPr>
          <p:cNvPr id="88" name="Google Shape;88;p3"/>
          <p:cNvSpPr txBox="1"/>
          <p:nvPr/>
        </p:nvSpPr>
        <p:spPr>
          <a:xfrm>
            <a:off x="7296912" y="540410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Impactos, conclusiones y Serena en vivo</a:t>
            </a:r>
            <a:endParaRPr b="0" i="0" sz="1500" u="none" cap="none" strike="noStrike">
              <a:solidFill>
                <a:schemeClr val="dk1"/>
              </a:solidFill>
              <a:latin typeface="Calibri"/>
              <a:ea typeface="Calibri"/>
              <a:cs typeface="Calibri"/>
              <a:sym typeface="Calibri"/>
            </a:endParaRPr>
          </a:p>
        </p:txBody>
      </p:sp>
      <p:sp>
        <p:nvSpPr>
          <p:cNvPr id="89" name="Google Shape;89;p3"/>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500"/>
                                        <p:tgtEl>
                                          <p:spTgt spid="63"/>
                                        </p:tgtEl>
                                      </p:cBhvr>
                                    </p:animEffect>
                                  </p:childTnLst>
                                </p:cTn>
                              </p:par>
                              <p:par>
                                <p:cTn fill="hold" nodeType="withEffect" presetClass="entr" presetID="10" presetSubtype="0">
                                  <p:stCondLst>
                                    <p:cond delay="260"/>
                                  </p:stCondLst>
                                  <p:childTnLst>
                                    <p:set>
                                      <p:cBhvr>
                                        <p:cTn dur="1" fill="hold">
                                          <p:stCondLst>
                                            <p:cond delay="0"/>
                                          </p:stCondLst>
                                        </p:cTn>
                                        <p:tgtEl>
                                          <p:spTgt spid="65"/>
                                        </p:tgtEl>
                                        <p:attrNameLst>
                                          <p:attrName>style.visibility</p:attrName>
                                        </p:attrNameLst>
                                      </p:cBhvr>
                                      <p:to>
                                        <p:strVal val="visible"/>
                                      </p:to>
                                    </p:set>
                                    <p:animEffect filter="fade" transition="in">
                                      <p:cBhvr>
                                        <p:cTn dur="500"/>
                                        <p:tgtEl>
                                          <p:spTgt spid="65"/>
                                        </p:tgtEl>
                                      </p:cBhvr>
                                    </p:animEffect>
                                  </p:childTnLst>
                                </p:cTn>
                              </p:par>
                              <p:par>
                                <p:cTn fill="hold" nodeType="withEffect" presetClass="entr" presetID="10" presetSubtype="0">
                                  <p:stCondLst>
                                    <p:cond delay="260"/>
                                  </p:stCondLst>
                                  <p:childTnLst>
                                    <p:set>
                                      <p:cBhvr>
                                        <p:cTn dur="1" fill="hold">
                                          <p:stCondLst>
                                            <p:cond delay="0"/>
                                          </p:stCondLst>
                                        </p:cTn>
                                        <p:tgtEl>
                                          <p:spTgt spid="66"/>
                                        </p:tgtEl>
                                        <p:attrNameLst>
                                          <p:attrName>style.visibility</p:attrName>
                                        </p:attrNameLst>
                                      </p:cBhvr>
                                      <p:to>
                                        <p:strVal val="visible"/>
                                      </p:to>
                                    </p:set>
                                    <p:animEffect filter="fade" transition="in">
                                      <p:cBhvr>
                                        <p:cTn dur="500"/>
                                        <p:tgtEl>
                                          <p:spTgt spid="66"/>
                                        </p:tgtEl>
                                      </p:cBhvr>
                                    </p:animEffect>
                                  </p:childTnLst>
                                </p:cTn>
                              </p:par>
                              <p:par>
                                <p:cTn fill="hold" nodeType="withEffect" presetClass="entr" presetID="10" presetSubtype="0">
                                  <p:stCondLst>
                                    <p:cond delay="260"/>
                                  </p:stCondLst>
                                  <p:childTnLst>
                                    <p:set>
                                      <p:cBhvr>
                                        <p:cTn dur="1" fill="hold">
                                          <p:stCondLst>
                                            <p:cond delay="0"/>
                                          </p:stCondLst>
                                        </p:cTn>
                                        <p:tgtEl>
                                          <p:spTgt spid="67"/>
                                        </p:tgtEl>
                                        <p:attrNameLst>
                                          <p:attrName>style.visibility</p:attrName>
                                        </p:attrNameLst>
                                      </p:cBhvr>
                                      <p:to>
                                        <p:strVal val="visible"/>
                                      </p:to>
                                    </p:set>
                                    <p:animEffect filter="fade" transition="in">
                                      <p:cBhvr>
                                        <p:cTn dur="500"/>
                                        <p:tgtEl>
                                          <p:spTgt spid="67"/>
                                        </p:tgtEl>
                                      </p:cBhvr>
                                    </p:animEffect>
                                  </p:childTnLst>
                                </p:cTn>
                              </p:par>
                              <p:par>
                                <p:cTn fill="hold" nodeType="withEffect" presetClass="entr" presetID="10" presetSubtype="0">
                                  <p:stCondLst>
                                    <p:cond delay="260"/>
                                  </p:stCondLst>
                                  <p:childTnLst>
                                    <p:set>
                                      <p:cBhvr>
                                        <p:cTn dur="1" fill="hold">
                                          <p:stCondLst>
                                            <p:cond delay="0"/>
                                          </p:stCondLst>
                                        </p:cTn>
                                        <p:tgtEl>
                                          <p:spTgt spid="68"/>
                                        </p:tgtEl>
                                        <p:attrNameLst>
                                          <p:attrName>style.visibility</p:attrName>
                                        </p:attrNameLst>
                                      </p:cBhvr>
                                      <p:to>
                                        <p:strVal val="visible"/>
                                      </p:to>
                                    </p:set>
                                    <p:animEffect filter="fade" transition="in">
                                      <p:cBhvr>
                                        <p:cTn dur="500"/>
                                        <p:tgtEl>
                                          <p:spTgt spid="68"/>
                                        </p:tgtEl>
                                      </p:cBhvr>
                                    </p:animEffect>
                                  </p:childTnLst>
                                </p:cTn>
                              </p:par>
                              <p:par>
                                <p:cTn fill="hold" nodeType="withEffect" presetClass="entr" presetID="10" presetSubtype="0">
                                  <p:stCondLst>
                                    <p:cond delay="520"/>
                                  </p:stCondLst>
                                  <p:childTnLst>
                                    <p:set>
                                      <p:cBhvr>
                                        <p:cTn dur="1" fill="hold">
                                          <p:stCondLst>
                                            <p:cond delay="0"/>
                                          </p:stCondLst>
                                        </p:cTn>
                                        <p:tgtEl>
                                          <p:spTgt spid="69"/>
                                        </p:tgtEl>
                                        <p:attrNameLst>
                                          <p:attrName>style.visibility</p:attrName>
                                        </p:attrNameLst>
                                      </p:cBhvr>
                                      <p:to>
                                        <p:strVal val="visible"/>
                                      </p:to>
                                    </p:set>
                                    <p:animEffect filter="fade" transition="in">
                                      <p:cBhvr>
                                        <p:cTn dur="500"/>
                                        <p:tgtEl>
                                          <p:spTgt spid="69"/>
                                        </p:tgtEl>
                                      </p:cBhvr>
                                    </p:animEffect>
                                  </p:childTnLst>
                                </p:cTn>
                              </p:par>
                              <p:par>
                                <p:cTn fill="hold" nodeType="withEffect" presetClass="entr" presetID="10" presetSubtype="0">
                                  <p:stCondLst>
                                    <p:cond delay="520"/>
                                  </p:stCondLst>
                                  <p:childTnLst>
                                    <p:set>
                                      <p:cBhvr>
                                        <p:cTn dur="1" fill="hold">
                                          <p:stCondLst>
                                            <p:cond delay="0"/>
                                          </p:stCondLst>
                                        </p:cTn>
                                        <p:tgtEl>
                                          <p:spTgt spid="70"/>
                                        </p:tgtEl>
                                        <p:attrNameLst>
                                          <p:attrName>style.visibility</p:attrName>
                                        </p:attrNameLst>
                                      </p:cBhvr>
                                      <p:to>
                                        <p:strVal val="visible"/>
                                      </p:to>
                                    </p:set>
                                    <p:animEffect filter="fade" transition="in">
                                      <p:cBhvr>
                                        <p:cTn dur="500"/>
                                        <p:tgtEl>
                                          <p:spTgt spid="70"/>
                                        </p:tgtEl>
                                      </p:cBhvr>
                                    </p:animEffect>
                                  </p:childTnLst>
                                </p:cTn>
                              </p:par>
                              <p:par>
                                <p:cTn fill="hold" nodeType="withEffect" presetClass="entr" presetID="10" presetSubtype="0">
                                  <p:stCondLst>
                                    <p:cond delay="520"/>
                                  </p:stCondLst>
                                  <p:childTnLst>
                                    <p:set>
                                      <p:cBhvr>
                                        <p:cTn dur="1" fill="hold">
                                          <p:stCondLst>
                                            <p:cond delay="0"/>
                                          </p:stCondLst>
                                        </p:cTn>
                                        <p:tgtEl>
                                          <p:spTgt spid="71"/>
                                        </p:tgtEl>
                                        <p:attrNameLst>
                                          <p:attrName>style.visibility</p:attrName>
                                        </p:attrNameLst>
                                      </p:cBhvr>
                                      <p:to>
                                        <p:strVal val="visible"/>
                                      </p:to>
                                    </p:set>
                                    <p:animEffect filter="fade" transition="in">
                                      <p:cBhvr>
                                        <p:cTn dur="500"/>
                                        <p:tgtEl>
                                          <p:spTgt spid="71"/>
                                        </p:tgtEl>
                                      </p:cBhvr>
                                    </p:animEffect>
                                  </p:childTnLst>
                                </p:cTn>
                              </p:par>
                              <p:par>
                                <p:cTn fill="hold" nodeType="withEffect" presetClass="entr" presetID="10" presetSubtype="0">
                                  <p:stCondLst>
                                    <p:cond delay="520"/>
                                  </p:stCondLst>
                                  <p:childTnLst>
                                    <p:set>
                                      <p:cBhvr>
                                        <p:cTn dur="1" fill="hold">
                                          <p:stCondLst>
                                            <p:cond delay="0"/>
                                          </p:stCondLst>
                                        </p:cTn>
                                        <p:tgtEl>
                                          <p:spTgt spid="72"/>
                                        </p:tgtEl>
                                        <p:attrNameLst>
                                          <p:attrName>style.visibility</p:attrName>
                                        </p:attrNameLst>
                                      </p:cBhvr>
                                      <p:to>
                                        <p:strVal val="visible"/>
                                      </p:to>
                                    </p:set>
                                    <p:animEffect filter="fade" transition="in">
                                      <p:cBhvr>
                                        <p:cTn dur="500"/>
                                        <p:tgtEl>
                                          <p:spTgt spid="72"/>
                                        </p:tgtEl>
                                      </p:cBhvr>
                                    </p:animEffect>
                                  </p:childTnLst>
                                </p:cTn>
                              </p:par>
                              <p:par>
                                <p:cTn fill="hold" nodeType="withEffect" presetClass="entr" presetID="10" presetSubtype="0">
                                  <p:stCondLst>
                                    <p:cond delay="780"/>
                                  </p:stCondLst>
                                  <p:childTnLst>
                                    <p:set>
                                      <p:cBhvr>
                                        <p:cTn dur="1" fill="hold">
                                          <p:stCondLst>
                                            <p:cond delay="0"/>
                                          </p:stCondLst>
                                        </p:cTn>
                                        <p:tgtEl>
                                          <p:spTgt spid="73"/>
                                        </p:tgtEl>
                                        <p:attrNameLst>
                                          <p:attrName>style.visibility</p:attrName>
                                        </p:attrNameLst>
                                      </p:cBhvr>
                                      <p:to>
                                        <p:strVal val="visible"/>
                                      </p:to>
                                    </p:set>
                                    <p:animEffect filter="fade" transition="in">
                                      <p:cBhvr>
                                        <p:cTn dur="500"/>
                                        <p:tgtEl>
                                          <p:spTgt spid="73"/>
                                        </p:tgtEl>
                                      </p:cBhvr>
                                    </p:animEffect>
                                  </p:childTnLst>
                                </p:cTn>
                              </p:par>
                              <p:par>
                                <p:cTn fill="hold" nodeType="withEffect" presetClass="entr" presetID="10" presetSubtype="0">
                                  <p:stCondLst>
                                    <p:cond delay="780"/>
                                  </p:stCondLst>
                                  <p:childTnLst>
                                    <p:set>
                                      <p:cBhvr>
                                        <p:cTn dur="1" fill="hold">
                                          <p:stCondLst>
                                            <p:cond delay="0"/>
                                          </p:stCondLst>
                                        </p:cTn>
                                        <p:tgtEl>
                                          <p:spTgt spid="74"/>
                                        </p:tgtEl>
                                        <p:attrNameLst>
                                          <p:attrName>style.visibility</p:attrName>
                                        </p:attrNameLst>
                                      </p:cBhvr>
                                      <p:to>
                                        <p:strVal val="visible"/>
                                      </p:to>
                                    </p:set>
                                    <p:animEffect filter="fade" transition="in">
                                      <p:cBhvr>
                                        <p:cTn dur="500"/>
                                        <p:tgtEl>
                                          <p:spTgt spid="74"/>
                                        </p:tgtEl>
                                      </p:cBhvr>
                                    </p:animEffect>
                                  </p:childTnLst>
                                </p:cTn>
                              </p:par>
                              <p:par>
                                <p:cTn fill="hold" nodeType="withEffect" presetClass="entr" presetID="10" presetSubtype="0">
                                  <p:stCondLst>
                                    <p:cond delay="780"/>
                                  </p:stCondLst>
                                  <p:childTnLst>
                                    <p:set>
                                      <p:cBhvr>
                                        <p:cTn dur="1" fill="hold">
                                          <p:stCondLst>
                                            <p:cond delay="0"/>
                                          </p:stCondLst>
                                        </p:cTn>
                                        <p:tgtEl>
                                          <p:spTgt spid="75"/>
                                        </p:tgtEl>
                                        <p:attrNameLst>
                                          <p:attrName>style.visibility</p:attrName>
                                        </p:attrNameLst>
                                      </p:cBhvr>
                                      <p:to>
                                        <p:strVal val="visible"/>
                                      </p:to>
                                    </p:set>
                                    <p:animEffect filter="fade" transition="in">
                                      <p:cBhvr>
                                        <p:cTn dur="500"/>
                                        <p:tgtEl>
                                          <p:spTgt spid="75"/>
                                        </p:tgtEl>
                                      </p:cBhvr>
                                    </p:animEffect>
                                  </p:childTnLst>
                                </p:cTn>
                              </p:par>
                              <p:par>
                                <p:cTn fill="hold" nodeType="withEffect" presetClass="entr" presetID="10" presetSubtype="0">
                                  <p:stCondLst>
                                    <p:cond delay="780"/>
                                  </p:stCondLst>
                                  <p:childTnLst>
                                    <p:set>
                                      <p:cBhvr>
                                        <p:cTn dur="1" fill="hold">
                                          <p:stCondLst>
                                            <p:cond delay="0"/>
                                          </p:stCondLst>
                                        </p:cTn>
                                        <p:tgtEl>
                                          <p:spTgt spid="76"/>
                                        </p:tgtEl>
                                        <p:attrNameLst>
                                          <p:attrName>style.visibility</p:attrName>
                                        </p:attrNameLst>
                                      </p:cBhvr>
                                      <p:to>
                                        <p:strVal val="visible"/>
                                      </p:to>
                                    </p:set>
                                    <p:animEffect filter="fade" transition="in">
                                      <p:cBhvr>
                                        <p:cTn dur="500"/>
                                        <p:tgtEl>
                                          <p:spTgt spid="76"/>
                                        </p:tgtEl>
                                      </p:cBhvr>
                                    </p:animEffect>
                                  </p:childTnLst>
                                </p:cTn>
                              </p:par>
                              <p:par>
                                <p:cTn fill="hold" nodeType="withEffect" presetClass="entr" presetID="10" presetSubtype="0">
                                  <p:stCondLst>
                                    <p:cond delay="1040"/>
                                  </p:stCondLst>
                                  <p:childTnLst>
                                    <p:set>
                                      <p:cBhvr>
                                        <p:cTn dur="1" fill="hold">
                                          <p:stCondLst>
                                            <p:cond delay="0"/>
                                          </p:stCondLst>
                                        </p:cTn>
                                        <p:tgtEl>
                                          <p:spTgt spid="77"/>
                                        </p:tgtEl>
                                        <p:attrNameLst>
                                          <p:attrName>style.visibility</p:attrName>
                                        </p:attrNameLst>
                                      </p:cBhvr>
                                      <p:to>
                                        <p:strVal val="visible"/>
                                      </p:to>
                                    </p:set>
                                    <p:animEffect filter="fade" transition="in">
                                      <p:cBhvr>
                                        <p:cTn dur="500"/>
                                        <p:tgtEl>
                                          <p:spTgt spid="77"/>
                                        </p:tgtEl>
                                      </p:cBhvr>
                                    </p:animEffect>
                                  </p:childTnLst>
                                </p:cTn>
                              </p:par>
                              <p:par>
                                <p:cTn fill="hold" nodeType="withEffect" presetClass="entr" presetID="10" presetSubtype="0">
                                  <p:stCondLst>
                                    <p:cond delay="1040"/>
                                  </p:stCondLst>
                                  <p:childTnLst>
                                    <p:set>
                                      <p:cBhvr>
                                        <p:cTn dur="1" fill="hold">
                                          <p:stCondLst>
                                            <p:cond delay="0"/>
                                          </p:stCondLst>
                                        </p:cTn>
                                        <p:tgtEl>
                                          <p:spTgt spid="78"/>
                                        </p:tgtEl>
                                        <p:attrNameLst>
                                          <p:attrName>style.visibility</p:attrName>
                                        </p:attrNameLst>
                                      </p:cBhvr>
                                      <p:to>
                                        <p:strVal val="visible"/>
                                      </p:to>
                                    </p:set>
                                    <p:animEffect filter="fade" transition="in">
                                      <p:cBhvr>
                                        <p:cTn dur="500"/>
                                        <p:tgtEl>
                                          <p:spTgt spid="78"/>
                                        </p:tgtEl>
                                      </p:cBhvr>
                                    </p:animEffect>
                                  </p:childTnLst>
                                </p:cTn>
                              </p:par>
                              <p:par>
                                <p:cTn fill="hold" nodeType="withEffect" presetClass="entr" presetID="10" presetSubtype="0">
                                  <p:stCondLst>
                                    <p:cond delay="1040"/>
                                  </p:stCondLst>
                                  <p:childTnLst>
                                    <p:set>
                                      <p:cBhvr>
                                        <p:cTn dur="1" fill="hold">
                                          <p:stCondLst>
                                            <p:cond delay="0"/>
                                          </p:stCondLst>
                                        </p:cTn>
                                        <p:tgtEl>
                                          <p:spTgt spid="79"/>
                                        </p:tgtEl>
                                        <p:attrNameLst>
                                          <p:attrName>style.visibility</p:attrName>
                                        </p:attrNameLst>
                                      </p:cBhvr>
                                      <p:to>
                                        <p:strVal val="visible"/>
                                      </p:to>
                                    </p:set>
                                    <p:animEffect filter="fade" transition="in">
                                      <p:cBhvr>
                                        <p:cTn dur="500"/>
                                        <p:tgtEl>
                                          <p:spTgt spid="79"/>
                                        </p:tgtEl>
                                      </p:cBhvr>
                                    </p:animEffect>
                                  </p:childTnLst>
                                </p:cTn>
                              </p:par>
                              <p:par>
                                <p:cTn fill="hold" nodeType="withEffect" presetClass="entr" presetID="10" presetSubtype="0">
                                  <p:stCondLst>
                                    <p:cond delay="1040"/>
                                  </p:stCondLst>
                                  <p:childTnLst>
                                    <p:set>
                                      <p:cBhvr>
                                        <p:cTn dur="1" fill="hold">
                                          <p:stCondLst>
                                            <p:cond delay="0"/>
                                          </p:stCondLst>
                                        </p:cTn>
                                        <p:tgtEl>
                                          <p:spTgt spid="80"/>
                                        </p:tgtEl>
                                        <p:attrNameLst>
                                          <p:attrName>style.visibility</p:attrName>
                                        </p:attrNameLst>
                                      </p:cBhvr>
                                      <p:to>
                                        <p:strVal val="visible"/>
                                      </p:to>
                                    </p:set>
                                    <p:animEffect filter="fade" transition="in">
                                      <p:cBhvr>
                                        <p:cTn dur="500"/>
                                        <p:tgtEl>
                                          <p:spTgt spid="80"/>
                                        </p:tgtEl>
                                      </p:cBhvr>
                                    </p:animEffect>
                                  </p:childTnLst>
                                </p:cTn>
                              </p:par>
                              <p:par>
                                <p:cTn fill="hold" nodeType="withEffect" presetClass="entr" presetID="10" presetSubtype="0">
                                  <p:stCondLst>
                                    <p:cond delay="1300"/>
                                  </p:stCondLst>
                                  <p:childTnLst>
                                    <p:set>
                                      <p:cBhvr>
                                        <p:cTn dur="1" fill="hold">
                                          <p:stCondLst>
                                            <p:cond delay="0"/>
                                          </p:stCondLst>
                                        </p:cTn>
                                        <p:tgtEl>
                                          <p:spTgt spid="81"/>
                                        </p:tgtEl>
                                        <p:attrNameLst>
                                          <p:attrName>style.visibility</p:attrName>
                                        </p:attrNameLst>
                                      </p:cBhvr>
                                      <p:to>
                                        <p:strVal val="visible"/>
                                      </p:to>
                                    </p:set>
                                    <p:animEffect filter="fade" transition="in">
                                      <p:cBhvr>
                                        <p:cTn dur="500"/>
                                        <p:tgtEl>
                                          <p:spTgt spid="81"/>
                                        </p:tgtEl>
                                      </p:cBhvr>
                                    </p:animEffect>
                                  </p:childTnLst>
                                </p:cTn>
                              </p:par>
                              <p:par>
                                <p:cTn fill="hold" nodeType="withEffect" presetClass="entr" presetID="10" presetSubtype="0">
                                  <p:stCondLst>
                                    <p:cond delay="1300"/>
                                  </p:stCondLst>
                                  <p:childTnLst>
                                    <p:set>
                                      <p:cBhvr>
                                        <p:cTn dur="1" fill="hold">
                                          <p:stCondLst>
                                            <p:cond delay="0"/>
                                          </p:stCondLst>
                                        </p:cTn>
                                        <p:tgtEl>
                                          <p:spTgt spid="82"/>
                                        </p:tgtEl>
                                        <p:attrNameLst>
                                          <p:attrName>style.visibility</p:attrName>
                                        </p:attrNameLst>
                                      </p:cBhvr>
                                      <p:to>
                                        <p:strVal val="visible"/>
                                      </p:to>
                                    </p:set>
                                    <p:animEffect filter="fade" transition="in">
                                      <p:cBhvr>
                                        <p:cTn dur="500"/>
                                        <p:tgtEl>
                                          <p:spTgt spid="82"/>
                                        </p:tgtEl>
                                      </p:cBhvr>
                                    </p:animEffect>
                                  </p:childTnLst>
                                </p:cTn>
                              </p:par>
                              <p:par>
                                <p:cTn fill="hold" nodeType="withEffect" presetClass="entr" presetID="10" presetSubtype="0">
                                  <p:stCondLst>
                                    <p:cond delay="1300"/>
                                  </p:stCondLst>
                                  <p:childTnLst>
                                    <p:set>
                                      <p:cBhvr>
                                        <p:cTn dur="1" fill="hold">
                                          <p:stCondLst>
                                            <p:cond delay="0"/>
                                          </p:stCondLst>
                                        </p:cTn>
                                        <p:tgtEl>
                                          <p:spTgt spid="83"/>
                                        </p:tgtEl>
                                        <p:attrNameLst>
                                          <p:attrName>style.visibility</p:attrName>
                                        </p:attrNameLst>
                                      </p:cBhvr>
                                      <p:to>
                                        <p:strVal val="visible"/>
                                      </p:to>
                                    </p:set>
                                    <p:animEffect filter="fade" transition="in">
                                      <p:cBhvr>
                                        <p:cTn dur="500"/>
                                        <p:tgtEl>
                                          <p:spTgt spid="83"/>
                                        </p:tgtEl>
                                      </p:cBhvr>
                                    </p:animEffect>
                                  </p:childTnLst>
                                </p:cTn>
                              </p:par>
                              <p:par>
                                <p:cTn fill="hold" nodeType="withEffect" presetClass="entr" presetID="10" presetSubtype="0">
                                  <p:stCondLst>
                                    <p:cond delay="1300"/>
                                  </p:stCondLst>
                                  <p:childTnLst>
                                    <p:set>
                                      <p:cBhvr>
                                        <p:cTn dur="1" fill="hold">
                                          <p:stCondLst>
                                            <p:cond delay="0"/>
                                          </p:stCondLst>
                                        </p:cTn>
                                        <p:tgtEl>
                                          <p:spTgt spid="84"/>
                                        </p:tgtEl>
                                        <p:attrNameLst>
                                          <p:attrName>style.visibility</p:attrName>
                                        </p:attrNameLst>
                                      </p:cBhvr>
                                      <p:to>
                                        <p:strVal val="visible"/>
                                      </p:to>
                                    </p:set>
                                    <p:animEffect filter="fade" transition="in">
                                      <p:cBhvr>
                                        <p:cTn dur="500"/>
                                        <p:tgtEl>
                                          <p:spTgt spid="84"/>
                                        </p:tgtEl>
                                      </p:cBhvr>
                                    </p:animEffect>
                                  </p:childTnLst>
                                </p:cTn>
                              </p:par>
                              <p:par>
                                <p:cTn fill="hold" nodeType="withEffect" presetClass="entr" presetID="10" presetSubtype="0">
                                  <p:stCondLst>
                                    <p:cond delay="156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par>
                                <p:cTn fill="hold" nodeType="withEffect" presetClass="entr" presetID="10" presetSubtype="0">
                                  <p:stCondLst>
                                    <p:cond delay="1560"/>
                                  </p:stCondLst>
                                  <p:childTnLst>
                                    <p:set>
                                      <p:cBhvr>
                                        <p:cTn dur="1" fill="hold">
                                          <p:stCondLst>
                                            <p:cond delay="0"/>
                                          </p:stCondLst>
                                        </p:cTn>
                                        <p:tgtEl>
                                          <p:spTgt spid="86"/>
                                        </p:tgtEl>
                                        <p:attrNameLst>
                                          <p:attrName>style.visibility</p:attrName>
                                        </p:attrNameLst>
                                      </p:cBhvr>
                                      <p:to>
                                        <p:strVal val="visible"/>
                                      </p:to>
                                    </p:set>
                                    <p:animEffect filter="fade" transition="in">
                                      <p:cBhvr>
                                        <p:cTn dur="500"/>
                                        <p:tgtEl>
                                          <p:spTgt spid="86"/>
                                        </p:tgtEl>
                                      </p:cBhvr>
                                    </p:animEffect>
                                  </p:childTnLst>
                                </p:cTn>
                              </p:par>
                              <p:par>
                                <p:cTn fill="hold" nodeType="withEffect" presetClass="entr" presetID="10" presetSubtype="0">
                                  <p:stCondLst>
                                    <p:cond delay="1560"/>
                                  </p:stCondLst>
                                  <p:childTnLst>
                                    <p:set>
                                      <p:cBhvr>
                                        <p:cTn dur="1" fill="hold">
                                          <p:stCondLst>
                                            <p:cond delay="0"/>
                                          </p:stCondLst>
                                        </p:cTn>
                                        <p:tgtEl>
                                          <p:spTgt spid="87"/>
                                        </p:tgtEl>
                                        <p:attrNameLst>
                                          <p:attrName>style.visibility</p:attrName>
                                        </p:attrNameLst>
                                      </p:cBhvr>
                                      <p:to>
                                        <p:strVal val="visible"/>
                                      </p:to>
                                    </p:set>
                                    <p:animEffect filter="fade" transition="in">
                                      <p:cBhvr>
                                        <p:cTn dur="500"/>
                                        <p:tgtEl>
                                          <p:spTgt spid="87"/>
                                        </p:tgtEl>
                                      </p:cBhvr>
                                    </p:animEffect>
                                  </p:childTnLst>
                                </p:cTn>
                              </p:par>
                              <p:par>
                                <p:cTn fill="hold" nodeType="withEffect" presetClass="entr" presetID="10" presetSubtype="0">
                                  <p:stCondLst>
                                    <p:cond delay="1560"/>
                                  </p:stCondLst>
                                  <p:childTnLst>
                                    <p:set>
                                      <p:cBhvr>
                                        <p:cTn dur="1" fill="hold">
                                          <p:stCondLst>
                                            <p:cond delay="0"/>
                                          </p:stCondLst>
                                        </p:cTn>
                                        <p:tgtEl>
                                          <p:spTgt spid="88"/>
                                        </p:tgtEl>
                                        <p:attrNameLst>
                                          <p:attrName>style.visibility</p:attrName>
                                        </p:attrNameLst>
                                      </p:cBhvr>
                                      <p:to>
                                        <p:strVal val="visible"/>
                                      </p:to>
                                    </p:set>
                                    <p:animEffect filter="fade" transition="in">
                                      <p:cBhvr>
                                        <p:cTn dur="500"/>
                                        <p:tgtEl>
                                          <p:spTgt spid="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4"/>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01  ·  EL PROBLEMA</a:t>
            </a:r>
            <a:endParaRPr b="0" i="0" sz="1200" u="none" cap="none" strike="noStrike">
              <a:solidFill>
                <a:schemeClr val="dk1"/>
              </a:solidFill>
              <a:latin typeface="Calibri"/>
              <a:ea typeface="Calibri"/>
              <a:cs typeface="Calibri"/>
              <a:sym typeface="Calibri"/>
            </a:endParaRPr>
          </a:p>
        </p:txBody>
      </p:sp>
      <p:sp>
        <p:nvSpPr>
          <p:cNvPr id="96" name="Google Shape;96;p4"/>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Problema o necesidad</a:t>
            </a:r>
            <a:endParaRPr sz="3400"/>
          </a:p>
        </p:txBody>
      </p:sp>
      <p:sp>
        <p:nvSpPr>
          <p:cNvPr id="97" name="Google Shape;97;p4"/>
          <p:cNvSpPr/>
          <p:nvPr/>
        </p:nvSpPr>
        <p:spPr>
          <a:xfrm>
            <a:off x="640080" y="1783080"/>
            <a:ext cx="3465576" cy="3429000"/>
          </a:xfrm>
          <a:prstGeom prst="roundRect">
            <a:avLst>
              <a:gd fmla="val 373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98" name="Google Shape;98;p4"/>
          <p:cNvPicPr preferRelativeResize="0"/>
          <p:nvPr/>
        </p:nvPicPr>
        <p:blipFill rotWithShape="1">
          <a:blip r:embed="rId3">
            <a:alphaModFix/>
          </a:blip>
          <a:srcRect b="0" l="0" r="0" t="0"/>
          <a:stretch/>
        </p:blipFill>
        <p:spPr>
          <a:xfrm>
            <a:off x="960120" y="2103120"/>
            <a:ext cx="777240" cy="777240"/>
          </a:xfrm>
          <a:prstGeom prst="rect">
            <a:avLst/>
          </a:prstGeom>
          <a:noFill/>
          <a:ln>
            <a:noFill/>
          </a:ln>
        </p:spPr>
      </p:pic>
      <p:sp>
        <p:nvSpPr>
          <p:cNvPr id="99" name="Google Shape;99;p4"/>
          <p:cNvSpPr txBox="1"/>
          <p:nvPr/>
        </p:nvSpPr>
        <p:spPr>
          <a:xfrm>
            <a:off x="960120" y="3063240"/>
            <a:ext cx="2834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200"/>
              <a:buFont typeface="Georgia"/>
              <a:buNone/>
            </a:pPr>
            <a:r>
              <a:rPr b="1" i="0" lang="en-US" sz="2200" u="none" cap="none" strike="noStrike">
                <a:solidFill>
                  <a:schemeClr val="dk2"/>
                </a:solidFill>
                <a:latin typeface="Georgia"/>
                <a:ea typeface="Georgia"/>
                <a:cs typeface="Georgia"/>
                <a:sym typeface="Georgia"/>
              </a:rPr>
              <a:t>El problema</a:t>
            </a:r>
            <a:endParaRPr b="0" i="0" sz="2200" u="none" cap="none" strike="noStrike">
              <a:solidFill>
                <a:schemeClr val="dk1"/>
              </a:solidFill>
              <a:latin typeface="Calibri"/>
              <a:ea typeface="Calibri"/>
              <a:cs typeface="Calibri"/>
              <a:sym typeface="Calibri"/>
            </a:endParaRPr>
          </a:p>
        </p:txBody>
      </p:sp>
      <p:sp>
        <p:nvSpPr>
          <p:cNvPr id="100" name="Google Shape;100;p4"/>
          <p:cNvSpPr txBox="1"/>
          <p:nvPr/>
        </p:nvSpPr>
        <p:spPr>
          <a:xfrm>
            <a:off x="960120" y="3566160"/>
            <a:ext cx="283464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Estrés, ansiedad, falta de motivación y desorganización en jóvenes por sus responsabilidades académicas y personales.</a:t>
            </a:r>
            <a:endParaRPr b="0" i="0" sz="1500" u="none" cap="none" strike="noStrike">
              <a:solidFill>
                <a:schemeClr val="dk1"/>
              </a:solidFill>
              <a:latin typeface="Calibri"/>
              <a:ea typeface="Calibri"/>
              <a:cs typeface="Calibri"/>
              <a:sym typeface="Calibri"/>
            </a:endParaRPr>
          </a:p>
        </p:txBody>
      </p:sp>
      <p:sp>
        <p:nvSpPr>
          <p:cNvPr id="101" name="Google Shape;101;p4"/>
          <p:cNvSpPr/>
          <p:nvPr/>
        </p:nvSpPr>
        <p:spPr>
          <a:xfrm>
            <a:off x="4361688" y="1783080"/>
            <a:ext cx="3465576" cy="3429000"/>
          </a:xfrm>
          <a:prstGeom prst="roundRect">
            <a:avLst>
              <a:gd fmla="val 373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102" name="Google Shape;102;p4"/>
          <p:cNvPicPr preferRelativeResize="0"/>
          <p:nvPr/>
        </p:nvPicPr>
        <p:blipFill rotWithShape="1">
          <a:blip r:embed="rId4">
            <a:alphaModFix/>
          </a:blip>
          <a:srcRect b="0" l="0" r="0" t="0"/>
          <a:stretch/>
        </p:blipFill>
        <p:spPr>
          <a:xfrm>
            <a:off x="4681728" y="2103120"/>
            <a:ext cx="777240" cy="777240"/>
          </a:xfrm>
          <a:prstGeom prst="rect">
            <a:avLst/>
          </a:prstGeom>
          <a:noFill/>
          <a:ln>
            <a:noFill/>
          </a:ln>
        </p:spPr>
      </p:pic>
      <p:sp>
        <p:nvSpPr>
          <p:cNvPr id="103" name="Google Shape;103;p4"/>
          <p:cNvSpPr txBox="1"/>
          <p:nvPr/>
        </p:nvSpPr>
        <p:spPr>
          <a:xfrm>
            <a:off x="4681728" y="3063240"/>
            <a:ext cx="2834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200"/>
              <a:buFont typeface="Georgia"/>
              <a:buNone/>
            </a:pPr>
            <a:r>
              <a:rPr b="1" i="0" lang="en-US" sz="2200" u="none" cap="none" strike="noStrike">
                <a:solidFill>
                  <a:schemeClr val="dk2"/>
                </a:solidFill>
                <a:latin typeface="Georgia"/>
                <a:ea typeface="Georgia"/>
                <a:cs typeface="Georgia"/>
                <a:sym typeface="Georgia"/>
              </a:rPr>
              <a:t>La brecha</a:t>
            </a:r>
            <a:endParaRPr b="0" i="0" sz="2200" u="none" cap="none" strike="noStrike">
              <a:solidFill>
                <a:schemeClr val="dk1"/>
              </a:solidFill>
              <a:latin typeface="Calibri"/>
              <a:ea typeface="Calibri"/>
              <a:cs typeface="Calibri"/>
              <a:sym typeface="Calibri"/>
            </a:endParaRPr>
          </a:p>
        </p:txBody>
      </p:sp>
      <p:sp>
        <p:nvSpPr>
          <p:cNvPr id="104" name="Google Shape;104;p4"/>
          <p:cNvSpPr txBox="1"/>
          <p:nvPr/>
        </p:nvSpPr>
        <p:spPr>
          <a:xfrm>
            <a:off x="4681728" y="3566160"/>
            <a:ext cx="283464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Hay apps que miden emociones, hábitos o diario por separado, pero faltan las que unifiquen todo en un solo lugar.</a:t>
            </a:r>
            <a:endParaRPr b="0" i="0" sz="1500" u="none" cap="none" strike="noStrike">
              <a:solidFill>
                <a:schemeClr val="dk1"/>
              </a:solidFill>
              <a:latin typeface="Calibri"/>
              <a:ea typeface="Calibri"/>
              <a:cs typeface="Calibri"/>
              <a:sym typeface="Calibri"/>
            </a:endParaRPr>
          </a:p>
        </p:txBody>
      </p:sp>
      <p:sp>
        <p:nvSpPr>
          <p:cNvPr id="105" name="Google Shape;105;p4"/>
          <p:cNvSpPr/>
          <p:nvPr/>
        </p:nvSpPr>
        <p:spPr>
          <a:xfrm>
            <a:off x="8083296" y="1783080"/>
            <a:ext cx="3465576" cy="3429000"/>
          </a:xfrm>
          <a:prstGeom prst="roundRect">
            <a:avLst>
              <a:gd fmla="val 373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106" name="Google Shape;106;p4"/>
          <p:cNvPicPr preferRelativeResize="0"/>
          <p:nvPr/>
        </p:nvPicPr>
        <p:blipFill rotWithShape="1">
          <a:blip r:embed="rId5">
            <a:alphaModFix/>
          </a:blip>
          <a:srcRect b="0" l="0" r="0" t="0"/>
          <a:stretch/>
        </p:blipFill>
        <p:spPr>
          <a:xfrm>
            <a:off x="8403336" y="2103120"/>
            <a:ext cx="777240" cy="777240"/>
          </a:xfrm>
          <a:prstGeom prst="rect">
            <a:avLst/>
          </a:prstGeom>
          <a:noFill/>
          <a:ln>
            <a:noFill/>
          </a:ln>
        </p:spPr>
      </p:pic>
      <p:sp>
        <p:nvSpPr>
          <p:cNvPr id="107" name="Google Shape;107;p4"/>
          <p:cNvSpPr txBox="1"/>
          <p:nvPr/>
        </p:nvSpPr>
        <p:spPr>
          <a:xfrm>
            <a:off x="8403336" y="3063240"/>
            <a:ext cx="2834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200"/>
              <a:buFont typeface="Georgia"/>
              <a:buNone/>
            </a:pPr>
            <a:r>
              <a:rPr b="1" i="0" lang="en-US" sz="2200" u="none" cap="none" strike="noStrike">
                <a:solidFill>
                  <a:schemeClr val="dk2"/>
                </a:solidFill>
                <a:latin typeface="Georgia"/>
                <a:ea typeface="Georgia"/>
                <a:cs typeface="Georgia"/>
                <a:sym typeface="Georgia"/>
              </a:rPr>
              <a:t>La necesidad</a:t>
            </a:r>
            <a:endParaRPr b="0" i="0" sz="2200" u="none" cap="none" strike="noStrike">
              <a:solidFill>
                <a:schemeClr val="dk1"/>
              </a:solidFill>
              <a:latin typeface="Calibri"/>
              <a:ea typeface="Calibri"/>
              <a:cs typeface="Calibri"/>
              <a:sym typeface="Calibri"/>
            </a:endParaRPr>
          </a:p>
        </p:txBody>
      </p:sp>
      <p:sp>
        <p:nvSpPr>
          <p:cNvPr id="108" name="Google Shape;108;p4"/>
          <p:cNvSpPr txBox="1"/>
          <p:nvPr/>
        </p:nvSpPr>
        <p:spPr>
          <a:xfrm>
            <a:off x="8403336" y="3566160"/>
            <a:ext cx="283464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Una herramienta gratuita y segura para toda la institución, desde grado sexto, que ayude a detectar señales a tiempo.</a:t>
            </a:r>
            <a:endParaRPr b="0" i="0" sz="1500" u="none" cap="none" strike="noStrike">
              <a:solidFill>
                <a:schemeClr val="dk1"/>
              </a:solidFill>
              <a:latin typeface="Calibri"/>
              <a:ea typeface="Calibri"/>
              <a:cs typeface="Calibri"/>
              <a:sym typeface="Calibri"/>
            </a:endParaRPr>
          </a:p>
        </p:txBody>
      </p:sp>
      <p:sp>
        <p:nvSpPr>
          <p:cNvPr id="109" name="Google Shape;109;p4"/>
          <p:cNvSpPr/>
          <p:nvPr/>
        </p:nvSpPr>
        <p:spPr>
          <a:xfrm>
            <a:off x="640080" y="5440680"/>
            <a:ext cx="10908792" cy="777240"/>
          </a:xfrm>
          <a:prstGeom prst="roundRect">
            <a:avLst>
              <a:gd fmla="val 16471"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txBox="1"/>
          <p:nvPr/>
        </p:nvSpPr>
        <p:spPr>
          <a:xfrm>
            <a:off x="1005840" y="5440680"/>
            <a:ext cx="102412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Serena reúne bienestar y gestión académica en un solo lugar y conecta al estudiante con psicología.</a:t>
            </a:r>
            <a:endParaRPr b="0" i="0" sz="1800" u="none" cap="none" strike="noStrike">
              <a:solidFill>
                <a:schemeClr val="dk1"/>
              </a:solidFill>
              <a:latin typeface="Calibri"/>
              <a:ea typeface="Calibri"/>
              <a:cs typeface="Calibri"/>
              <a:sym typeface="Calibri"/>
            </a:endParaRPr>
          </a:p>
        </p:txBody>
      </p:sp>
      <p:sp>
        <p:nvSpPr>
          <p:cNvPr id="111" name="Google Shape;111;p4"/>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par>
                                <p:cTn fill="hold" nodeType="withEffect" presetClass="entr" presetID="10" presetSubtype="0">
                                  <p:stCondLst>
                                    <p:cond delay="260"/>
                                  </p:stCondLst>
                                  <p:childTnLst>
                                    <p:set>
                                      <p:cBhvr>
                                        <p:cTn dur="1" fill="hold">
                                          <p:stCondLst>
                                            <p:cond delay="0"/>
                                          </p:stCondLst>
                                        </p:cTn>
                                        <p:tgtEl>
                                          <p:spTgt spid="97"/>
                                        </p:tgtEl>
                                        <p:attrNameLst>
                                          <p:attrName>style.visibility</p:attrName>
                                        </p:attrNameLst>
                                      </p:cBhvr>
                                      <p:to>
                                        <p:strVal val="visible"/>
                                      </p:to>
                                    </p:set>
                                    <p:animEffect filter="fade" transition="in">
                                      <p:cBhvr>
                                        <p:cTn dur="500"/>
                                        <p:tgtEl>
                                          <p:spTgt spid="97"/>
                                        </p:tgtEl>
                                      </p:cBhvr>
                                    </p:animEffect>
                                  </p:childTnLst>
                                </p:cTn>
                              </p:par>
                              <p:par>
                                <p:cTn fill="hold" nodeType="withEffect" presetClass="entr" presetID="10" presetSubtype="0">
                                  <p:stCondLst>
                                    <p:cond delay="26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par>
                                <p:cTn fill="hold" nodeType="withEffect" presetClass="entr" presetID="10" presetSubtype="0">
                                  <p:stCondLst>
                                    <p:cond delay="260"/>
                                  </p:stCondLst>
                                  <p:childTnLst>
                                    <p:set>
                                      <p:cBhvr>
                                        <p:cTn dur="1" fill="hold">
                                          <p:stCondLst>
                                            <p:cond delay="0"/>
                                          </p:stCondLst>
                                        </p:cTn>
                                        <p:tgtEl>
                                          <p:spTgt spid="99"/>
                                        </p:tgtEl>
                                        <p:attrNameLst>
                                          <p:attrName>style.visibility</p:attrName>
                                        </p:attrNameLst>
                                      </p:cBhvr>
                                      <p:to>
                                        <p:strVal val="visible"/>
                                      </p:to>
                                    </p:set>
                                    <p:animEffect filter="fade" transition="in">
                                      <p:cBhvr>
                                        <p:cTn dur="500"/>
                                        <p:tgtEl>
                                          <p:spTgt spid="99"/>
                                        </p:tgtEl>
                                      </p:cBhvr>
                                    </p:animEffect>
                                  </p:childTnLst>
                                </p:cTn>
                              </p:par>
                              <p:par>
                                <p:cTn fill="hold" nodeType="withEffect" presetClass="entr" presetID="10" presetSubtype="0">
                                  <p:stCondLst>
                                    <p:cond delay="260"/>
                                  </p:stCondLst>
                                  <p:childTnLst>
                                    <p:set>
                                      <p:cBhvr>
                                        <p:cTn dur="1" fill="hold">
                                          <p:stCondLst>
                                            <p:cond delay="0"/>
                                          </p:stCondLst>
                                        </p:cTn>
                                        <p:tgtEl>
                                          <p:spTgt spid="100"/>
                                        </p:tgtEl>
                                        <p:attrNameLst>
                                          <p:attrName>style.visibility</p:attrName>
                                        </p:attrNameLst>
                                      </p:cBhvr>
                                      <p:to>
                                        <p:strVal val="visible"/>
                                      </p:to>
                                    </p:set>
                                    <p:animEffect filter="fade" transition="in">
                                      <p:cBhvr>
                                        <p:cTn dur="500"/>
                                        <p:tgtEl>
                                          <p:spTgt spid="100"/>
                                        </p:tgtEl>
                                      </p:cBhvr>
                                    </p:animEffect>
                                  </p:childTnLst>
                                </p:cTn>
                              </p:par>
                              <p:par>
                                <p:cTn fill="hold" nodeType="withEffect" presetClass="entr" presetID="10" presetSubtype="0">
                                  <p:stCondLst>
                                    <p:cond delay="52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par>
                                <p:cTn fill="hold" nodeType="withEffect" presetClass="entr" presetID="10" presetSubtype="0">
                                  <p:stCondLst>
                                    <p:cond delay="52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par>
                                <p:cTn fill="hold" nodeType="withEffect" presetClass="entr" presetID="10" presetSubtype="0">
                                  <p:stCondLst>
                                    <p:cond delay="520"/>
                                  </p:stCondLst>
                                  <p:childTnLst>
                                    <p:set>
                                      <p:cBhvr>
                                        <p:cTn dur="1" fill="hold">
                                          <p:stCondLst>
                                            <p:cond delay="0"/>
                                          </p:stCondLst>
                                        </p:cTn>
                                        <p:tgtEl>
                                          <p:spTgt spid="103"/>
                                        </p:tgtEl>
                                        <p:attrNameLst>
                                          <p:attrName>style.visibility</p:attrName>
                                        </p:attrNameLst>
                                      </p:cBhvr>
                                      <p:to>
                                        <p:strVal val="visible"/>
                                      </p:to>
                                    </p:set>
                                    <p:animEffect filter="fade" transition="in">
                                      <p:cBhvr>
                                        <p:cTn dur="500"/>
                                        <p:tgtEl>
                                          <p:spTgt spid="103"/>
                                        </p:tgtEl>
                                      </p:cBhvr>
                                    </p:animEffect>
                                  </p:childTnLst>
                                </p:cTn>
                              </p:par>
                              <p:par>
                                <p:cTn fill="hold" nodeType="withEffect" presetClass="entr" presetID="10" presetSubtype="0">
                                  <p:stCondLst>
                                    <p:cond delay="52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par>
                                <p:cTn fill="hold" nodeType="withEffect" presetClass="entr" presetID="10" presetSubtype="0">
                                  <p:stCondLst>
                                    <p:cond delay="78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par>
                                <p:cTn fill="hold" nodeType="withEffect" presetClass="entr" presetID="10" presetSubtype="0">
                                  <p:stCondLst>
                                    <p:cond delay="78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par>
                                <p:cTn fill="hold" nodeType="withEffect" presetClass="entr" presetID="10" presetSubtype="0">
                                  <p:stCondLst>
                                    <p:cond delay="78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par>
                                <p:cTn fill="hold" nodeType="withEffect" presetClass="entr" presetID="10" presetSubtype="0">
                                  <p:stCondLst>
                                    <p:cond delay="78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par>
                                <p:cTn fill="hold" nodeType="withEffect" presetClass="entr" presetID="10" presetSubtype="0">
                                  <p:stCondLst>
                                    <p:cond delay="104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par>
                                <p:cTn fill="hold" nodeType="withEffect" presetClass="entr" presetID="10" presetSubtype="0">
                                  <p:stCondLst>
                                    <p:cond delay="1040"/>
                                  </p:stCondLst>
                                  <p:childTnLst>
                                    <p:set>
                                      <p:cBhvr>
                                        <p:cTn dur="1" fill="hold">
                                          <p:stCondLst>
                                            <p:cond delay="0"/>
                                          </p:stCondLst>
                                        </p:cTn>
                                        <p:tgtEl>
                                          <p:spTgt spid="110"/>
                                        </p:tgtEl>
                                        <p:attrNameLst>
                                          <p:attrName>style.visibility</p:attrName>
                                        </p:attrNameLst>
                                      </p:cBhvr>
                                      <p:to>
                                        <p:strVal val="visible"/>
                                      </p:to>
                                    </p:set>
                                    <p:animEffect filter="fade" transition="in">
                                      <p:cBhvr>
                                        <p:cTn dur="500"/>
                                        <p:tgtEl>
                                          <p:spTgt spid="1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01  ·  EL PROBLEMA</a:t>
            </a:r>
            <a:endParaRPr b="0" i="0" sz="1200" u="none" cap="none" strike="noStrike">
              <a:solidFill>
                <a:schemeClr val="dk1"/>
              </a:solidFill>
              <a:latin typeface="Calibri"/>
              <a:ea typeface="Calibri"/>
              <a:cs typeface="Calibri"/>
              <a:sym typeface="Calibri"/>
            </a:endParaRPr>
          </a:p>
        </p:txBody>
      </p:sp>
      <p:sp>
        <p:nvSpPr>
          <p:cNvPr id="118" name="Google Shape;118;p5"/>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Lo que ya existe y lo que falta</a:t>
            </a:r>
            <a:endParaRPr sz="3400"/>
          </a:p>
        </p:txBody>
      </p:sp>
      <p:sp>
        <p:nvSpPr>
          <p:cNvPr id="119" name="Google Shape;119;p5"/>
          <p:cNvSpPr/>
          <p:nvPr/>
        </p:nvSpPr>
        <p:spPr>
          <a:xfrm>
            <a:off x="640080" y="1783080"/>
            <a:ext cx="2240280" cy="2377440"/>
          </a:xfrm>
          <a:prstGeom prst="roundRect">
            <a:avLst>
              <a:gd fmla="val 571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120" name="Google Shape;120;p5"/>
          <p:cNvPicPr preferRelativeResize="0"/>
          <p:nvPr/>
        </p:nvPicPr>
        <p:blipFill rotWithShape="1">
          <a:blip r:embed="rId3">
            <a:alphaModFix/>
          </a:blip>
          <a:srcRect b="0" l="0" r="0" t="0"/>
          <a:stretch/>
        </p:blipFill>
        <p:spPr>
          <a:xfrm>
            <a:off x="914400" y="2011680"/>
            <a:ext cx="731520" cy="731520"/>
          </a:xfrm>
          <a:prstGeom prst="rect">
            <a:avLst/>
          </a:prstGeom>
          <a:noFill/>
          <a:ln>
            <a:noFill/>
          </a:ln>
        </p:spPr>
      </p:pic>
      <p:sp>
        <p:nvSpPr>
          <p:cNvPr id="121" name="Google Shape;121;p5"/>
          <p:cNvSpPr txBox="1"/>
          <p:nvPr/>
        </p:nvSpPr>
        <p:spPr>
          <a:xfrm>
            <a:off x="914400" y="2926080"/>
            <a:ext cx="1737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200"/>
              <a:buFont typeface="Georgia"/>
              <a:buNone/>
            </a:pPr>
            <a:r>
              <a:rPr b="1" i="0" lang="en-US" sz="2200" u="none" cap="none" strike="noStrike">
                <a:solidFill>
                  <a:schemeClr val="dk2"/>
                </a:solidFill>
                <a:latin typeface="Georgia"/>
                <a:ea typeface="Georgia"/>
                <a:cs typeface="Georgia"/>
                <a:sym typeface="Georgia"/>
              </a:rPr>
              <a:t>Daylio</a:t>
            </a:r>
            <a:endParaRPr b="0" i="0" sz="2200" u="none" cap="none" strike="noStrike">
              <a:solidFill>
                <a:schemeClr val="dk1"/>
              </a:solidFill>
              <a:latin typeface="Calibri"/>
              <a:ea typeface="Calibri"/>
              <a:cs typeface="Calibri"/>
              <a:sym typeface="Calibri"/>
            </a:endParaRPr>
          </a:p>
        </p:txBody>
      </p:sp>
      <p:sp>
        <p:nvSpPr>
          <p:cNvPr id="122" name="Google Shape;122;p5"/>
          <p:cNvSpPr txBox="1"/>
          <p:nvPr/>
        </p:nvSpPr>
        <p:spPr>
          <a:xfrm>
            <a:off x="914400" y="3383280"/>
            <a:ext cx="178308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200" u="none" cap="none" strike="noStrike">
                <a:solidFill>
                  <a:schemeClr val="accent6"/>
                </a:solidFill>
                <a:latin typeface="Calibri"/>
                <a:ea typeface="Calibri"/>
                <a:cs typeface="Calibri"/>
                <a:sym typeface="Calibri"/>
              </a:rPr>
              <a:t>Ánimo y actividades en 2 toques; nada académico</a:t>
            </a:r>
            <a:endParaRPr b="0" i="0" sz="1500" u="none" cap="none" strike="noStrike">
              <a:solidFill>
                <a:schemeClr val="dk1"/>
              </a:solidFill>
              <a:latin typeface="Calibri"/>
              <a:ea typeface="Calibri"/>
              <a:cs typeface="Calibri"/>
              <a:sym typeface="Calibri"/>
            </a:endParaRPr>
          </a:p>
        </p:txBody>
      </p:sp>
      <p:sp>
        <p:nvSpPr>
          <p:cNvPr id="123" name="Google Shape;123;p5"/>
          <p:cNvSpPr/>
          <p:nvPr/>
        </p:nvSpPr>
        <p:spPr>
          <a:xfrm>
            <a:off x="3131820" y="1783080"/>
            <a:ext cx="2240280" cy="2377440"/>
          </a:xfrm>
          <a:prstGeom prst="roundRect">
            <a:avLst>
              <a:gd fmla="val 571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124" name="Google Shape;124;p5"/>
          <p:cNvPicPr preferRelativeResize="0"/>
          <p:nvPr/>
        </p:nvPicPr>
        <p:blipFill rotWithShape="1">
          <a:blip r:embed="rId4">
            <a:alphaModFix/>
          </a:blip>
          <a:srcRect b="0" l="0" r="0" t="0"/>
          <a:stretch/>
        </p:blipFill>
        <p:spPr>
          <a:xfrm>
            <a:off x="3406140" y="2011680"/>
            <a:ext cx="731520" cy="731520"/>
          </a:xfrm>
          <a:prstGeom prst="rect">
            <a:avLst/>
          </a:prstGeom>
          <a:noFill/>
          <a:ln>
            <a:noFill/>
          </a:ln>
        </p:spPr>
      </p:pic>
      <p:sp>
        <p:nvSpPr>
          <p:cNvPr id="125" name="Google Shape;125;p5"/>
          <p:cNvSpPr txBox="1"/>
          <p:nvPr/>
        </p:nvSpPr>
        <p:spPr>
          <a:xfrm>
            <a:off x="3406140" y="2926080"/>
            <a:ext cx="1737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200"/>
              <a:buFont typeface="Georgia"/>
              <a:buNone/>
            </a:pPr>
            <a:r>
              <a:rPr b="1" i="0" lang="en-US" sz="2200" u="none" cap="none" strike="noStrike">
                <a:solidFill>
                  <a:schemeClr val="dk2"/>
                </a:solidFill>
                <a:latin typeface="Georgia"/>
                <a:ea typeface="Georgia"/>
                <a:cs typeface="Georgia"/>
                <a:sym typeface="Georgia"/>
              </a:rPr>
              <a:t>Habitica</a:t>
            </a:r>
            <a:endParaRPr b="0" i="0" sz="2200" u="none" cap="none" strike="noStrike">
              <a:solidFill>
                <a:schemeClr val="dk1"/>
              </a:solidFill>
              <a:latin typeface="Calibri"/>
              <a:ea typeface="Calibri"/>
              <a:cs typeface="Calibri"/>
              <a:sym typeface="Calibri"/>
            </a:endParaRPr>
          </a:p>
        </p:txBody>
      </p:sp>
      <p:sp>
        <p:nvSpPr>
          <p:cNvPr id="126" name="Google Shape;126;p5"/>
          <p:cNvSpPr txBox="1"/>
          <p:nvPr/>
        </p:nvSpPr>
        <p:spPr>
          <a:xfrm>
            <a:off x="3406140" y="3383280"/>
            <a:ext cx="178308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200" u="none" cap="none" strike="noStrike">
                <a:solidFill>
                  <a:schemeClr val="accent6"/>
                </a:solidFill>
                <a:latin typeface="Calibri"/>
                <a:ea typeface="Calibri"/>
                <a:cs typeface="Calibri"/>
                <a:sym typeface="Calibri"/>
              </a:rPr>
              <a:t>Hábitos y tareas con juego de rol; sin emociones</a:t>
            </a:r>
            <a:endParaRPr b="0" i="0" sz="1500" u="none" cap="none" strike="noStrike">
              <a:solidFill>
                <a:schemeClr val="dk1"/>
              </a:solidFill>
              <a:latin typeface="Calibri"/>
              <a:ea typeface="Calibri"/>
              <a:cs typeface="Calibri"/>
              <a:sym typeface="Calibri"/>
            </a:endParaRPr>
          </a:p>
        </p:txBody>
      </p:sp>
      <p:sp>
        <p:nvSpPr>
          <p:cNvPr id="127" name="Google Shape;127;p5"/>
          <p:cNvSpPr/>
          <p:nvPr/>
        </p:nvSpPr>
        <p:spPr>
          <a:xfrm>
            <a:off x="5623560" y="1783080"/>
            <a:ext cx="2240280" cy="2377440"/>
          </a:xfrm>
          <a:prstGeom prst="roundRect">
            <a:avLst>
              <a:gd fmla="val 571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128" name="Google Shape;128;p5"/>
          <p:cNvPicPr preferRelativeResize="0"/>
          <p:nvPr/>
        </p:nvPicPr>
        <p:blipFill rotWithShape="1">
          <a:blip r:embed="rId5">
            <a:alphaModFix/>
          </a:blip>
          <a:srcRect b="0" l="0" r="0" t="0"/>
          <a:stretch/>
        </p:blipFill>
        <p:spPr>
          <a:xfrm>
            <a:off x="5897880" y="2011680"/>
            <a:ext cx="731520" cy="731520"/>
          </a:xfrm>
          <a:prstGeom prst="rect">
            <a:avLst/>
          </a:prstGeom>
          <a:noFill/>
          <a:ln>
            <a:noFill/>
          </a:ln>
        </p:spPr>
      </p:pic>
      <p:sp>
        <p:nvSpPr>
          <p:cNvPr id="129" name="Google Shape;129;p5"/>
          <p:cNvSpPr txBox="1"/>
          <p:nvPr/>
        </p:nvSpPr>
        <p:spPr>
          <a:xfrm>
            <a:off x="5897880" y="2926080"/>
            <a:ext cx="1737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200"/>
              <a:buFont typeface="Georgia"/>
              <a:buNone/>
            </a:pPr>
            <a:r>
              <a:rPr b="1" i="0" lang="en-US" sz="2200" u="none" cap="none" strike="noStrike">
                <a:solidFill>
                  <a:schemeClr val="dk2"/>
                </a:solidFill>
                <a:latin typeface="Georgia"/>
                <a:ea typeface="Georgia"/>
                <a:cs typeface="Georgia"/>
                <a:sym typeface="Georgia"/>
              </a:rPr>
              <a:t>Reflectly</a:t>
            </a:r>
            <a:endParaRPr b="0" i="0" sz="2200" u="none" cap="none" strike="noStrike">
              <a:solidFill>
                <a:schemeClr val="dk1"/>
              </a:solidFill>
              <a:latin typeface="Calibri"/>
              <a:ea typeface="Calibri"/>
              <a:cs typeface="Calibri"/>
              <a:sym typeface="Calibri"/>
            </a:endParaRPr>
          </a:p>
        </p:txBody>
      </p:sp>
      <p:sp>
        <p:nvSpPr>
          <p:cNvPr id="130" name="Google Shape;130;p5"/>
          <p:cNvSpPr txBox="1"/>
          <p:nvPr/>
        </p:nvSpPr>
        <p:spPr>
          <a:xfrm>
            <a:off x="5897880" y="3383280"/>
            <a:ext cx="178308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200" u="none" cap="none" strike="noStrike">
                <a:solidFill>
                  <a:schemeClr val="accent6"/>
                </a:solidFill>
                <a:latin typeface="Calibri"/>
                <a:ea typeface="Calibri"/>
                <a:cs typeface="Calibri"/>
                <a:sym typeface="Calibri"/>
              </a:rPr>
              <a:t>Diario guiado con IA; individual, sin acompañamiento</a:t>
            </a:r>
            <a:endParaRPr b="0" i="0" sz="1500" u="none" cap="none" strike="noStrike">
              <a:solidFill>
                <a:schemeClr val="dk1"/>
              </a:solidFill>
              <a:latin typeface="Calibri"/>
              <a:ea typeface="Calibri"/>
              <a:cs typeface="Calibri"/>
              <a:sym typeface="Calibri"/>
            </a:endParaRPr>
          </a:p>
        </p:txBody>
      </p:sp>
      <p:sp>
        <p:nvSpPr>
          <p:cNvPr id="131" name="Google Shape;131;p5"/>
          <p:cNvSpPr/>
          <p:nvPr/>
        </p:nvSpPr>
        <p:spPr>
          <a:xfrm>
            <a:off x="640080" y="4389120"/>
            <a:ext cx="7223760" cy="1691640"/>
          </a:xfrm>
          <a:prstGeom prst="roundRect">
            <a:avLst>
              <a:gd fmla="val 756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txBox="1"/>
          <p:nvPr/>
        </p:nvSpPr>
        <p:spPr>
          <a:xfrm>
            <a:off x="1005840" y="4617720"/>
            <a:ext cx="2743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LA BRECHA</a:t>
            </a:r>
            <a:endParaRPr b="0" i="0" sz="1200" u="none" cap="none" strike="noStrike">
              <a:solidFill>
                <a:schemeClr val="dk1"/>
              </a:solidFill>
              <a:latin typeface="Calibri"/>
              <a:ea typeface="Calibri"/>
              <a:cs typeface="Calibri"/>
              <a:sym typeface="Calibri"/>
            </a:endParaRPr>
          </a:p>
        </p:txBody>
      </p:sp>
      <p:sp>
        <p:nvSpPr>
          <p:cNvPr id="133" name="Google Shape;133;p5"/>
          <p:cNvSpPr txBox="1"/>
          <p:nvPr/>
        </p:nvSpPr>
        <p:spPr>
          <a:xfrm>
            <a:off x="1005840" y="4983480"/>
            <a:ext cx="64922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0" i="0" lang="en-US" sz="2000" u="none" cap="none" strike="noStrike">
                <a:solidFill>
                  <a:schemeClr val="dk2"/>
                </a:solidFill>
                <a:latin typeface="Georgia"/>
                <a:ea typeface="Georgia"/>
                <a:cs typeface="Georgia"/>
                <a:sym typeface="Georgia"/>
              </a:rPr>
              <a:t>Cada herramienta atiende una sola dimensión. Faltaba una que lo unificara todo en un solo lugar.</a:t>
            </a:r>
            <a:endParaRPr b="0" i="0" sz="2000" u="none" cap="none" strike="noStrike">
              <a:solidFill>
                <a:schemeClr val="dk1"/>
              </a:solidFill>
              <a:latin typeface="Calibri"/>
              <a:ea typeface="Calibri"/>
              <a:cs typeface="Calibri"/>
              <a:sym typeface="Calibri"/>
            </a:endParaRPr>
          </a:p>
        </p:txBody>
      </p:sp>
      <p:sp>
        <p:nvSpPr>
          <p:cNvPr id="134" name="Google Shape;134;p5"/>
          <p:cNvSpPr/>
          <p:nvPr/>
        </p:nvSpPr>
        <p:spPr>
          <a:xfrm>
            <a:off x="8138160" y="1783080"/>
            <a:ext cx="3410712" cy="4297680"/>
          </a:xfrm>
          <a:prstGeom prst="roundRect">
            <a:avLst>
              <a:gd fmla="val 3753"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8974836" y="2057400"/>
            <a:ext cx="1737360" cy="173736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 de Serena" id="136" name="Google Shape;136;p5"/>
          <p:cNvPicPr preferRelativeResize="0"/>
          <p:nvPr/>
        </p:nvPicPr>
        <p:blipFill rotWithShape="1">
          <a:blip r:embed="rId6">
            <a:alphaModFix/>
          </a:blip>
          <a:srcRect b="0" l="0" r="0" t="0"/>
          <a:stretch/>
        </p:blipFill>
        <p:spPr>
          <a:xfrm>
            <a:off x="9203436" y="2258568"/>
            <a:ext cx="1280160" cy="1307592"/>
          </a:xfrm>
          <a:prstGeom prst="rect">
            <a:avLst/>
          </a:prstGeom>
          <a:noFill/>
          <a:ln>
            <a:noFill/>
          </a:ln>
        </p:spPr>
      </p:pic>
      <p:sp>
        <p:nvSpPr>
          <p:cNvPr id="137" name="Google Shape;137;p5"/>
          <p:cNvSpPr txBox="1"/>
          <p:nvPr/>
        </p:nvSpPr>
        <p:spPr>
          <a:xfrm>
            <a:off x="8458200" y="3977640"/>
            <a:ext cx="2743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800"/>
              <a:buFont typeface="Georgia"/>
              <a:buNone/>
            </a:pPr>
            <a:r>
              <a:rPr b="1" i="0" lang="en-US" sz="2800" u="none" cap="none" strike="noStrike">
                <a:solidFill>
                  <a:schemeClr val="lt1"/>
                </a:solidFill>
                <a:latin typeface="Georgia"/>
                <a:ea typeface="Georgia"/>
                <a:cs typeface="Georgia"/>
                <a:sym typeface="Georgia"/>
              </a:rPr>
              <a:t>Serena</a:t>
            </a:r>
            <a:endParaRPr b="0" i="0" sz="2800" u="none" cap="none" strike="noStrike">
              <a:solidFill>
                <a:schemeClr val="dk1"/>
              </a:solidFill>
              <a:latin typeface="Calibri"/>
              <a:ea typeface="Calibri"/>
              <a:cs typeface="Calibri"/>
              <a:sym typeface="Calibri"/>
            </a:endParaRPr>
          </a:p>
        </p:txBody>
      </p:sp>
      <p:sp>
        <p:nvSpPr>
          <p:cNvPr id="138" name="Google Shape;138;p5"/>
          <p:cNvSpPr txBox="1"/>
          <p:nvPr/>
        </p:nvSpPr>
        <p:spPr>
          <a:xfrm>
            <a:off x="8458200" y="4526280"/>
            <a:ext cx="274320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Bienestar emocional, gestión académica e IA, en un solo lugar.</a:t>
            </a:r>
            <a:endParaRPr b="0" i="0" sz="1500" u="none" cap="none" strike="noStrike">
              <a:solidFill>
                <a:schemeClr val="dk1"/>
              </a:solidFill>
              <a:latin typeface="Calibri"/>
              <a:ea typeface="Calibri"/>
              <a:cs typeface="Calibri"/>
              <a:sym typeface="Calibri"/>
            </a:endParaRPr>
          </a:p>
        </p:txBody>
      </p:sp>
      <p:sp>
        <p:nvSpPr>
          <p:cNvPr id="139" name="Google Shape;139;p5"/>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par>
                                <p:cTn fill="hold" nodeType="withEffect" presetClass="entr" presetID="10" presetSubtype="0">
                                  <p:stCondLst>
                                    <p:cond delay="26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par>
                                <p:cTn fill="hold" nodeType="withEffect" presetClass="entr" presetID="10" presetSubtype="0">
                                  <p:stCondLst>
                                    <p:cond delay="26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par>
                                <p:cTn fill="hold" nodeType="withEffect" presetClass="entr" presetID="10" presetSubtype="0">
                                  <p:stCondLst>
                                    <p:cond delay="26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par>
                                <p:cTn fill="hold" nodeType="withEffect" presetClass="entr" presetID="10" presetSubtype="0">
                                  <p:stCondLst>
                                    <p:cond delay="26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par>
                                <p:cTn fill="hold" nodeType="withEffect" presetClass="entr" presetID="10" presetSubtype="0">
                                  <p:stCondLst>
                                    <p:cond delay="52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par>
                                <p:cTn fill="hold" nodeType="withEffect" presetClass="entr" presetID="10" presetSubtype="0">
                                  <p:stCondLst>
                                    <p:cond delay="52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par>
                                <p:cTn fill="hold" nodeType="withEffect" presetClass="entr" presetID="10" presetSubtype="0">
                                  <p:stCondLst>
                                    <p:cond delay="52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par>
                                <p:cTn fill="hold" nodeType="withEffect" presetClass="entr" presetID="10" presetSubtype="0">
                                  <p:stCondLst>
                                    <p:cond delay="52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par>
                                <p:cTn fill="hold" nodeType="withEffect" presetClass="entr" presetID="10" presetSubtype="0">
                                  <p:stCondLst>
                                    <p:cond delay="78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par>
                                <p:cTn fill="hold" nodeType="withEffect" presetClass="entr" presetID="10" presetSubtype="0">
                                  <p:stCondLst>
                                    <p:cond delay="78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par>
                                <p:cTn fill="hold" nodeType="withEffect" presetClass="entr" presetID="10" presetSubtype="0">
                                  <p:stCondLst>
                                    <p:cond delay="78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par>
                                <p:cTn fill="hold" nodeType="withEffect" presetClass="entr" presetID="10" presetSubtype="0">
                                  <p:stCondLst>
                                    <p:cond delay="78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par>
                                <p:cTn fill="hold" nodeType="withEffect" presetClass="entr" presetID="10" presetSubtype="0">
                                  <p:stCondLst>
                                    <p:cond delay="104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par>
                                <p:cTn fill="hold" nodeType="withEffect" presetClass="entr" presetID="10" presetSubtype="0">
                                  <p:stCondLst>
                                    <p:cond delay="104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par>
                                <p:cTn fill="hold" nodeType="withEffect" presetClass="entr" presetID="10" presetSubtype="0">
                                  <p:stCondLst>
                                    <p:cond delay="104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par>
                                <p:cTn fill="hold" nodeType="withEffect" presetClass="entr" presetID="10" presetSubtype="0">
                                  <p:stCondLst>
                                    <p:cond delay="130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par>
                                <p:cTn fill="hold" nodeType="withEffect" presetClass="entr" presetID="23" presetSubtype="16">
                                  <p:stCondLst>
                                    <p:cond delay="1300"/>
                                  </p:stCondLst>
                                  <p:childTnLst>
                                    <p:set>
                                      <p:cBhvr>
                                        <p:cTn dur="1" fill="hold">
                                          <p:stCondLst>
                                            <p:cond delay="0"/>
                                          </p:stCondLst>
                                        </p:cTn>
                                        <p:tgtEl>
                                          <p:spTgt spid="135"/>
                                        </p:tgtEl>
                                        <p:attrNameLst>
                                          <p:attrName>style.visibility</p:attrName>
                                        </p:attrNameLst>
                                      </p:cBhvr>
                                      <p:to>
                                        <p:strVal val="visible"/>
                                      </p:to>
                                    </p:set>
                                    <p:anim calcmode="lin" valueType="num">
                                      <p:cBhvr additive="base">
                                        <p:cTn dur="500"/>
                                        <p:tgtEl>
                                          <p:spTgt spid="135"/>
                                        </p:tgtEl>
                                        <p:attrNameLst>
                                          <p:attrName>ppt_w</p:attrName>
                                        </p:attrNameLst>
                                      </p:cBhvr>
                                      <p:tavLst>
                                        <p:tav fmla="" tm="0">
                                          <p:val>
                                            <p:strVal val="0"/>
                                          </p:val>
                                        </p:tav>
                                        <p:tav fmla="" tm="100000">
                                          <p:val>
                                            <p:strVal val="#ppt_w"/>
                                          </p:val>
                                        </p:tav>
                                      </p:tavLst>
                                    </p:anim>
                                    <p:anim calcmode="lin" valueType="num">
                                      <p:cBhvr additive="base">
                                        <p:cTn dur="500"/>
                                        <p:tgtEl>
                                          <p:spTgt spid="13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30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ppt_w</p:attrName>
                                        </p:attrNameLst>
                                      </p:cBhvr>
                                      <p:tavLst>
                                        <p:tav fmla="" tm="0">
                                          <p:val>
                                            <p:strVal val="0"/>
                                          </p:val>
                                        </p:tav>
                                        <p:tav fmla="" tm="100000">
                                          <p:val>
                                            <p:strVal val="#ppt_w"/>
                                          </p:val>
                                        </p:tav>
                                      </p:tavLst>
                                    </p:anim>
                                    <p:anim calcmode="lin" valueType="num">
                                      <p:cBhvr additive="base">
                                        <p:cTn dur="500"/>
                                        <p:tgtEl>
                                          <p:spTgt spid="13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30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par>
                                <p:cTn fill="hold" nodeType="withEffect" presetClass="entr" presetID="10" presetSubtype="0">
                                  <p:stCondLst>
                                    <p:cond delay="130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0" name="Google Shape;230;p9"/>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01  ·  EL PROBLEMA</a:t>
            </a:r>
            <a:endParaRPr b="0" i="0" sz="1200" u="none" cap="none" strike="noStrike">
              <a:solidFill>
                <a:schemeClr val="dk1"/>
              </a:solidFill>
              <a:latin typeface="Calibri"/>
              <a:ea typeface="Calibri"/>
              <a:cs typeface="Calibri"/>
              <a:sym typeface="Calibri"/>
            </a:endParaRPr>
          </a:p>
        </p:txBody>
      </p:sp>
      <p:sp>
        <p:nvSpPr>
          <p:cNvPr id="231" name="Google Shape;231;p9"/>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Daylio: qué ofrece</a:t>
            </a:r>
            <a:endParaRPr sz="3400"/>
          </a:p>
        </p:txBody>
      </p:sp>
      <p:sp>
        <p:nvSpPr>
          <p:cNvPr id="232" name="Google Shape;232;p9"/>
          <p:cNvSpPr/>
          <p:nvPr/>
        </p:nvSpPr>
        <p:spPr>
          <a:xfrm>
            <a:off x="640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3" name="Google Shape;233;p9"/>
          <p:cNvPicPr preferRelativeResize="0"/>
          <p:nvPr/>
        </p:nvPicPr>
        <p:blipFill rotWithShape="1">
          <a:blip r:embed="rId6">
            <a:alphaModFix/>
          </a:blip>
          <a:srcRect b="0" l="0" r="0" t="0"/>
          <a:stretch/>
        </p:blipFill>
        <p:spPr>
          <a:xfrm>
            <a:off x="890000" y="2377000"/>
            <a:ext cx="640000" cy="640000"/>
          </a:xfrm>
          <a:prstGeom prst="rect">
            <a:avLst/>
          </a:prstGeom>
          <a:noFill/>
          <a:ln>
            <a:noFill/>
          </a:ln>
        </p:spPr>
      </p:pic>
      <p:sp>
        <p:nvSpPr>
          <p:cNvPr id="234" name="Google Shape;234;p9"/>
          <p:cNvSpPr txBox="1"/>
          <p:nvPr/>
        </p:nvSpPr>
        <p:spPr>
          <a:xfrm>
            <a:off x="1730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Registro rápido</a:t>
            </a:r>
            <a:endParaRPr b="0" i="0" sz="2000" u="none" cap="none" strike="noStrike">
              <a:solidFill>
                <a:schemeClr val="dk1"/>
              </a:solidFill>
              <a:latin typeface="Calibri"/>
              <a:ea typeface="Calibri"/>
              <a:cs typeface="Calibri"/>
              <a:sym typeface="Calibri"/>
            </a:endParaRPr>
          </a:p>
        </p:txBody>
      </p:sp>
      <p:sp>
        <p:nvSpPr>
          <p:cNvPr id="235" name="Google Shape;235;p9"/>
          <p:cNvSpPr txBox="1"/>
          <p:nvPr/>
        </p:nvSpPr>
        <p:spPr>
          <a:xfrm>
            <a:off x="1730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Eliges un ánimo de 5 niveles y las actividades del día, sin escribir.</a:t>
            </a:r>
            <a:endParaRPr b="0" i="0" sz="1500" u="none" cap="none" strike="noStrike">
              <a:solidFill>
                <a:schemeClr val="dk1"/>
              </a:solidFill>
              <a:latin typeface="Calibri"/>
              <a:ea typeface="Calibri"/>
              <a:cs typeface="Calibri"/>
              <a:sym typeface="Calibri"/>
            </a:endParaRPr>
          </a:p>
        </p:txBody>
      </p:sp>
      <p:sp>
        <p:nvSpPr>
          <p:cNvPr id="236" name="Google Shape;236;p9"/>
          <p:cNvSpPr/>
          <p:nvPr/>
        </p:nvSpPr>
        <p:spPr>
          <a:xfrm>
            <a:off x="4343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7" name="Google Shape;237;p9"/>
          <p:cNvPicPr preferRelativeResize="0"/>
          <p:nvPr/>
        </p:nvPicPr>
        <p:blipFill rotWithShape="1">
          <a:blip r:embed="rId2">
            <a:alphaModFix/>
          </a:blip>
          <a:srcRect b="0" l="0" r="0" t="0"/>
          <a:stretch/>
        </p:blipFill>
        <p:spPr>
          <a:xfrm>
            <a:off x="4593000" y="2377000"/>
            <a:ext cx="640000" cy="640000"/>
          </a:xfrm>
          <a:prstGeom prst="rect">
            <a:avLst/>
          </a:prstGeom>
          <a:noFill/>
          <a:ln>
            <a:noFill/>
          </a:ln>
        </p:spPr>
      </p:pic>
      <p:sp>
        <p:nvSpPr>
          <p:cNvPr id="238" name="Google Shape;238;p9"/>
          <p:cNvSpPr txBox="1"/>
          <p:nvPr/>
        </p:nvSpPr>
        <p:spPr>
          <a:xfrm>
            <a:off x="5433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Actividades</a:t>
            </a:r>
            <a:endParaRPr b="0" i="0" sz="2000" u="none" cap="none" strike="noStrike">
              <a:solidFill>
                <a:schemeClr val="dk1"/>
              </a:solidFill>
              <a:latin typeface="Calibri"/>
              <a:ea typeface="Calibri"/>
              <a:cs typeface="Calibri"/>
              <a:sym typeface="Calibri"/>
            </a:endParaRPr>
          </a:p>
        </p:txBody>
      </p:sp>
      <p:sp>
        <p:nvSpPr>
          <p:cNvPr id="239" name="Google Shape;239;p9"/>
          <p:cNvSpPr txBox="1"/>
          <p:nvPr/>
        </p:nvSpPr>
        <p:spPr>
          <a:xfrm>
            <a:off x="5433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Íconos y emojis personalizables para anotar lo que haces.</a:t>
            </a:r>
            <a:endParaRPr b="0" i="0" sz="1500" u="none" cap="none" strike="noStrike">
              <a:solidFill>
                <a:schemeClr val="dk1"/>
              </a:solidFill>
              <a:latin typeface="Calibri"/>
              <a:ea typeface="Calibri"/>
              <a:cs typeface="Calibri"/>
              <a:sym typeface="Calibri"/>
            </a:endParaRPr>
          </a:p>
        </p:txBody>
      </p:sp>
      <p:sp>
        <p:nvSpPr>
          <p:cNvPr id="240" name="Google Shape;240;p9"/>
          <p:cNvSpPr/>
          <p:nvPr/>
        </p:nvSpPr>
        <p:spPr>
          <a:xfrm>
            <a:off x="8046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1" name="Google Shape;241;p9"/>
          <p:cNvPicPr preferRelativeResize="0"/>
          <p:nvPr/>
        </p:nvPicPr>
        <p:blipFill rotWithShape="1">
          <a:blip r:embed="rId3">
            <a:alphaModFix/>
          </a:blip>
          <a:srcRect b="0" l="0" r="0" t="0"/>
          <a:stretch/>
        </p:blipFill>
        <p:spPr>
          <a:xfrm>
            <a:off x="8296000" y="2377000"/>
            <a:ext cx="640000" cy="640000"/>
          </a:xfrm>
          <a:prstGeom prst="rect">
            <a:avLst/>
          </a:prstGeom>
          <a:noFill/>
          <a:ln>
            <a:noFill/>
          </a:ln>
        </p:spPr>
      </p:pic>
      <p:sp>
        <p:nvSpPr>
          <p:cNvPr id="242" name="Google Shape;242;p9"/>
          <p:cNvSpPr txBox="1"/>
          <p:nvPr/>
        </p:nvSpPr>
        <p:spPr>
          <a:xfrm>
            <a:off x="9136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Estadísticas</a:t>
            </a:r>
            <a:endParaRPr b="0" i="0" sz="2000" u="none" cap="none" strike="noStrike">
              <a:solidFill>
                <a:schemeClr val="dk1"/>
              </a:solidFill>
              <a:latin typeface="Calibri"/>
              <a:ea typeface="Calibri"/>
              <a:cs typeface="Calibri"/>
              <a:sym typeface="Calibri"/>
            </a:endParaRPr>
          </a:p>
        </p:txBody>
      </p:sp>
      <p:sp>
        <p:nvSpPr>
          <p:cNvPr id="243" name="Google Shape;243;p9"/>
          <p:cNvSpPr txBox="1"/>
          <p:nvPr/>
        </p:nvSpPr>
        <p:spPr>
          <a:xfrm>
            <a:off x="9136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Gráficos y correlaciones entre actividades y estado de ánimo.</a:t>
            </a:r>
            <a:endParaRPr b="0" i="0" sz="1500" u="none" cap="none" strike="noStrike">
              <a:solidFill>
                <a:schemeClr val="dk1"/>
              </a:solidFill>
              <a:latin typeface="Calibri"/>
              <a:ea typeface="Calibri"/>
              <a:cs typeface="Calibri"/>
              <a:sym typeface="Calibri"/>
            </a:endParaRPr>
          </a:p>
        </p:txBody>
      </p:sp>
      <p:sp>
        <p:nvSpPr>
          <p:cNvPr id="244" name="Google Shape;244;p9"/>
          <p:cNvSpPr/>
          <p:nvPr/>
        </p:nvSpPr>
        <p:spPr>
          <a:xfrm>
            <a:off x="640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5" name="Google Shape;245;p9"/>
          <p:cNvPicPr preferRelativeResize="0"/>
          <p:nvPr/>
        </p:nvPicPr>
        <p:blipFill rotWithShape="1">
          <a:blip r:embed="rId4">
            <a:alphaModFix/>
          </a:blip>
          <a:srcRect b="0" l="0" r="0" t="0"/>
          <a:stretch/>
        </p:blipFill>
        <p:spPr>
          <a:xfrm>
            <a:off x="890000" y="4388000"/>
            <a:ext cx="640000" cy="640000"/>
          </a:xfrm>
          <a:prstGeom prst="rect">
            <a:avLst/>
          </a:prstGeom>
          <a:noFill/>
          <a:ln>
            <a:noFill/>
          </a:ln>
        </p:spPr>
      </p:pic>
      <p:sp>
        <p:nvSpPr>
          <p:cNvPr id="246" name="Google Shape;246;p9"/>
          <p:cNvSpPr txBox="1"/>
          <p:nvPr/>
        </p:nvSpPr>
        <p:spPr>
          <a:xfrm>
            <a:off x="1730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Año en píxeles</a:t>
            </a:r>
            <a:endParaRPr b="0" i="0" sz="2000" u="none" cap="none" strike="noStrike">
              <a:solidFill>
                <a:schemeClr val="dk1"/>
              </a:solidFill>
              <a:latin typeface="Calibri"/>
              <a:ea typeface="Calibri"/>
              <a:cs typeface="Calibri"/>
              <a:sym typeface="Calibri"/>
            </a:endParaRPr>
          </a:p>
        </p:txBody>
      </p:sp>
      <p:sp>
        <p:nvSpPr>
          <p:cNvPr id="247" name="Google Shape;247;p9"/>
          <p:cNvSpPr txBox="1"/>
          <p:nvPr/>
        </p:nvSpPr>
        <p:spPr>
          <a:xfrm>
            <a:off x="1730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Vista mensual y anual de cómo te has sentido.</a:t>
            </a:r>
            <a:endParaRPr b="0" i="0" sz="1500" u="none" cap="none" strike="noStrike">
              <a:solidFill>
                <a:schemeClr val="dk1"/>
              </a:solidFill>
              <a:latin typeface="Calibri"/>
              <a:ea typeface="Calibri"/>
              <a:cs typeface="Calibri"/>
              <a:sym typeface="Calibri"/>
            </a:endParaRPr>
          </a:p>
        </p:txBody>
      </p:sp>
      <p:sp>
        <p:nvSpPr>
          <p:cNvPr id="248" name="Google Shape;248;p9"/>
          <p:cNvSpPr txBox="1"/>
          <p:nvPr/>
        </p:nvSpPr>
        <p:spPr>
          <a:xfrm>
            <a:off x="640080" y="5852160"/>
            <a:ext cx="1090879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Falta frente a Serena: al guardar todo solo en el celular, nadie en el colegio puede acompañar; y no hay gestión académica.</a:t>
            </a:r>
            <a:endParaRPr b="0" i="0" sz="1400" u="none" cap="none" strike="noStrike">
              <a:solidFill>
                <a:schemeClr val="dk1"/>
              </a:solidFill>
              <a:latin typeface="Calibri"/>
              <a:ea typeface="Calibri"/>
              <a:cs typeface="Calibri"/>
              <a:sym typeface="Calibri"/>
            </a:endParaRPr>
          </a:p>
        </p:txBody>
      </p:sp>
      <p:sp>
        <p:nvSpPr>
          <p:cNvPr id="249" name="Google Shape;249;p9"/>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
        <p:nvSpPr>
          <p:cNvPr id="300" name="Tarjeta extra 300"/>
          <p:cNvSpPr/>
          <p:nvPr/>
        </p:nvSpPr>
        <p:spPr>
          <a:xfrm>
            <a:off x="4343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01" name="Tarjeta extra 301"/>
          <p:cNvPicPr preferRelativeResize="0"/>
          <p:nvPr/>
        </p:nvPicPr>
        <p:blipFill rotWithShape="1">
          <a:blip r:embed="rId5">
            <a:alphaModFix/>
          </a:blip>
          <a:srcRect b="0" l="0" r="0" t="0"/>
          <a:stretch/>
        </p:blipFill>
        <p:spPr>
          <a:xfrm>
            <a:off x="4593000" y="4388000"/>
            <a:ext cx="640000" cy="640000"/>
          </a:xfrm>
          <a:prstGeom prst="rect">
            <a:avLst/>
          </a:prstGeom>
          <a:noFill/>
          <a:ln>
            <a:noFill/>
          </a:ln>
        </p:spPr>
      </p:pic>
      <p:sp>
        <p:nvSpPr>
          <p:cNvPr id="302" name="Tarjeta extra 302"/>
          <p:cNvSpPr txBox="1"/>
          <p:nvPr/>
        </p:nvSpPr>
        <p:spPr>
          <a:xfrm>
            <a:off x="5433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Recordatorios</a:t>
            </a:r>
            <a:endParaRPr b="0" i="0" sz="2000" u="none" cap="none" strike="noStrike">
              <a:solidFill>
                <a:schemeClr val="dk1"/>
              </a:solidFill>
              <a:latin typeface="Calibri"/>
              <a:ea typeface="Calibri"/>
              <a:cs typeface="Calibri"/>
              <a:sym typeface="Calibri"/>
            </a:endParaRPr>
          </a:p>
        </p:txBody>
      </p:sp>
      <p:sp>
        <p:nvSpPr>
          <p:cNvPr id="303" name="Tarjeta extra 303"/>
          <p:cNvSpPr txBox="1"/>
          <p:nvPr/>
        </p:nvSpPr>
        <p:spPr>
          <a:xfrm>
            <a:off x="5433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Avisos para registrar tu ánimo y logros que premian la constancia.</a:t>
            </a:r>
            <a:endParaRPr b="0" i="0" sz="1500" u="none" cap="none" strike="noStrike">
              <a:solidFill>
                <a:schemeClr val="dk1"/>
              </a:solidFill>
              <a:latin typeface="Calibri"/>
              <a:ea typeface="Calibri"/>
              <a:cs typeface="Calibri"/>
              <a:sym typeface="Calibri"/>
            </a:endParaRPr>
          </a:p>
        </p:txBody>
      </p:sp>
      <p:sp>
        <p:nvSpPr>
          <p:cNvPr id="310" name="Tarjeta extra 310"/>
          <p:cNvSpPr/>
          <p:nvPr/>
        </p:nvSpPr>
        <p:spPr>
          <a:xfrm>
            <a:off x="8046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11" name="Tarjeta extra 311"/>
          <p:cNvPicPr preferRelativeResize="0"/>
          <p:nvPr/>
        </p:nvPicPr>
        <p:blipFill rotWithShape="1">
          <a:blip r:embed="rId7">
            <a:alphaModFix/>
          </a:blip>
          <a:srcRect b="0" l="0" r="0" t="0"/>
          <a:stretch/>
        </p:blipFill>
        <p:spPr>
          <a:xfrm>
            <a:off x="8296000" y="4388000"/>
            <a:ext cx="640000" cy="640000"/>
          </a:xfrm>
          <a:prstGeom prst="rect">
            <a:avLst/>
          </a:prstGeom>
          <a:noFill/>
          <a:ln>
            <a:noFill/>
          </a:ln>
        </p:spPr>
      </p:pic>
      <p:sp>
        <p:nvSpPr>
          <p:cNvPr id="312" name="Tarjeta extra 312"/>
          <p:cNvSpPr txBox="1"/>
          <p:nvPr/>
        </p:nvSpPr>
        <p:spPr>
          <a:xfrm>
            <a:off x="9136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Privacidad</a:t>
            </a:r>
            <a:endParaRPr b="0" i="0" sz="2000" u="none" cap="none" strike="noStrike">
              <a:solidFill>
                <a:schemeClr val="dk1"/>
              </a:solidFill>
              <a:latin typeface="Calibri"/>
              <a:ea typeface="Calibri"/>
              <a:cs typeface="Calibri"/>
              <a:sym typeface="Calibri"/>
            </a:endParaRPr>
          </a:p>
        </p:txBody>
      </p:sp>
      <p:sp>
        <p:nvSpPr>
          <p:cNvPr id="313" name="Tarjeta extra 313"/>
          <p:cNvSpPr txBox="1"/>
          <p:nvPr/>
        </p:nvSpPr>
        <p:spPr>
          <a:xfrm>
            <a:off x="9136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Datos en el celular; PIN y copia en la nube son Premium.</a:t>
            </a:r>
            <a:endParaRPr b="0" i="0" sz="1500" u="none" cap="none" strike="noStrike">
              <a:solidFill>
                <a:schemeClr val="dk1"/>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26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26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26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26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52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52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52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52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78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78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78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78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104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104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104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104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130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0" name="Google Shape;230;p9"/>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01  ·  EL PROBLEMA</a:t>
            </a:r>
            <a:endParaRPr b="0" i="0" sz="1200" u="none" cap="none" strike="noStrike">
              <a:solidFill>
                <a:schemeClr val="dk1"/>
              </a:solidFill>
              <a:latin typeface="Calibri"/>
              <a:ea typeface="Calibri"/>
              <a:cs typeface="Calibri"/>
              <a:sym typeface="Calibri"/>
            </a:endParaRPr>
          </a:p>
        </p:txBody>
      </p:sp>
      <p:sp>
        <p:nvSpPr>
          <p:cNvPr id="231" name="Google Shape;231;p9"/>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Habitica: qué ofrece</a:t>
            </a:r>
            <a:endParaRPr sz="3400"/>
          </a:p>
        </p:txBody>
      </p:sp>
      <p:sp>
        <p:nvSpPr>
          <p:cNvPr id="232" name="Google Shape;232;p9"/>
          <p:cNvSpPr/>
          <p:nvPr/>
        </p:nvSpPr>
        <p:spPr>
          <a:xfrm>
            <a:off x="640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3" name="Google Shape;233;p9"/>
          <p:cNvPicPr preferRelativeResize="0"/>
          <p:nvPr/>
        </p:nvPicPr>
        <p:blipFill rotWithShape="1">
          <a:blip r:embed="rId6">
            <a:alphaModFix/>
          </a:blip>
          <a:srcRect b="0" l="0" r="0" t="0"/>
          <a:stretch/>
        </p:blipFill>
        <p:spPr>
          <a:xfrm>
            <a:off x="890000" y="2377000"/>
            <a:ext cx="640000" cy="640000"/>
          </a:xfrm>
          <a:prstGeom prst="rect">
            <a:avLst/>
          </a:prstGeom>
          <a:noFill/>
          <a:ln>
            <a:noFill/>
          </a:ln>
        </p:spPr>
      </p:pic>
      <p:sp>
        <p:nvSpPr>
          <p:cNvPr id="234" name="Google Shape;234;p9"/>
          <p:cNvSpPr txBox="1"/>
          <p:nvPr/>
        </p:nvSpPr>
        <p:spPr>
          <a:xfrm>
            <a:off x="1730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Tipos de tarea</a:t>
            </a:r>
            <a:endParaRPr b="0" i="0" sz="2000" u="none" cap="none" strike="noStrike">
              <a:solidFill>
                <a:schemeClr val="dk1"/>
              </a:solidFill>
              <a:latin typeface="Calibri"/>
              <a:ea typeface="Calibri"/>
              <a:cs typeface="Calibri"/>
              <a:sym typeface="Calibri"/>
            </a:endParaRPr>
          </a:p>
        </p:txBody>
      </p:sp>
      <p:sp>
        <p:nvSpPr>
          <p:cNvPr id="235" name="Google Shape;235;p9"/>
          <p:cNvSpPr txBox="1"/>
          <p:nvPr/>
        </p:nvSpPr>
        <p:spPr>
          <a:xfrm>
            <a:off x="1730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Hábitos buenos o malos, tareas repetitivas y pendientes únicos con subtareas.</a:t>
            </a:r>
            <a:endParaRPr b="0" i="0" sz="1500" u="none" cap="none" strike="noStrike">
              <a:solidFill>
                <a:schemeClr val="dk1"/>
              </a:solidFill>
              <a:latin typeface="Calibri"/>
              <a:ea typeface="Calibri"/>
              <a:cs typeface="Calibri"/>
              <a:sym typeface="Calibri"/>
            </a:endParaRPr>
          </a:p>
        </p:txBody>
      </p:sp>
      <p:sp>
        <p:nvSpPr>
          <p:cNvPr id="236" name="Google Shape;236;p9"/>
          <p:cNvSpPr/>
          <p:nvPr/>
        </p:nvSpPr>
        <p:spPr>
          <a:xfrm>
            <a:off x="4343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7" name="Google Shape;237;p9"/>
          <p:cNvPicPr preferRelativeResize="0"/>
          <p:nvPr/>
        </p:nvPicPr>
        <p:blipFill rotWithShape="1">
          <a:blip r:embed="rId2">
            <a:alphaModFix/>
          </a:blip>
          <a:srcRect b="0" l="0" r="0" t="0"/>
          <a:stretch/>
        </p:blipFill>
        <p:spPr>
          <a:xfrm>
            <a:off x="4593000" y="2377000"/>
            <a:ext cx="640000" cy="640000"/>
          </a:xfrm>
          <a:prstGeom prst="rect">
            <a:avLst/>
          </a:prstGeom>
          <a:noFill/>
          <a:ln>
            <a:noFill/>
          </a:ln>
        </p:spPr>
      </p:pic>
      <p:sp>
        <p:nvSpPr>
          <p:cNvPr id="238" name="Google Shape;238;p9"/>
          <p:cNvSpPr txBox="1"/>
          <p:nvPr/>
        </p:nvSpPr>
        <p:spPr>
          <a:xfrm>
            <a:off x="5433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Juego de rol</a:t>
            </a:r>
            <a:endParaRPr b="0" i="0" sz="2000" u="none" cap="none" strike="noStrike">
              <a:solidFill>
                <a:schemeClr val="dk1"/>
              </a:solidFill>
              <a:latin typeface="Calibri"/>
              <a:ea typeface="Calibri"/>
              <a:cs typeface="Calibri"/>
              <a:sym typeface="Calibri"/>
            </a:endParaRPr>
          </a:p>
        </p:txBody>
      </p:sp>
      <p:sp>
        <p:nvSpPr>
          <p:cNvPr id="239" name="Google Shape;239;p9"/>
          <p:cNvSpPr txBox="1"/>
          <p:nvPr/>
        </p:nvSpPr>
        <p:spPr>
          <a:xfrm>
            <a:off x="5433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Avatar con nivel, oro y equipo; clases de guerrero, mago, pícaro y sanador.</a:t>
            </a:r>
            <a:endParaRPr b="0" i="0" sz="1500" u="none" cap="none" strike="noStrike">
              <a:solidFill>
                <a:schemeClr val="dk1"/>
              </a:solidFill>
              <a:latin typeface="Calibri"/>
              <a:ea typeface="Calibri"/>
              <a:cs typeface="Calibri"/>
              <a:sym typeface="Calibri"/>
            </a:endParaRPr>
          </a:p>
        </p:txBody>
      </p:sp>
      <p:sp>
        <p:nvSpPr>
          <p:cNvPr id="240" name="Google Shape;240;p9"/>
          <p:cNvSpPr/>
          <p:nvPr/>
        </p:nvSpPr>
        <p:spPr>
          <a:xfrm>
            <a:off x="8046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1" name="Google Shape;241;p9"/>
          <p:cNvPicPr preferRelativeResize="0"/>
          <p:nvPr/>
        </p:nvPicPr>
        <p:blipFill rotWithShape="1">
          <a:blip r:embed="rId3">
            <a:alphaModFix/>
          </a:blip>
          <a:srcRect b="0" l="0" r="0" t="0"/>
          <a:stretch/>
        </p:blipFill>
        <p:spPr>
          <a:xfrm>
            <a:off x="8296000" y="2377000"/>
            <a:ext cx="640000" cy="640000"/>
          </a:xfrm>
          <a:prstGeom prst="rect">
            <a:avLst/>
          </a:prstGeom>
          <a:noFill/>
          <a:ln>
            <a:noFill/>
          </a:ln>
        </p:spPr>
      </p:pic>
      <p:sp>
        <p:nvSpPr>
          <p:cNvPr id="242" name="Google Shape;242;p9"/>
          <p:cNvSpPr txBox="1"/>
          <p:nvPr/>
        </p:nvSpPr>
        <p:spPr>
          <a:xfrm>
            <a:off x="9136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Grupos y misiones</a:t>
            </a:r>
            <a:endParaRPr b="0" i="0" sz="2000" u="none" cap="none" strike="noStrike">
              <a:solidFill>
                <a:schemeClr val="dk1"/>
              </a:solidFill>
              <a:latin typeface="Calibri"/>
              <a:ea typeface="Calibri"/>
              <a:cs typeface="Calibri"/>
              <a:sym typeface="Calibri"/>
            </a:endParaRPr>
          </a:p>
        </p:txBody>
      </p:sp>
      <p:sp>
        <p:nvSpPr>
          <p:cNvPr id="243" name="Google Shape;243;p9"/>
          <p:cNvSpPr txBox="1"/>
          <p:nvPr/>
        </p:nvSpPr>
        <p:spPr>
          <a:xfrm>
            <a:off x="9136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En grupo se enfrentan jefes; si alguien falla, el equipo recibe daño.</a:t>
            </a:r>
            <a:endParaRPr b="0" i="0" sz="1500" u="none" cap="none" strike="noStrike">
              <a:solidFill>
                <a:schemeClr val="dk1"/>
              </a:solidFill>
              <a:latin typeface="Calibri"/>
              <a:ea typeface="Calibri"/>
              <a:cs typeface="Calibri"/>
              <a:sym typeface="Calibri"/>
            </a:endParaRPr>
          </a:p>
        </p:txBody>
      </p:sp>
      <p:sp>
        <p:nvSpPr>
          <p:cNvPr id="244" name="Google Shape;244;p9"/>
          <p:cNvSpPr/>
          <p:nvPr/>
        </p:nvSpPr>
        <p:spPr>
          <a:xfrm>
            <a:off x="640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5" name="Google Shape;245;p9"/>
          <p:cNvPicPr preferRelativeResize="0"/>
          <p:nvPr/>
        </p:nvPicPr>
        <p:blipFill rotWithShape="1">
          <a:blip r:embed="rId4">
            <a:alphaModFix/>
          </a:blip>
          <a:srcRect b="0" l="0" r="0" t="0"/>
          <a:stretch/>
        </p:blipFill>
        <p:spPr>
          <a:xfrm>
            <a:off x="890000" y="4388000"/>
            <a:ext cx="640000" cy="640000"/>
          </a:xfrm>
          <a:prstGeom prst="rect">
            <a:avLst/>
          </a:prstGeom>
          <a:noFill/>
          <a:ln>
            <a:noFill/>
          </a:ln>
        </p:spPr>
      </p:pic>
      <p:sp>
        <p:nvSpPr>
          <p:cNvPr id="246" name="Google Shape;246;p9"/>
          <p:cNvSpPr txBox="1"/>
          <p:nvPr/>
        </p:nvSpPr>
        <p:spPr>
          <a:xfrm>
            <a:off x="1730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Retos y gremios</a:t>
            </a:r>
            <a:endParaRPr b="0" i="0" sz="2000" u="none" cap="none" strike="noStrike">
              <a:solidFill>
                <a:schemeClr val="dk1"/>
              </a:solidFill>
              <a:latin typeface="Calibri"/>
              <a:ea typeface="Calibri"/>
              <a:cs typeface="Calibri"/>
              <a:sym typeface="Calibri"/>
            </a:endParaRPr>
          </a:p>
        </p:txBody>
      </p:sp>
      <p:sp>
        <p:nvSpPr>
          <p:cNvPr id="247" name="Google Shape;247;p9"/>
          <p:cNvSpPr txBox="1"/>
          <p:nvPr/>
        </p:nvSpPr>
        <p:spPr>
          <a:xfrm>
            <a:off x="1730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Listas de tareas compartidas por la comunidad: estudio, salud, escritura.</a:t>
            </a:r>
            <a:endParaRPr b="0" i="0" sz="1500" u="none" cap="none" strike="noStrike">
              <a:solidFill>
                <a:schemeClr val="dk1"/>
              </a:solidFill>
              <a:latin typeface="Calibri"/>
              <a:ea typeface="Calibri"/>
              <a:cs typeface="Calibri"/>
              <a:sym typeface="Calibri"/>
            </a:endParaRPr>
          </a:p>
        </p:txBody>
      </p:sp>
      <p:sp>
        <p:nvSpPr>
          <p:cNvPr id="248" name="Google Shape;248;p9"/>
          <p:cNvSpPr txBox="1"/>
          <p:nvPr/>
        </p:nvSpPr>
        <p:spPr>
          <a:xfrm>
            <a:off x="640080" y="5852160"/>
            <a:ext cx="1090879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Falta frente a Serena: no registra emociones ni sueño, no maneja notas ni asistencia y no conecta con psicología.</a:t>
            </a:r>
            <a:endParaRPr b="0" i="0" sz="1400" u="none" cap="none" strike="noStrike">
              <a:solidFill>
                <a:schemeClr val="dk1"/>
              </a:solidFill>
              <a:latin typeface="Calibri"/>
              <a:ea typeface="Calibri"/>
              <a:cs typeface="Calibri"/>
              <a:sym typeface="Calibri"/>
            </a:endParaRPr>
          </a:p>
        </p:txBody>
      </p:sp>
      <p:sp>
        <p:nvSpPr>
          <p:cNvPr id="249" name="Google Shape;249;p9"/>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
        <p:nvSpPr>
          <p:cNvPr id="300" name="Tarjeta extra 300"/>
          <p:cNvSpPr/>
          <p:nvPr/>
        </p:nvSpPr>
        <p:spPr>
          <a:xfrm>
            <a:off x="4343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01" name="Tarjeta extra 301"/>
          <p:cNvPicPr preferRelativeResize="0"/>
          <p:nvPr/>
        </p:nvPicPr>
        <p:blipFill rotWithShape="1">
          <a:blip r:embed="rId5">
            <a:alphaModFix/>
          </a:blip>
          <a:srcRect b="0" l="0" r="0" t="0"/>
          <a:stretch/>
        </p:blipFill>
        <p:spPr>
          <a:xfrm>
            <a:off x="4593000" y="4388000"/>
            <a:ext cx="640000" cy="640000"/>
          </a:xfrm>
          <a:prstGeom prst="rect">
            <a:avLst/>
          </a:prstGeom>
          <a:noFill/>
          <a:ln>
            <a:noFill/>
          </a:ln>
        </p:spPr>
      </p:pic>
      <p:sp>
        <p:nvSpPr>
          <p:cNvPr id="302" name="Tarjeta extra 302"/>
          <p:cNvSpPr txBox="1"/>
          <p:nvPr/>
        </p:nvSpPr>
        <p:spPr>
          <a:xfrm>
            <a:off x="5433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Gratis y extras</a:t>
            </a:r>
            <a:endParaRPr b="0" i="0" sz="2000" u="none" cap="none" strike="noStrike">
              <a:solidFill>
                <a:schemeClr val="dk1"/>
              </a:solidFill>
              <a:latin typeface="Calibri"/>
              <a:ea typeface="Calibri"/>
              <a:cs typeface="Calibri"/>
              <a:sym typeface="Calibri"/>
            </a:endParaRPr>
          </a:p>
        </p:txBody>
      </p:sp>
      <p:sp>
        <p:nvSpPr>
          <p:cNvPr id="303" name="Tarjeta extra 303"/>
          <p:cNvSpPr txBox="1"/>
          <p:nvPr/>
        </p:nvSpPr>
        <p:spPr>
          <a:xfrm>
            <a:off x="5433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Las funciones base son gratis; la suscripción suma extras y cosméticos.</a:t>
            </a:r>
            <a:endParaRPr b="0" i="0" sz="1500" u="none" cap="none" strike="noStrike">
              <a:solidFill>
                <a:schemeClr val="dk1"/>
              </a:solidFill>
              <a:latin typeface="Calibri"/>
              <a:ea typeface="Calibri"/>
              <a:cs typeface="Calibri"/>
              <a:sym typeface="Calibri"/>
            </a:endParaRPr>
          </a:p>
        </p:txBody>
      </p:sp>
      <p:sp>
        <p:nvSpPr>
          <p:cNvPr id="310" name="Tarjeta extra 310"/>
          <p:cNvSpPr/>
          <p:nvPr/>
        </p:nvSpPr>
        <p:spPr>
          <a:xfrm>
            <a:off x="8046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11" name="Tarjeta extra 311"/>
          <p:cNvPicPr preferRelativeResize="0"/>
          <p:nvPr/>
        </p:nvPicPr>
        <p:blipFill rotWithShape="1">
          <a:blip r:embed="rId7">
            <a:alphaModFix/>
          </a:blip>
          <a:srcRect b="0" l="0" r="0" t="0"/>
          <a:stretch/>
        </p:blipFill>
        <p:spPr>
          <a:xfrm>
            <a:off x="8296000" y="4388000"/>
            <a:ext cx="640000" cy="640000"/>
          </a:xfrm>
          <a:prstGeom prst="rect">
            <a:avLst/>
          </a:prstGeom>
          <a:noFill/>
          <a:ln>
            <a:noFill/>
          </a:ln>
        </p:spPr>
      </p:pic>
      <p:sp>
        <p:nvSpPr>
          <p:cNvPr id="312" name="Tarjeta extra 312"/>
          <p:cNvSpPr txBox="1"/>
          <p:nvPr/>
        </p:nvSpPr>
        <p:spPr>
          <a:xfrm>
            <a:off x="9136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Multiplataforma</a:t>
            </a:r>
            <a:endParaRPr b="0" i="0" sz="2000" u="none" cap="none" strike="noStrike">
              <a:solidFill>
                <a:schemeClr val="dk1"/>
              </a:solidFill>
              <a:latin typeface="Calibri"/>
              <a:ea typeface="Calibri"/>
              <a:cs typeface="Calibri"/>
              <a:sym typeface="Calibri"/>
            </a:endParaRPr>
          </a:p>
        </p:txBody>
      </p:sp>
      <p:sp>
        <p:nvSpPr>
          <p:cNvPr id="313" name="Tarjeta extra 313"/>
          <p:cNvSpPr txBox="1"/>
          <p:nvPr/>
        </p:nvSpPr>
        <p:spPr>
          <a:xfrm>
            <a:off x="9136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Web, móvil, reloj inteligente y API pública para integraciones.</a:t>
            </a:r>
            <a:endParaRPr b="0" i="0" sz="1500" u="none" cap="none" strike="noStrike">
              <a:solidFill>
                <a:schemeClr val="dk1"/>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26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26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26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26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52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52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52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52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78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78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78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78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104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104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104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104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130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0" name="Google Shape;230;p9"/>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01  ·  EL PROBLEMA</a:t>
            </a:r>
            <a:endParaRPr b="0" i="0" sz="1200" u="none" cap="none" strike="noStrike">
              <a:solidFill>
                <a:schemeClr val="dk1"/>
              </a:solidFill>
              <a:latin typeface="Calibri"/>
              <a:ea typeface="Calibri"/>
              <a:cs typeface="Calibri"/>
              <a:sym typeface="Calibri"/>
            </a:endParaRPr>
          </a:p>
        </p:txBody>
      </p:sp>
      <p:sp>
        <p:nvSpPr>
          <p:cNvPr id="231" name="Google Shape;231;p9"/>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Reflectly: qué ofrece</a:t>
            </a:r>
            <a:endParaRPr sz="3400"/>
          </a:p>
        </p:txBody>
      </p:sp>
      <p:sp>
        <p:nvSpPr>
          <p:cNvPr id="232" name="Google Shape;232;p9"/>
          <p:cNvSpPr/>
          <p:nvPr/>
        </p:nvSpPr>
        <p:spPr>
          <a:xfrm>
            <a:off x="640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3" name="Google Shape;233;p9"/>
          <p:cNvPicPr preferRelativeResize="0"/>
          <p:nvPr/>
        </p:nvPicPr>
        <p:blipFill rotWithShape="1">
          <a:blip r:embed="rId6">
            <a:alphaModFix/>
          </a:blip>
          <a:srcRect b="0" l="0" r="0" t="0"/>
          <a:stretch/>
        </p:blipFill>
        <p:spPr>
          <a:xfrm>
            <a:off x="890000" y="2377000"/>
            <a:ext cx="640000" cy="640000"/>
          </a:xfrm>
          <a:prstGeom prst="rect">
            <a:avLst/>
          </a:prstGeom>
          <a:noFill/>
          <a:ln>
            <a:noFill/>
          </a:ln>
        </p:spPr>
      </p:pic>
      <p:sp>
        <p:nvSpPr>
          <p:cNvPr id="234" name="Google Shape;234;p9"/>
          <p:cNvSpPr txBox="1"/>
          <p:nvPr/>
        </p:nvSpPr>
        <p:spPr>
          <a:xfrm>
            <a:off x="1730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Diario con IA</a:t>
            </a:r>
            <a:endParaRPr b="0" i="0" sz="2000" u="none" cap="none" strike="noStrike">
              <a:solidFill>
                <a:schemeClr val="dk1"/>
              </a:solidFill>
              <a:latin typeface="Calibri"/>
              <a:ea typeface="Calibri"/>
              <a:cs typeface="Calibri"/>
              <a:sym typeface="Calibri"/>
            </a:endParaRPr>
          </a:p>
        </p:txBody>
      </p:sp>
      <p:sp>
        <p:nvSpPr>
          <p:cNvPr id="235" name="Google Shape;235;p9"/>
          <p:cNvSpPr txBox="1"/>
          <p:nvPr/>
        </p:nvSpPr>
        <p:spPr>
          <a:xfrm>
            <a:off x="1730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Preguntas guiadas que se adaptan a cómo te sientes en cada registro.</a:t>
            </a:r>
            <a:endParaRPr b="0" i="0" sz="1500" u="none" cap="none" strike="noStrike">
              <a:solidFill>
                <a:schemeClr val="dk1"/>
              </a:solidFill>
              <a:latin typeface="Calibri"/>
              <a:ea typeface="Calibri"/>
              <a:cs typeface="Calibri"/>
              <a:sym typeface="Calibri"/>
            </a:endParaRPr>
          </a:p>
        </p:txBody>
      </p:sp>
      <p:sp>
        <p:nvSpPr>
          <p:cNvPr id="236" name="Google Shape;236;p9"/>
          <p:cNvSpPr/>
          <p:nvPr/>
        </p:nvSpPr>
        <p:spPr>
          <a:xfrm>
            <a:off x="4343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7" name="Google Shape;237;p9"/>
          <p:cNvPicPr preferRelativeResize="0"/>
          <p:nvPr/>
        </p:nvPicPr>
        <p:blipFill rotWithShape="1">
          <a:blip r:embed="rId2">
            <a:alphaModFix/>
          </a:blip>
          <a:srcRect b="0" l="0" r="0" t="0"/>
          <a:stretch/>
        </p:blipFill>
        <p:spPr>
          <a:xfrm>
            <a:off x="4593000" y="2377000"/>
            <a:ext cx="640000" cy="640000"/>
          </a:xfrm>
          <a:prstGeom prst="rect">
            <a:avLst/>
          </a:prstGeom>
          <a:noFill/>
          <a:ln>
            <a:noFill/>
          </a:ln>
        </p:spPr>
      </p:pic>
      <p:sp>
        <p:nvSpPr>
          <p:cNvPr id="238" name="Google Shape;238;p9"/>
          <p:cNvSpPr txBox="1"/>
          <p:nvPr/>
        </p:nvSpPr>
        <p:spPr>
          <a:xfrm>
            <a:off x="5433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Check-in de ánimo</a:t>
            </a:r>
            <a:endParaRPr b="0" i="0" sz="2000" u="none" cap="none" strike="noStrike">
              <a:solidFill>
                <a:schemeClr val="dk1"/>
              </a:solidFill>
              <a:latin typeface="Calibri"/>
              <a:ea typeface="Calibri"/>
              <a:cs typeface="Calibri"/>
              <a:sym typeface="Calibri"/>
            </a:endParaRPr>
          </a:p>
        </p:txBody>
      </p:sp>
      <p:sp>
        <p:nvSpPr>
          <p:cNvPr id="239" name="Google Shape;239;p9"/>
          <p:cNvSpPr txBox="1"/>
          <p:nvPr/>
        </p:nvSpPr>
        <p:spPr>
          <a:xfrm>
            <a:off x="5433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Eliges un emoji de tu estado y agregas notas a cada registro.</a:t>
            </a:r>
            <a:endParaRPr b="0" i="0" sz="1500" u="none" cap="none" strike="noStrike">
              <a:solidFill>
                <a:schemeClr val="dk1"/>
              </a:solidFill>
              <a:latin typeface="Calibri"/>
              <a:ea typeface="Calibri"/>
              <a:cs typeface="Calibri"/>
              <a:sym typeface="Calibri"/>
            </a:endParaRPr>
          </a:p>
        </p:txBody>
      </p:sp>
      <p:sp>
        <p:nvSpPr>
          <p:cNvPr id="240" name="Google Shape;240;p9"/>
          <p:cNvSpPr/>
          <p:nvPr/>
        </p:nvSpPr>
        <p:spPr>
          <a:xfrm>
            <a:off x="8046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1" name="Google Shape;241;p9"/>
          <p:cNvPicPr preferRelativeResize="0"/>
          <p:nvPr/>
        </p:nvPicPr>
        <p:blipFill rotWithShape="1">
          <a:blip r:embed="rId3">
            <a:alphaModFix/>
          </a:blip>
          <a:srcRect b="0" l="0" r="0" t="0"/>
          <a:stretch/>
        </p:blipFill>
        <p:spPr>
          <a:xfrm>
            <a:off x="8296000" y="2377000"/>
            <a:ext cx="640000" cy="640000"/>
          </a:xfrm>
          <a:prstGeom prst="rect">
            <a:avLst/>
          </a:prstGeom>
          <a:noFill/>
          <a:ln>
            <a:noFill/>
          </a:ln>
        </p:spPr>
      </p:pic>
      <p:sp>
        <p:nvSpPr>
          <p:cNvPr id="242" name="Google Shape;242;p9"/>
          <p:cNvSpPr txBox="1"/>
          <p:nvPr/>
        </p:nvSpPr>
        <p:spPr>
          <a:xfrm>
            <a:off x="9136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Voz y fotos</a:t>
            </a:r>
            <a:endParaRPr b="0" i="0" sz="2000" u="none" cap="none" strike="noStrike">
              <a:solidFill>
                <a:schemeClr val="dk1"/>
              </a:solidFill>
              <a:latin typeface="Calibri"/>
              <a:ea typeface="Calibri"/>
              <a:cs typeface="Calibri"/>
              <a:sym typeface="Calibri"/>
            </a:endParaRPr>
          </a:p>
        </p:txBody>
      </p:sp>
      <p:sp>
        <p:nvSpPr>
          <p:cNvPr id="243" name="Google Shape;243;p9"/>
          <p:cNvSpPr txBox="1"/>
          <p:nvPr/>
        </p:nvSpPr>
        <p:spPr>
          <a:xfrm>
            <a:off x="9136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Además del texto, permite sumar notas de voz y fotos.</a:t>
            </a:r>
            <a:endParaRPr b="0" i="0" sz="1500" u="none" cap="none" strike="noStrike">
              <a:solidFill>
                <a:schemeClr val="dk1"/>
              </a:solidFill>
              <a:latin typeface="Calibri"/>
              <a:ea typeface="Calibri"/>
              <a:cs typeface="Calibri"/>
              <a:sym typeface="Calibri"/>
            </a:endParaRPr>
          </a:p>
        </p:txBody>
      </p:sp>
      <p:sp>
        <p:nvSpPr>
          <p:cNvPr id="244" name="Google Shape;244;p9"/>
          <p:cNvSpPr/>
          <p:nvPr/>
        </p:nvSpPr>
        <p:spPr>
          <a:xfrm>
            <a:off x="640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5" name="Google Shape;245;p9"/>
          <p:cNvPicPr preferRelativeResize="0"/>
          <p:nvPr/>
        </p:nvPicPr>
        <p:blipFill rotWithShape="1">
          <a:blip r:embed="rId4">
            <a:alphaModFix/>
          </a:blip>
          <a:srcRect b="0" l="0" r="0" t="0"/>
          <a:stretch/>
        </p:blipFill>
        <p:spPr>
          <a:xfrm>
            <a:off x="890000" y="4388000"/>
            <a:ext cx="640000" cy="640000"/>
          </a:xfrm>
          <a:prstGeom prst="rect">
            <a:avLst/>
          </a:prstGeom>
          <a:noFill/>
          <a:ln>
            <a:noFill/>
          </a:ln>
        </p:spPr>
      </p:pic>
      <p:sp>
        <p:nvSpPr>
          <p:cNvPr id="246" name="Google Shape;246;p9"/>
          <p:cNvSpPr txBox="1"/>
          <p:nvPr/>
        </p:nvSpPr>
        <p:spPr>
          <a:xfrm>
            <a:off x="1730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Frases</a:t>
            </a:r>
            <a:endParaRPr b="0" i="0" sz="2000" u="none" cap="none" strike="noStrike">
              <a:solidFill>
                <a:schemeClr val="dk1"/>
              </a:solidFill>
              <a:latin typeface="Calibri"/>
              <a:ea typeface="Calibri"/>
              <a:cs typeface="Calibri"/>
              <a:sym typeface="Calibri"/>
            </a:endParaRPr>
          </a:p>
        </p:txBody>
      </p:sp>
      <p:sp>
        <p:nvSpPr>
          <p:cNvPr id="247" name="Google Shape;247;p9"/>
          <p:cNvSpPr txBox="1"/>
          <p:nvPr/>
        </p:nvSpPr>
        <p:spPr>
          <a:xfrm>
            <a:off x="1730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Citas y mensajes de gratitud según el ánimo que reportas.</a:t>
            </a:r>
            <a:endParaRPr b="0" i="0" sz="1500" u="none" cap="none" strike="noStrike">
              <a:solidFill>
                <a:schemeClr val="dk1"/>
              </a:solidFill>
              <a:latin typeface="Calibri"/>
              <a:ea typeface="Calibri"/>
              <a:cs typeface="Calibri"/>
              <a:sym typeface="Calibri"/>
            </a:endParaRPr>
          </a:p>
        </p:txBody>
      </p:sp>
      <p:sp>
        <p:nvSpPr>
          <p:cNvPr id="248" name="Google Shape;248;p9"/>
          <p:cNvSpPr txBox="1"/>
          <p:nvPr/>
        </p:nvSpPr>
        <p:spPr>
          <a:xfrm>
            <a:off x="640080" y="5852160"/>
            <a:ext cx="1090879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Falta frente a Serena: es un diario individual; no incluye gestión académica ni acompañamiento de psicología.</a:t>
            </a:r>
            <a:endParaRPr b="0" i="0" sz="1400" u="none" cap="none" strike="noStrike">
              <a:solidFill>
                <a:schemeClr val="dk1"/>
              </a:solidFill>
              <a:latin typeface="Calibri"/>
              <a:ea typeface="Calibri"/>
              <a:cs typeface="Calibri"/>
              <a:sym typeface="Calibri"/>
            </a:endParaRPr>
          </a:p>
        </p:txBody>
      </p:sp>
      <p:sp>
        <p:nvSpPr>
          <p:cNvPr id="249" name="Google Shape;249;p9"/>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
        <p:nvSpPr>
          <p:cNvPr id="300" name="Tarjeta extra 300"/>
          <p:cNvSpPr/>
          <p:nvPr/>
        </p:nvSpPr>
        <p:spPr>
          <a:xfrm>
            <a:off x="4343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01" name="Tarjeta extra 301"/>
          <p:cNvPicPr preferRelativeResize="0"/>
          <p:nvPr/>
        </p:nvPicPr>
        <p:blipFill rotWithShape="1">
          <a:blip r:embed="rId5">
            <a:alphaModFix/>
          </a:blip>
          <a:srcRect b="0" l="0" r="0" t="0"/>
          <a:stretch/>
        </p:blipFill>
        <p:spPr>
          <a:xfrm>
            <a:off x="4593000" y="4388000"/>
            <a:ext cx="640000" cy="640000"/>
          </a:xfrm>
          <a:prstGeom prst="rect">
            <a:avLst/>
          </a:prstGeom>
          <a:noFill/>
          <a:ln>
            <a:noFill/>
          </a:ln>
        </p:spPr>
      </p:pic>
      <p:sp>
        <p:nvSpPr>
          <p:cNvPr id="302" name="Tarjeta extra 302"/>
          <p:cNvSpPr txBox="1"/>
          <p:nvPr/>
        </p:nvSpPr>
        <p:spPr>
          <a:xfrm>
            <a:off x="5433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Gráficas</a:t>
            </a:r>
            <a:endParaRPr b="0" i="0" sz="2000" u="none" cap="none" strike="noStrike">
              <a:solidFill>
                <a:schemeClr val="dk1"/>
              </a:solidFill>
              <a:latin typeface="Calibri"/>
              <a:ea typeface="Calibri"/>
              <a:cs typeface="Calibri"/>
              <a:sym typeface="Calibri"/>
            </a:endParaRPr>
          </a:p>
        </p:txBody>
      </p:sp>
      <p:sp>
        <p:nvSpPr>
          <p:cNvPr id="303" name="Tarjeta extra 303"/>
          <p:cNvSpPr txBox="1"/>
          <p:nvPr/>
        </p:nvSpPr>
        <p:spPr>
          <a:xfrm>
            <a:off x="5433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Muestra tendencias del ánimo a lo largo de semanas y meses.</a:t>
            </a:r>
            <a:endParaRPr b="0" i="0" sz="1500" u="none" cap="none" strike="noStrike">
              <a:solidFill>
                <a:schemeClr val="dk1"/>
              </a:solidFill>
              <a:latin typeface="Calibri"/>
              <a:ea typeface="Calibri"/>
              <a:cs typeface="Calibri"/>
              <a:sym typeface="Calibri"/>
            </a:endParaRPr>
          </a:p>
        </p:txBody>
      </p:sp>
      <p:sp>
        <p:nvSpPr>
          <p:cNvPr id="310" name="Tarjeta extra 310"/>
          <p:cNvSpPr/>
          <p:nvPr/>
        </p:nvSpPr>
        <p:spPr>
          <a:xfrm>
            <a:off x="8046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11" name="Tarjeta extra 311"/>
          <p:cNvPicPr preferRelativeResize="0"/>
          <p:nvPr/>
        </p:nvPicPr>
        <p:blipFill rotWithShape="1">
          <a:blip r:embed="rId7">
            <a:alphaModFix/>
          </a:blip>
          <a:srcRect b="0" l="0" r="0" t="0"/>
          <a:stretch/>
        </p:blipFill>
        <p:spPr>
          <a:xfrm>
            <a:off x="8296000" y="4388000"/>
            <a:ext cx="640000" cy="640000"/>
          </a:xfrm>
          <a:prstGeom prst="rect">
            <a:avLst/>
          </a:prstGeom>
          <a:noFill/>
          <a:ln>
            <a:noFill/>
          </a:ln>
        </p:spPr>
      </p:pic>
      <p:sp>
        <p:nvSpPr>
          <p:cNvPr id="312" name="Tarjeta extra 312"/>
          <p:cNvSpPr txBox="1"/>
          <p:nvPr/>
        </p:nvSpPr>
        <p:spPr>
          <a:xfrm>
            <a:off x="9136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Modelo Premium</a:t>
            </a:r>
            <a:endParaRPr b="0" i="0" sz="2000" u="none" cap="none" strike="noStrike">
              <a:solidFill>
                <a:schemeClr val="dk1"/>
              </a:solidFill>
              <a:latin typeface="Calibri"/>
              <a:ea typeface="Calibri"/>
              <a:cs typeface="Calibri"/>
              <a:sym typeface="Calibri"/>
            </a:endParaRPr>
          </a:p>
        </p:txBody>
      </p:sp>
      <p:sp>
        <p:nvSpPr>
          <p:cNvPr id="313" name="Tarjeta extra 313"/>
          <p:cNvSpPr txBox="1"/>
          <p:nvPr/>
        </p:nvSpPr>
        <p:spPr>
          <a:xfrm>
            <a:off x="9136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Prueba gratis de una semana; luego, funciones limitadas sin pago.</a:t>
            </a:r>
            <a:endParaRPr b="0" i="0" sz="1500" u="none" cap="none" strike="noStrike">
              <a:solidFill>
                <a:schemeClr val="dk1"/>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26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26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26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26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52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52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52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52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78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78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78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78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104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104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104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104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130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0" name="Google Shape;230;p9"/>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01  ·  EL PROBLEMA</a:t>
            </a:r>
            <a:endParaRPr b="0" i="0" sz="1200" u="none" cap="none" strike="noStrike">
              <a:solidFill>
                <a:schemeClr val="dk1"/>
              </a:solidFill>
              <a:latin typeface="Calibri"/>
              <a:ea typeface="Calibri"/>
              <a:cs typeface="Calibri"/>
              <a:sym typeface="Calibri"/>
            </a:endParaRPr>
          </a:p>
        </p:txBody>
      </p:sp>
      <p:sp>
        <p:nvSpPr>
          <p:cNvPr id="231" name="Google Shape;231;p9"/>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Serena frente a las apps de bienestar</a:t>
            </a:r>
            <a:endParaRPr sz="3400"/>
          </a:p>
        </p:txBody>
      </p:sp>
      <p:sp>
        <p:nvSpPr>
          <p:cNvPr id="248" name="Google Shape;248;p9"/>
          <p:cNvSpPr txBox="1"/>
          <p:nvPr/>
        </p:nvSpPr>
        <p:spPr>
          <a:xfrm>
            <a:off x="640080" y="5852160"/>
            <a:ext cx="1090879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 incluye   ◐ parcial o con plan de pago   ✗ no incluye · Fuente: sitios oficiales y tiendas de apps, oct. 2026.</a:t>
            </a:r>
            <a:endParaRPr b="0" i="0" sz="1400" u="none" cap="none" strike="noStrike">
              <a:solidFill>
                <a:schemeClr val="dk1"/>
              </a:solidFill>
              <a:latin typeface="Calibri"/>
              <a:ea typeface="Calibri"/>
              <a:cs typeface="Calibri"/>
              <a:sym typeface="Calibri"/>
            </a:endParaRPr>
          </a:p>
        </p:txBody>
      </p:sp>
      <p:sp>
        <p:nvSpPr>
          <p:cNvPr id="249" name="Google Shape;249;p9"/>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graphicFrame>
        <p:nvGraphicFramePr>
          <p:cNvPr id="250" name="Table 249"/>
          <p:cNvGraphicFramePr>
            <a:graphicFrameLocks noGrp="1"/>
          </p:cNvGraphicFramePr>
          <p:nvPr/>
        </p:nvGraphicFramePr>
        <p:xfrm>
          <a:off x="640080" y="1560000"/>
          <a:ext cx="10908789" cy="3870000"/>
        </p:xfrm>
        <a:graphic>
          <a:graphicData uri="http://schemas.openxmlformats.org/drawingml/2006/table">
            <a:tbl>
              <a:tblPr firstRow="1" bandRow="1">
                <a:tableStyleId>{5C22544A-7EE6-4342-B048-85BDC9FD1C3A}</a:tableStyleId>
              </a:tblPr>
              <a:tblGrid>
                <a:gridCol w="3708989"/>
                <a:gridCol w="1745406"/>
                <a:gridCol w="1745406"/>
                <a:gridCol w="1854494"/>
                <a:gridCol w="1854494"/>
              </a:tblGrid>
              <a:tr h="430000">
                <a:tc>
                  <a:txBody>
                    <a:bodyPr/>
                    <a:lstStyle/>
                    <a:p>
                      <a:pPr algn="l"/>
                      <a:r>
                        <a:rPr sz="1400" b="1">
                          <a:solidFill>
                            <a:srgbClr val="FFFFFF"/>
                          </a:solidFill>
                          <a:latin typeface="Calibri"/>
                        </a:rPr>
                        <a:t>Característica</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0E3B16"/>
                    </a:solidFill>
                  </a:tcPr>
                </a:tc>
                <a:tc>
                  <a:txBody>
                    <a:bodyPr/>
                    <a:lstStyle/>
                    <a:p>
                      <a:pPr algn="ctr"/>
                      <a:r>
                        <a:rPr sz="1400" b="1">
                          <a:solidFill>
                            <a:srgbClr val="FFFFFF"/>
                          </a:solidFill>
                          <a:latin typeface="Calibri"/>
                        </a:rPr>
                        <a:t>Serena</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0E3B16"/>
                    </a:solidFill>
                  </a:tcPr>
                </a:tc>
                <a:tc>
                  <a:txBody>
                    <a:bodyPr/>
                    <a:lstStyle/>
                    <a:p>
                      <a:pPr algn="ctr"/>
                      <a:r>
                        <a:rPr sz="1400" b="1">
                          <a:solidFill>
                            <a:srgbClr val="FFFFFF"/>
                          </a:solidFill>
                          <a:latin typeface="Calibri"/>
                        </a:rPr>
                        <a:t>Daylio</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0E3B16"/>
                    </a:solidFill>
                  </a:tcPr>
                </a:tc>
                <a:tc>
                  <a:txBody>
                    <a:bodyPr/>
                    <a:lstStyle/>
                    <a:p>
                      <a:pPr algn="ctr"/>
                      <a:r>
                        <a:rPr sz="1400" b="1">
                          <a:solidFill>
                            <a:srgbClr val="FFFFFF"/>
                          </a:solidFill>
                          <a:latin typeface="Calibri"/>
                        </a:rPr>
                        <a:t>Habitica</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0E3B16"/>
                    </a:solidFill>
                  </a:tcPr>
                </a:tc>
                <a:tc>
                  <a:txBody>
                    <a:bodyPr/>
                    <a:lstStyle/>
                    <a:p>
                      <a:pPr algn="ctr"/>
                      <a:r>
                        <a:rPr sz="1400" b="1">
                          <a:solidFill>
                            <a:srgbClr val="FFFFFF"/>
                          </a:solidFill>
                          <a:latin typeface="Calibri"/>
                        </a:rPr>
                        <a:t>Reflectly</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0E3B16"/>
                    </a:solidFill>
                  </a:tcPr>
                </a:tc>
              </a:tr>
              <a:tr h="430000">
                <a:tc>
                  <a:txBody>
                    <a:bodyPr/>
                    <a:lstStyle/>
                    <a:p>
                      <a:pPr algn="l"/>
                      <a:r>
                        <a:rPr sz="1400" b="1">
                          <a:solidFill>
                            <a:srgbClr val="1B2A1B"/>
                          </a:solidFill>
                          <a:latin typeface="Calibri"/>
                        </a:rPr>
                        <a:t>Registro de emociones</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r>
              <a:tr h="430000">
                <a:tc>
                  <a:txBody>
                    <a:bodyPr/>
                    <a:lstStyle/>
                    <a:p>
                      <a:pPr algn="l"/>
                      <a:r>
                        <a:rPr sz="1400" b="1">
                          <a:solidFill>
                            <a:srgbClr val="1B2A1B"/>
                          </a:solidFill>
                          <a:latin typeface="Calibri"/>
                        </a:rPr>
                        <a:t>Hábitos, metas y rachas</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600" b="1">
                          <a:solidFill>
                            <a:srgbClr val="C9840F"/>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C9840F"/>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r>
              <a:tr h="430000">
                <a:tc>
                  <a:txBody>
                    <a:bodyPr/>
                    <a:lstStyle/>
                    <a:p>
                      <a:pPr algn="l"/>
                      <a:r>
                        <a:rPr sz="1400" b="1">
                          <a:solidFill>
                            <a:srgbClr val="1B2A1B"/>
                          </a:solidFill>
                          <a:latin typeface="Calibri"/>
                        </a:rPr>
                        <a:t>Diario personal</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600" b="1">
                          <a:solidFill>
                            <a:srgbClr val="C9840F"/>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r>
              <a:tr h="430000">
                <a:tc>
                  <a:txBody>
                    <a:bodyPr/>
                    <a:lstStyle/>
                    <a:p>
                      <a:pPr algn="l"/>
                      <a:r>
                        <a:rPr sz="1400" b="1">
                          <a:solidFill>
                            <a:srgbClr val="1B2A1B"/>
                          </a:solidFill>
                          <a:latin typeface="Calibri"/>
                        </a:rPr>
                        <a:t>Inteligencia artificial</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r>
              <a:tr h="430000">
                <a:tc>
                  <a:txBody>
                    <a:bodyPr/>
                    <a:lstStyle/>
                    <a:p>
                      <a:pPr algn="l"/>
                      <a:r>
                        <a:rPr sz="1400" b="1">
                          <a:solidFill>
                            <a:srgbClr val="1B2A1B"/>
                          </a:solidFill>
                          <a:latin typeface="Calibri"/>
                        </a:rPr>
                        <a:t>Notas y asistencia</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r>
              <a:tr h="430000">
                <a:tc>
                  <a:txBody>
                    <a:bodyPr/>
                    <a:lstStyle/>
                    <a:p>
                      <a:pPr algn="l"/>
                      <a:r>
                        <a:rPr sz="1400" b="1">
                          <a:solidFill>
                            <a:srgbClr val="1B2A1B"/>
                          </a:solidFill>
                          <a:latin typeface="Calibri"/>
                        </a:rPr>
                        <a:t>Alerta temprana a psicología</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r>
              <a:tr h="430000">
                <a:tc>
                  <a:txBody>
                    <a:bodyPr/>
                    <a:lstStyle/>
                    <a:p>
                      <a:pPr algn="l"/>
                      <a:r>
                        <a:rPr sz="1400" b="1">
                          <a:solidFill>
                            <a:srgbClr val="1B2A1B"/>
                          </a:solidFill>
                          <a:latin typeface="Calibri"/>
                        </a:rPr>
                        <a:t>Chat y citas con profesionales</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r>
              <a:tr h="430000">
                <a:tc>
                  <a:txBody>
                    <a:bodyPr/>
                    <a:lstStyle/>
                    <a:p>
                      <a:pPr algn="l"/>
                      <a:r>
                        <a:rPr sz="1400" b="1">
                          <a:solidFill>
                            <a:srgbClr val="1B2A1B"/>
                          </a:solidFill>
                          <a:latin typeface="Calibri"/>
                        </a:rPr>
                        <a:t>Gratuita para toda la institución</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600" b="1">
                          <a:solidFill>
                            <a:srgbClr val="C9840F"/>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C9840F"/>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C9840F"/>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r>
            </a:tbl>
          </a:graphicData>
        </a:graphic>
      </p:graphicFrame>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26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26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26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26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52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52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52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52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78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78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78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78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104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104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104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104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130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0" name="Google Shape;230;p9"/>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01  ·  EL PROBLEMA</a:t>
            </a:r>
            <a:endParaRPr b="0" i="0" sz="1200" u="none" cap="none" strike="noStrike">
              <a:solidFill>
                <a:schemeClr val="dk1"/>
              </a:solidFill>
              <a:latin typeface="Calibri"/>
              <a:ea typeface="Calibri"/>
              <a:cs typeface="Calibri"/>
              <a:sym typeface="Calibri"/>
            </a:endParaRPr>
          </a:p>
        </p:txBody>
      </p:sp>
      <p:sp>
        <p:nvSpPr>
          <p:cNvPr id="231" name="Google Shape;231;p9"/>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Plataformas académicas que ya existen</a:t>
            </a:r>
            <a:endParaRPr sz="3400"/>
          </a:p>
        </p:txBody>
      </p:sp>
      <p:sp>
        <p:nvSpPr>
          <p:cNvPr id="232" name="Google Shape;232;p9"/>
          <p:cNvSpPr/>
          <p:nvPr/>
        </p:nvSpPr>
        <p:spPr>
          <a:xfrm>
            <a:off x="640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3" name="Google Shape;233;p9"/>
          <p:cNvPicPr preferRelativeResize="0"/>
          <p:nvPr/>
        </p:nvPicPr>
        <p:blipFill rotWithShape="1">
          <a:blip r:embed="rId6">
            <a:alphaModFix/>
          </a:blip>
          <a:srcRect b="0" l="0" r="0" t="0"/>
          <a:stretch/>
        </p:blipFill>
        <p:spPr>
          <a:xfrm>
            <a:off x="890000" y="2377000"/>
            <a:ext cx="640000" cy="640000"/>
          </a:xfrm>
          <a:prstGeom prst="rect">
            <a:avLst/>
          </a:prstGeom>
          <a:noFill/>
          <a:ln>
            <a:noFill/>
          </a:ln>
        </p:spPr>
      </p:pic>
      <p:sp>
        <p:nvSpPr>
          <p:cNvPr id="234" name="Google Shape;234;p9"/>
          <p:cNvSpPr txBox="1"/>
          <p:nvPr/>
        </p:nvSpPr>
        <p:spPr>
          <a:xfrm>
            <a:off x="1730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Master2000</a:t>
            </a:r>
            <a:endParaRPr b="0" i="0" sz="2000" u="none" cap="none" strike="noStrike">
              <a:solidFill>
                <a:schemeClr val="dk1"/>
              </a:solidFill>
              <a:latin typeface="Calibri"/>
              <a:ea typeface="Calibri"/>
              <a:cs typeface="Calibri"/>
              <a:sym typeface="Calibri"/>
            </a:endParaRPr>
          </a:p>
        </p:txBody>
      </p:sp>
      <p:sp>
        <p:nvSpPr>
          <p:cNvPr id="235" name="Google Shape;235;p9"/>
          <p:cNvSpPr txBox="1"/>
          <p:nvPr/>
        </p:nvSpPr>
        <p:spPr>
          <a:xfrm>
            <a:off x="1730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Académico, comunicaciones, costos educativos, NEE y más módulos; web y app.</a:t>
            </a:r>
            <a:endParaRPr b="0" i="0" sz="1500" u="none" cap="none" strike="noStrike">
              <a:solidFill>
                <a:schemeClr val="dk1"/>
              </a:solidFill>
              <a:latin typeface="Calibri"/>
              <a:ea typeface="Calibri"/>
              <a:cs typeface="Calibri"/>
              <a:sym typeface="Calibri"/>
            </a:endParaRPr>
          </a:p>
        </p:txBody>
      </p:sp>
      <p:sp>
        <p:nvSpPr>
          <p:cNvPr id="236" name="Google Shape;236;p9"/>
          <p:cNvSpPr/>
          <p:nvPr/>
        </p:nvSpPr>
        <p:spPr>
          <a:xfrm>
            <a:off x="4343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7" name="Google Shape;237;p9"/>
          <p:cNvPicPr preferRelativeResize="0"/>
          <p:nvPr/>
        </p:nvPicPr>
        <p:blipFill rotWithShape="1">
          <a:blip r:embed="rId2">
            <a:alphaModFix/>
          </a:blip>
          <a:srcRect b="0" l="0" r="0" t="0"/>
          <a:stretch/>
        </p:blipFill>
        <p:spPr>
          <a:xfrm>
            <a:off x="4593000" y="2377000"/>
            <a:ext cx="640000" cy="640000"/>
          </a:xfrm>
          <a:prstGeom prst="rect">
            <a:avLst/>
          </a:prstGeom>
          <a:noFill/>
          <a:ln>
            <a:noFill/>
          </a:ln>
        </p:spPr>
      </p:pic>
      <p:sp>
        <p:nvSpPr>
          <p:cNvPr id="238" name="Google Shape;238;p9"/>
          <p:cNvSpPr txBox="1"/>
          <p:nvPr/>
        </p:nvSpPr>
        <p:spPr>
          <a:xfrm>
            <a:off x="5433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Sinaí</a:t>
            </a:r>
            <a:endParaRPr b="0" i="0" sz="2000" u="none" cap="none" strike="noStrike">
              <a:solidFill>
                <a:schemeClr val="dk1"/>
              </a:solidFill>
              <a:latin typeface="Calibri"/>
              <a:ea typeface="Calibri"/>
              <a:cs typeface="Calibri"/>
              <a:sym typeface="Calibri"/>
            </a:endParaRPr>
          </a:p>
        </p:txBody>
      </p:sp>
      <p:sp>
        <p:nvSpPr>
          <p:cNvPr id="239" name="Google Shape;239;p9"/>
          <p:cNvSpPr txBox="1"/>
          <p:nvPr/>
        </p:nvSpPr>
        <p:spPr>
          <a:xfrm>
            <a:off x="5433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Información académica por rol, alerta académica, observador y apps móviles.</a:t>
            </a:r>
            <a:endParaRPr b="0" i="0" sz="1500" u="none" cap="none" strike="noStrike">
              <a:solidFill>
                <a:schemeClr val="dk1"/>
              </a:solidFill>
              <a:latin typeface="Calibri"/>
              <a:ea typeface="Calibri"/>
              <a:cs typeface="Calibri"/>
              <a:sym typeface="Calibri"/>
            </a:endParaRPr>
          </a:p>
        </p:txBody>
      </p:sp>
      <p:sp>
        <p:nvSpPr>
          <p:cNvPr id="240" name="Google Shape;240;p9"/>
          <p:cNvSpPr/>
          <p:nvPr/>
        </p:nvSpPr>
        <p:spPr>
          <a:xfrm>
            <a:off x="8046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1" name="Google Shape;241;p9"/>
          <p:cNvPicPr preferRelativeResize="0"/>
          <p:nvPr/>
        </p:nvPicPr>
        <p:blipFill rotWithShape="1">
          <a:blip r:embed="rId3">
            <a:alphaModFix/>
          </a:blip>
          <a:srcRect b="0" l="0" r="0" t="0"/>
          <a:stretch/>
        </p:blipFill>
        <p:spPr>
          <a:xfrm>
            <a:off x="8296000" y="2377000"/>
            <a:ext cx="640000" cy="640000"/>
          </a:xfrm>
          <a:prstGeom prst="rect">
            <a:avLst/>
          </a:prstGeom>
          <a:noFill/>
          <a:ln>
            <a:noFill/>
          </a:ln>
        </p:spPr>
      </p:pic>
      <p:sp>
        <p:nvSpPr>
          <p:cNvPr id="242" name="Google Shape;242;p9"/>
          <p:cNvSpPr txBox="1"/>
          <p:nvPr/>
        </p:nvSpPr>
        <p:spPr>
          <a:xfrm>
            <a:off x="9136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Phidias</a:t>
            </a:r>
            <a:endParaRPr b="0" i="0" sz="2000" u="none" cap="none" strike="noStrike">
              <a:solidFill>
                <a:schemeClr val="dk1"/>
              </a:solidFill>
              <a:latin typeface="Calibri"/>
              <a:ea typeface="Calibri"/>
              <a:cs typeface="Calibri"/>
              <a:sym typeface="Calibri"/>
            </a:endParaRPr>
          </a:p>
        </p:txBody>
      </p:sp>
      <p:sp>
        <p:nvSpPr>
          <p:cNvPr id="243" name="Google Shape;243;p9"/>
          <p:cNvSpPr txBox="1"/>
          <p:nvPr/>
        </p:nvSpPr>
        <p:spPr>
          <a:xfrm>
            <a:off x="9136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Nube modular: académico, tesorería, comunicación, seguimientos y más.</a:t>
            </a:r>
            <a:endParaRPr b="0" i="0" sz="1500" u="none" cap="none" strike="noStrike">
              <a:solidFill>
                <a:schemeClr val="dk1"/>
              </a:solidFill>
              <a:latin typeface="Calibri"/>
              <a:ea typeface="Calibri"/>
              <a:cs typeface="Calibri"/>
              <a:sym typeface="Calibri"/>
            </a:endParaRPr>
          </a:p>
        </p:txBody>
      </p:sp>
      <p:sp>
        <p:nvSpPr>
          <p:cNvPr id="244" name="Google Shape;244;p9"/>
          <p:cNvSpPr/>
          <p:nvPr/>
        </p:nvSpPr>
        <p:spPr>
          <a:xfrm>
            <a:off x="640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5" name="Google Shape;245;p9"/>
          <p:cNvPicPr preferRelativeResize="0"/>
          <p:nvPr/>
        </p:nvPicPr>
        <p:blipFill rotWithShape="1">
          <a:blip r:embed="rId4">
            <a:alphaModFix/>
          </a:blip>
          <a:srcRect b="0" l="0" r="0" t="0"/>
          <a:stretch/>
        </p:blipFill>
        <p:spPr>
          <a:xfrm>
            <a:off x="890000" y="4388000"/>
            <a:ext cx="640000" cy="640000"/>
          </a:xfrm>
          <a:prstGeom prst="rect">
            <a:avLst/>
          </a:prstGeom>
          <a:noFill/>
          <a:ln>
            <a:noFill/>
          </a:ln>
        </p:spPr>
      </p:pic>
      <p:sp>
        <p:nvSpPr>
          <p:cNvPr id="246" name="Google Shape;246;p9"/>
          <p:cNvSpPr txBox="1"/>
          <p:nvPr/>
        </p:nvSpPr>
        <p:spPr>
          <a:xfrm>
            <a:off x="1730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Q10</a:t>
            </a:r>
            <a:endParaRPr b="0" i="0" sz="2000" u="none" cap="none" strike="noStrike">
              <a:solidFill>
                <a:schemeClr val="dk1"/>
              </a:solidFill>
              <a:latin typeface="Calibri"/>
              <a:ea typeface="Calibri"/>
              <a:cs typeface="Calibri"/>
              <a:sym typeface="Calibri"/>
            </a:endParaRPr>
          </a:p>
        </p:txBody>
      </p:sp>
      <p:sp>
        <p:nvSpPr>
          <p:cNvPr id="247" name="Google Shape;247;p9"/>
          <p:cNvSpPr txBox="1"/>
          <p:nvPr/>
        </p:nvSpPr>
        <p:spPr>
          <a:xfrm>
            <a:off x="1730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Académico, admisiones, cobros, aula virtual y CRM; +3.000 instituciones.</a:t>
            </a:r>
            <a:endParaRPr b="0" i="0" sz="1500" u="none" cap="none" strike="noStrike">
              <a:solidFill>
                <a:schemeClr val="dk1"/>
              </a:solidFill>
              <a:latin typeface="Calibri"/>
              <a:ea typeface="Calibri"/>
              <a:cs typeface="Calibri"/>
              <a:sym typeface="Calibri"/>
            </a:endParaRPr>
          </a:p>
        </p:txBody>
      </p:sp>
      <p:sp>
        <p:nvSpPr>
          <p:cNvPr id="248" name="Google Shape;248;p9"/>
          <p:cNvSpPr txBox="1"/>
          <p:nvPr/>
        </p:nvSpPr>
        <p:spPr>
          <a:xfrm>
            <a:off x="640080" y="5852160"/>
            <a:ext cx="1090879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Se centran en lo académico y administrativo; Serena suma el bienestar emocional y la IA.</a:t>
            </a:r>
            <a:endParaRPr b="0" i="0" sz="1400" u="none" cap="none" strike="noStrike">
              <a:solidFill>
                <a:schemeClr val="dk1"/>
              </a:solidFill>
              <a:latin typeface="Calibri"/>
              <a:ea typeface="Calibri"/>
              <a:cs typeface="Calibri"/>
              <a:sym typeface="Calibri"/>
            </a:endParaRPr>
          </a:p>
        </p:txBody>
      </p:sp>
      <p:sp>
        <p:nvSpPr>
          <p:cNvPr id="249" name="Google Shape;249;p9"/>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
        <p:nvSpPr>
          <p:cNvPr id="300" name="Tarjeta extra 300"/>
          <p:cNvSpPr/>
          <p:nvPr/>
        </p:nvSpPr>
        <p:spPr>
          <a:xfrm>
            <a:off x="4343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01" name="Tarjeta extra 301"/>
          <p:cNvPicPr preferRelativeResize="0"/>
          <p:nvPr/>
        </p:nvPicPr>
        <p:blipFill rotWithShape="1">
          <a:blip r:embed="rId5">
            <a:alphaModFix/>
          </a:blip>
          <a:srcRect b="0" l="0" r="0" t="0"/>
          <a:stretch/>
        </p:blipFill>
        <p:spPr>
          <a:xfrm>
            <a:off x="4593000" y="4388000"/>
            <a:ext cx="640000" cy="640000"/>
          </a:xfrm>
          <a:prstGeom prst="rect">
            <a:avLst/>
          </a:prstGeom>
          <a:noFill/>
          <a:ln>
            <a:noFill/>
          </a:ln>
        </p:spPr>
      </p:pic>
      <p:sp>
        <p:nvSpPr>
          <p:cNvPr id="302" name="Tarjeta extra 302"/>
          <p:cNvSpPr txBox="1"/>
          <p:nvPr/>
        </p:nvSpPr>
        <p:spPr>
          <a:xfrm>
            <a:off x="5433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Akros Soluciones</a:t>
            </a:r>
            <a:endParaRPr b="0" i="0" sz="2000" u="none" cap="none" strike="noStrike">
              <a:solidFill>
                <a:schemeClr val="dk1"/>
              </a:solidFill>
              <a:latin typeface="Calibri"/>
              <a:ea typeface="Calibri"/>
              <a:cs typeface="Calibri"/>
              <a:sym typeface="Calibri"/>
            </a:endParaRPr>
          </a:p>
        </p:txBody>
      </p:sp>
      <p:sp>
        <p:nvSpPr>
          <p:cNvPr id="303" name="Tarjeta extra 303"/>
          <p:cNvSpPr txBox="1"/>
          <p:nvPr/>
        </p:nvSpPr>
        <p:spPr>
          <a:xfrm>
            <a:off x="5433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Medellín: software a la medida, aula virtual y pruebas tipo test.</a:t>
            </a:r>
            <a:endParaRPr b="0" i="0" sz="1500" u="none" cap="none" strike="noStrike">
              <a:solidFill>
                <a:schemeClr val="dk1"/>
              </a:solidFill>
              <a:latin typeface="Calibri"/>
              <a:ea typeface="Calibri"/>
              <a:cs typeface="Calibri"/>
              <a:sym typeface="Calibri"/>
            </a:endParaRPr>
          </a:p>
        </p:txBody>
      </p:sp>
      <p:sp>
        <p:nvSpPr>
          <p:cNvPr id="310" name="Tarjeta extra 310"/>
          <p:cNvSpPr/>
          <p:nvPr/>
        </p:nvSpPr>
        <p:spPr>
          <a:xfrm>
            <a:off x="8046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11" name="Tarjeta extra 311"/>
          <p:cNvPicPr preferRelativeResize="0"/>
          <p:nvPr/>
        </p:nvPicPr>
        <p:blipFill rotWithShape="1">
          <a:blip r:embed="rId7">
            <a:alphaModFix/>
          </a:blip>
          <a:srcRect b="0" l="0" r="0" t="0"/>
          <a:stretch/>
        </p:blipFill>
        <p:spPr>
          <a:xfrm>
            <a:off x="8296000" y="4388000"/>
            <a:ext cx="640000" cy="640000"/>
          </a:xfrm>
          <a:prstGeom prst="rect">
            <a:avLst/>
          </a:prstGeom>
          <a:noFill/>
          <a:ln>
            <a:noFill/>
          </a:ln>
        </p:spPr>
      </p:pic>
      <p:sp>
        <p:nvSpPr>
          <p:cNvPr id="312" name="Tarjeta extra 312"/>
          <p:cNvSpPr txBox="1"/>
          <p:nvPr/>
        </p:nvSpPr>
        <p:spPr>
          <a:xfrm>
            <a:off x="9136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Y muchas más</a:t>
            </a:r>
            <a:endParaRPr b="0" i="0" sz="2000" u="none" cap="none" strike="noStrike">
              <a:solidFill>
                <a:schemeClr val="dk1"/>
              </a:solidFill>
              <a:latin typeface="Calibri"/>
              <a:ea typeface="Calibri"/>
              <a:cs typeface="Calibri"/>
              <a:sym typeface="Calibri"/>
            </a:endParaRPr>
          </a:p>
        </p:txBody>
      </p:sp>
      <p:sp>
        <p:nvSpPr>
          <p:cNvPr id="313" name="Tarjeta extra 313"/>
          <p:cNvSpPr txBox="1"/>
          <p:nvPr/>
        </p:nvSpPr>
        <p:spPr>
          <a:xfrm>
            <a:off x="9136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Productos comerciales centrados en lo académico y administrativo.</a:t>
            </a:r>
            <a:endParaRPr b="0" i="0" sz="1300" u="none" cap="none" strike="noStrike">
              <a:solidFill>
                <a:schemeClr val="dk1"/>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26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26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26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26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52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52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52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52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78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78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78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78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104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104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104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104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130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0" name="Google Shape;230;p9"/>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01  ·  EL PROBLEMA</a:t>
            </a:r>
            <a:endParaRPr b="0" i="0" sz="1200" u="none" cap="none" strike="noStrike">
              <a:solidFill>
                <a:schemeClr val="dk1"/>
              </a:solidFill>
              <a:latin typeface="Calibri"/>
              <a:ea typeface="Calibri"/>
              <a:cs typeface="Calibri"/>
              <a:sym typeface="Calibri"/>
            </a:endParaRPr>
          </a:p>
        </p:txBody>
      </p:sp>
      <p:sp>
        <p:nvSpPr>
          <p:cNvPr id="231" name="Google Shape;231;p9"/>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Master2000: qué ofrece</a:t>
            </a:r>
            <a:endParaRPr sz="3400"/>
          </a:p>
        </p:txBody>
      </p:sp>
      <p:sp>
        <p:nvSpPr>
          <p:cNvPr id="232" name="Google Shape;232;p9"/>
          <p:cNvSpPr/>
          <p:nvPr/>
        </p:nvSpPr>
        <p:spPr>
          <a:xfrm>
            <a:off x="640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3" name="Google Shape;233;p9"/>
          <p:cNvPicPr preferRelativeResize="0"/>
          <p:nvPr/>
        </p:nvPicPr>
        <p:blipFill rotWithShape="1">
          <a:blip r:embed="rId6">
            <a:alphaModFix/>
          </a:blip>
          <a:srcRect b="0" l="0" r="0" t="0"/>
          <a:stretch/>
        </p:blipFill>
        <p:spPr>
          <a:xfrm>
            <a:off x="890000" y="2377000"/>
            <a:ext cx="640000" cy="640000"/>
          </a:xfrm>
          <a:prstGeom prst="rect">
            <a:avLst/>
          </a:prstGeom>
          <a:noFill/>
          <a:ln>
            <a:noFill/>
          </a:ln>
        </p:spPr>
      </p:pic>
      <p:sp>
        <p:nvSpPr>
          <p:cNvPr id="234" name="Google Shape;234;p9"/>
          <p:cNvSpPr txBox="1"/>
          <p:nvPr/>
        </p:nvSpPr>
        <p:spPr>
          <a:xfrm>
            <a:off x="1730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Módulo académico</a:t>
            </a:r>
            <a:endParaRPr b="0" i="0" sz="2000" u="none" cap="none" strike="noStrike">
              <a:solidFill>
                <a:schemeClr val="dk1"/>
              </a:solidFill>
              <a:latin typeface="Calibri"/>
              <a:ea typeface="Calibri"/>
              <a:cs typeface="Calibri"/>
              <a:sym typeface="Calibri"/>
            </a:endParaRPr>
          </a:p>
        </p:txBody>
      </p:sp>
      <p:sp>
        <p:nvSpPr>
          <p:cNvPr id="235" name="Google Shape;235;p9"/>
          <p:cNvSpPr txBox="1"/>
          <p:nvPr/>
        </p:nvSpPr>
        <p:spPr>
          <a:xfrm>
            <a:off x="1730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Notas, asistencia, horarios e informes de la institución.</a:t>
            </a:r>
            <a:endParaRPr b="0" i="0" sz="1500" u="none" cap="none" strike="noStrike">
              <a:solidFill>
                <a:schemeClr val="dk1"/>
              </a:solidFill>
              <a:latin typeface="Calibri"/>
              <a:ea typeface="Calibri"/>
              <a:cs typeface="Calibri"/>
              <a:sym typeface="Calibri"/>
            </a:endParaRPr>
          </a:p>
        </p:txBody>
      </p:sp>
      <p:sp>
        <p:nvSpPr>
          <p:cNvPr id="236" name="Google Shape;236;p9"/>
          <p:cNvSpPr/>
          <p:nvPr/>
        </p:nvSpPr>
        <p:spPr>
          <a:xfrm>
            <a:off x="4343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7" name="Google Shape;237;p9"/>
          <p:cNvPicPr preferRelativeResize="0"/>
          <p:nvPr/>
        </p:nvPicPr>
        <p:blipFill rotWithShape="1">
          <a:blip r:embed="rId2">
            <a:alphaModFix/>
          </a:blip>
          <a:srcRect b="0" l="0" r="0" t="0"/>
          <a:stretch/>
        </p:blipFill>
        <p:spPr>
          <a:xfrm>
            <a:off x="4593000" y="2377000"/>
            <a:ext cx="640000" cy="640000"/>
          </a:xfrm>
          <a:prstGeom prst="rect">
            <a:avLst/>
          </a:prstGeom>
          <a:noFill/>
          <a:ln>
            <a:noFill/>
          </a:ln>
        </p:spPr>
      </p:pic>
      <p:sp>
        <p:nvSpPr>
          <p:cNvPr id="238" name="Google Shape;238;p9"/>
          <p:cNvSpPr txBox="1"/>
          <p:nvPr/>
        </p:nvSpPr>
        <p:spPr>
          <a:xfrm>
            <a:off x="5433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Comunicaciones</a:t>
            </a:r>
            <a:endParaRPr b="0" i="0" sz="2000" u="none" cap="none" strike="noStrike">
              <a:solidFill>
                <a:schemeClr val="dk1"/>
              </a:solidFill>
              <a:latin typeface="Calibri"/>
              <a:ea typeface="Calibri"/>
              <a:cs typeface="Calibri"/>
              <a:sym typeface="Calibri"/>
            </a:endParaRPr>
          </a:p>
        </p:txBody>
      </p:sp>
      <p:sp>
        <p:nvSpPr>
          <p:cNvPr id="239" name="Google Shape;239;p9"/>
          <p:cNvSpPr txBox="1"/>
          <p:nvPr/>
        </p:nvSpPr>
        <p:spPr>
          <a:xfrm>
            <a:off x="5433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Mensajería entre colegio, docentes, estudiantes y familias.</a:t>
            </a:r>
            <a:endParaRPr b="0" i="0" sz="1500" u="none" cap="none" strike="noStrike">
              <a:solidFill>
                <a:schemeClr val="dk1"/>
              </a:solidFill>
              <a:latin typeface="Calibri"/>
              <a:ea typeface="Calibri"/>
              <a:cs typeface="Calibri"/>
              <a:sym typeface="Calibri"/>
            </a:endParaRPr>
          </a:p>
        </p:txBody>
      </p:sp>
      <p:sp>
        <p:nvSpPr>
          <p:cNvPr id="240" name="Google Shape;240;p9"/>
          <p:cNvSpPr/>
          <p:nvPr/>
        </p:nvSpPr>
        <p:spPr>
          <a:xfrm>
            <a:off x="8046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1" name="Google Shape;241;p9"/>
          <p:cNvPicPr preferRelativeResize="0"/>
          <p:nvPr/>
        </p:nvPicPr>
        <p:blipFill rotWithShape="1">
          <a:blip r:embed="rId3">
            <a:alphaModFix/>
          </a:blip>
          <a:srcRect b="0" l="0" r="0" t="0"/>
          <a:stretch/>
        </p:blipFill>
        <p:spPr>
          <a:xfrm>
            <a:off x="8296000" y="2377000"/>
            <a:ext cx="640000" cy="640000"/>
          </a:xfrm>
          <a:prstGeom prst="rect">
            <a:avLst/>
          </a:prstGeom>
          <a:noFill/>
          <a:ln>
            <a:noFill/>
          </a:ln>
        </p:spPr>
      </p:pic>
      <p:sp>
        <p:nvSpPr>
          <p:cNvPr id="242" name="Google Shape;242;p9"/>
          <p:cNvSpPr txBox="1"/>
          <p:nvPr/>
        </p:nvSpPr>
        <p:spPr>
          <a:xfrm>
            <a:off x="9136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Costos educativos</a:t>
            </a:r>
            <a:endParaRPr b="0" i="0" sz="2000" u="none" cap="none" strike="noStrike">
              <a:solidFill>
                <a:schemeClr val="dk1"/>
              </a:solidFill>
              <a:latin typeface="Calibri"/>
              <a:ea typeface="Calibri"/>
              <a:cs typeface="Calibri"/>
              <a:sym typeface="Calibri"/>
            </a:endParaRPr>
          </a:p>
        </p:txBody>
      </p:sp>
      <p:sp>
        <p:nvSpPr>
          <p:cNvPr id="243" name="Google Shape;243;p9"/>
          <p:cNvSpPr txBox="1"/>
          <p:nvPr/>
        </p:nvSpPr>
        <p:spPr>
          <a:xfrm>
            <a:off x="9136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Gestión de los costos educativos de la institución.</a:t>
            </a:r>
            <a:endParaRPr b="0" i="0" sz="1500" u="none" cap="none" strike="noStrike">
              <a:solidFill>
                <a:schemeClr val="dk1"/>
              </a:solidFill>
              <a:latin typeface="Calibri"/>
              <a:ea typeface="Calibri"/>
              <a:cs typeface="Calibri"/>
              <a:sym typeface="Calibri"/>
            </a:endParaRPr>
          </a:p>
        </p:txBody>
      </p:sp>
      <p:sp>
        <p:nvSpPr>
          <p:cNvPr id="244" name="Google Shape;244;p9"/>
          <p:cNvSpPr/>
          <p:nvPr/>
        </p:nvSpPr>
        <p:spPr>
          <a:xfrm>
            <a:off x="640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5" name="Google Shape;245;p9"/>
          <p:cNvPicPr preferRelativeResize="0"/>
          <p:nvPr/>
        </p:nvPicPr>
        <p:blipFill rotWithShape="1">
          <a:blip r:embed="rId4">
            <a:alphaModFix/>
          </a:blip>
          <a:srcRect b="0" l="0" r="0" t="0"/>
          <a:stretch/>
        </p:blipFill>
        <p:spPr>
          <a:xfrm>
            <a:off x="890000" y="4388000"/>
            <a:ext cx="640000" cy="640000"/>
          </a:xfrm>
          <a:prstGeom prst="rect">
            <a:avLst/>
          </a:prstGeom>
          <a:noFill/>
          <a:ln>
            <a:noFill/>
          </a:ln>
        </p:spPr>
      </p:pic>
      <p:sp>
        <p:nvSpPr>
          <p:cNvPr id="246" name="Google Shape;246;p9"/>
          <p:cNvSpPr txBox="1"/>
          <p:nvPr/>
        </p:nvSpPr>
        <p:spPr>
          <a:xfrm>
            <a:off x="1730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NEE y talentos</a:t>
            </a:r>
            <a:endParaRPr b="0" i="0" sz="2000" u="none" cap="none" strike="noStrike">
              <a:solidFill>
                <a:schemeClr val="dk1"/>
              </a:solidFill>
              <a:latin typeface="Calibri"/>
              <a:ea typeface="Calibri"/>
              <a:cs typeface="Calibri"/>
              <a:sym typeface="Calibri"/>
            </a:endParaRPr>
          </a:p>
        </p:txBody>
      </p:sp>
      <p:sp>
        <p:nvSpPr>
          <p:cNvPr id="247" name="Google Shape;247;p9"/>
          <p:cNvSpPr txBox="1"/>
          <p:nvPr/>
        </p:nvSpPr>
        <p:spPr>
          <a:xfrm>
            <a:off x="1730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Módulo para estudiantes con necesidades educativas especiales y talentos.</a:t>
            </a:r>
            <a:endParaRPr b="0" i="0" sz="1500" u="none" cap="none" strike="noStrike">
              <a:solidFill>
                <a:schemeClr val="dk1"/>
              </a:solidFill>
              <a:latin typeface="Calibri"/>
              <a:ea typeface="Calibri"/>
              <a:cs typeface="Calibri"/>
              <a:sym typeface="Calibri"/>
            </a:endParaRPr>
          </a:p>
        </p:txBody>
      </p:sp>
      <p:sp>
        <p:nvSpPr>
          <p:cNvPr id="248" name="Google Shape;248;p9"/>
          <p:cNvSpPr txBox="1"/>
          <p:nvPr/>
        </p:nvSpPr>
        <p:spPr>
          <a:xfrm>
            <a:off x="640080" y="5852160"/>
            <a:ext cx="1090879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Fortaleza: cobertura académica y administrativa muy amplia. Falta: bienestar emocional y alertas tempranas.</a:t>
            </a:r>
            <a:endParaRPr b="0" i="0" sz="1400" u="none" cap="none" strike="noStrike">
              <a:solidFill>
                <a:schemeClr val="dk1"/>
              </a:solidFill>
              <a:latin typeface="Calibri"/>
              <a:ea typeface="Calibri"/>
              <a:cs typeface="Calibri"/>
              <a:sym typeface="Calibri"/>
            </a:endParaRPr>
          </a:p>
        </p:txBody>
      </p:sp>
      <p:sp>
        <p:nvSpPr>
          <p:cNvPr id="249" name="Google Shape;249;p9"/>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
        <p:nvSpPr>
          <p:cNvPr id="300" name="Tarjeta extra 300"/>
          <p:cNvSpPr/>
          <p:nvPr/>
        </p:nvSpPr>
        <p:spPr>
          <a:xfrm>
            <a:off x="4343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01" name="Tarjeta extra 301"/>
          <p:cNvPicPr preferRelativeResize="0"/>
          <p:nvPr/>
        </p:nvPicPr>
        <p:blipFill rotWithShape="1">
          <a:blip r:embed="rId5">
            <a:alphaModFix/>
          </a:blip>
          <a:srcRect b="0" l="0" r="0" t="0"/>
          <a:stretch/>
        </p:blipFill>
        <p:spPr>
          <a:xfrm>
            <a:off x="4593000" y="4388000"/>
            <a:ext cx="640000" cy="640000"/>
          </a:xfrm>
          <a:prstGeom prst="rect">
            <a:avLst/>
          </a:prstGeom>
          <a:noFill/>
          <a:ln>
            <a:noFill/>
          </a:ln>
        </p:spPr>
      </p:pic>
      <p:sp>
        <p:nvSpPr>
          <p:cNvPr id="302" name="Tarjeta extra 302"/>
          <p:cNvSpPr txBox="1"/>
          <p:nvPr/>
        </p:nvSpPr>
        <p:spPr>
          <a:xfrm>
            <a:off x="5433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Master Kids</a:t>
            </a:r>
            <a:endParaRPr b="0" i="0" sz="2000" u="none" cap="none" strike="noStrike">
              <a:solidFill>
                <a:schemeClr val="dk1"/>
              </a:solidFill>
              <a:latin typeface="Calibri"/>
              <a:ea typeface="Calibri"/>
              <a:cs typeface="Calibri"/>
              <a:sym typeface="Calibri"/>
            </a:endParaRPr>
          </a:p>
        </p:txBody>
      </p:sp>
      <p:sp>
        <p:nvSpPr>
          <p:cNvPr id="303" name="Tarjeta extra 303"/>
          <p:cNvSpPr txBox="1"/>
          <p:nvPr/>
        </p:nvSpPr>
        <p:spPr>
          <a:xfrm>
            <a:off x="5433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Versión para preescolar, más administración para corporaciones y municipios.</a:t>
            </a:r>
            <a:endParaRPr b="0" i="0" sz="1500" u="none" cap="none" strike="noStrike">
              <a:solidFill>
                <a:schemeClr val="dk1"/>
              </a:solidFill>
              <a:latin typeface="Calibri"/>
              <a:ea typeface="Calibri"/>
              <a:cs typeface="Calibri"/>
              <a:sym typeface="Calibri"/>
            </a:endParaRPr>
          </a:p>
        </p:txBody>
      </p:sp>
      <p:sp>
        <p:nvSpPr>
          <p:cNvPr id="310" name="Tarjeta extra 310"/>
          <p:cNvSpPr/>
          <p:nvPr/>
        </p:nvSpPr>
        <p:spPr>
          <a:xfrm>
            <a:off x="8046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11" name="Tarjeta extra 311"/>
          <p:cNvPicPr preferRelativeResize="0"/>
          <p:nvPr/>
        </p:nvPicPr>
        <p:blipFill rotWithShape="1">
          <a:blip r:embed="rId7">
            <a:alphaModFix/>
          </a:blip>
          <a:srcRect b="0" l="0" r="0" t="0"/>
          <a:stretch/>
        </p:blipFill>
        <p:spPr>
          <a:xfrm>
            <a:off x="8296000" y="4388000"/>
            <a:ext cx="640000" cy="640000"/>
          </a:xfrm>
          <a:prstGeom prst="rect">
            <a:avLst/>
          </a:prstGeom>
          <a:noFill/>
          <a:ln>
            <a:noFill/>
          </a:ln>
        </p:spPr>
      </p:pic>
      <p:sp>
        <p:nvSpPr>
          <p:cNvPr id="312" name="Tarjeta extra 312"/>
          <p:cNvSpPr txBox="1"/>
          <p:nvPr/>
        </p:nvSpPr>
        <p:spPr>
          <a:xfrm>
            <a:off x="9136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Web y app Android</a:t>
            </a:r>
            <a:endParaRPr b="0" i="0" sz="2000" u="none" cap="none" strike="noStrike">
              <a:solidFill>
                <a:schemeClr val="dk1"/>
              </a:solidFill>
              <a:latin typeface="Calibri"/>
              <a:ea typeface="Calibri"/>
              <a:cs typeface="Calibri"/>
              <a:sym typeface="Calibri"/>
            </a:endParaRPr>
          </a:p>
        </p:txBody>
      </p:sp>
      <p:sp>
        <p:nvSpPr>
          <p:cNvPr id="313" name="Tarjeta extra 313"/>
          <p:cNvSpPr txBox="1"/>
          <p:nvPr/>
        </p:nvSpPr>
        <p:spPr>
          <a:xfrm>
            <a:off x="9136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Acceso desde navegador y app móvil, con reportes y auditoría.</a:t>
            </a:r>
            <a:endParaRPr b="0" i="0" sz="1500" u="none" cap="none" strike="noStrike">
              <a:solidFill>
                <a:schemeClr val="dk1"/>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26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26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26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26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52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52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52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52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78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78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78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78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104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104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104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104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130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0" name="Google Shape;230;p9"/>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01  ·  EL PROBLEMA</a:t>
            </a:r>
            <a:endParaRPr b="0" i="0" sz="1200" u="none" cap="none" strike="noStrike">
              <a:solidFill>
                <a:schemeClr val="dk1"/>
              </a:solidFill>
              <a:latin typeface="Calibri"/>
              <a:ea typeface="Calibri"/>
              <a:cs typeface="Calibri"/>
              <a:sym typeface="Calibri"/>
            </a:endParaRPr>
          </a:p>
        </p:txBody>
      </p:sp>
      <p:sp>
        <p:nvSpPr>
          <p:cNvPr id="231" name="Google Shape;231;p9"/>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Sinaí: qué ofrece</a:t>
            </a:r>
            <a:endParaRPr sz="3400"/>
          </a:p>
        </p:txBody>
      </p:sp>
      <p:sp>
        <p:nvSpPr>
          <p:cNvPr id="232" name="Google Shape;232;p9"/>
          <p:cNvSpPr/>
          <p:nvPr/>
        </p:nvSpPr>
        <p:spPr>
          <a:xfrm>
            <a:off x="640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3" name="Google Shape;233;p9"/>
          <p:cNvPicPr preferRelativeResize="0"/>
          <p:nvPr/>
        </p:nvPicPr>
        <p:blipFill rotWithShape="1">
          <a:blip r:embed="rId6">
            <a:alphaModFix/>
          </a:blip>
          <a:srcRect b="0" l="0" r="0" t="0"/>
          <a:stretch/>
        </p:blipFill>
        <p:spPr>
          <a:xfrm>
            <a:off x="890000" y="2377000"/>
            <a:ext cx="640000" cy="640000"/>
          </a:xfrm>
          <a:prstGeom prst="rect">
            <a:avLst/>
          </a:prstGeom>
          <a:noFill/>
          <a:ln>
            <a:noFill/>
          </a:ln>
        </p:spPr>
      </p:pic>
      <p:sp>
        <p:nvSpPr>
          <p:cNvPr id="234" name="Google Shape;234;p9"/>
          <p:cNvSpPr txBox="1"/>
          <p:nvPr/>
        </p:nvSpPr>
        <p:spPr>
          <a:xfrm>
            <a:off x="1730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3 módulos por rol</a:t>
            </a:r>
            <a:endParaRPr b="0" i="0" sz="2000" u="none" cap="none" strike="noStrike">
              <a:solidFill>
                <a:schemeClr val="dk1"/>
              </a:solidFill>
              <a:latin typeface="Calibri"/>
              <a:ea typeface="Calibri"/>
              <a:cs typeface="Calibri"/>
              <a:sym typeface="Calibri"/>
            </a:endParaRPr>
          </a:p>
        </p:txBody>
      </p:sp>
      <p:sp>
        <p:nvSpPr>
          <p:cNvPr id="235" name="Google Shape;235;p9"/>
          <p:cNvSpPr txBox="1"/>
          <p:nvPr/>
        </p:nvSpPr>
        <p:spPr>
          <a:xfrm>
            <a:off x="1730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Directivos y administrativos, docentes, y estudiantes y familias.</a:t>
            </a:r>
            <a:endParaRPr b="0" i="0" sz="1500" u="none" cap="none" strike="noStrike">
              <a:solidFill>
                <a:schemeClr val="dk1"/>
              </a:solidFill>
              <a:latin typeface="Calibri"/>
              <a:ea typeface="Calibri"/>
              <a:cs typeface="Calibri"/>
              <a:sym typeface="Calibri"/>
            </a:endParaRPr>
          </a:p>
        </p:txBody>
      </p:sp>
      <p:sp>
        <p:nvSpPr>
          <p:cNvPr id="236" name="Google Shape;236;p9"/>
          <p:cNvSpPr/>
          <p:nvPr/>
        </p:nvSpPr>
        <p:spPr>
          <a:xfrm>
            <a:off x="4343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7" name="Google Shape;237;p9"/>
          <p:cNvPicPr preferRelativeResize="0"/>
          <p:nvPr/>
        </p:nvPicPr>
        <p:blipFill rotWithShape="1">
          <a:blip r:embed="rId2">
            <a:alphaModFix/>
          </a:blip>
          <a:srcRect b="0" l="0" r="0" t="0"/>
          <a:stretch/>
        </p:blipFill>
        <p:spPr>
          <a:xfrm>
            <a:off x="4593000" y="2377000"/>
            <a:ext cx="640000" cy="640000"/>
          </a:xfrm>
          <a:prstGeom prst="rect">
            <a:avLst/>
          </a:prstGeom>
          <a:noFill/>
          <a:ln>
            <a:noFill/>
          </a:ln>
        </p:spPr>
      </p:pic>
      <p:sp>
        <p:nvSpPr>
          <p:cNvPr id="238" name="Google Shape;238;p9"/>
          <p:cNvSpPr txBox="1"/>
          <p:nvPr/>
        </p:nvSpPr>
        <p:spPr>
          <a:xfrm>
            <a:off x="5433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Notas y boletines</a:t>
            </a:r>
            <a:endParaRPr b="0" i="0" sz="2000" u="none" cap="none" strike="noStrike">
              <a:solidFill>
                <a:schemeClr val="dk1"/>
              </a:solidFill>
              <a:latin typeface="Calibri"/>
              <a:ea typeface="Calibri"/>
              <a:cs typeface="Calibri"/>
              <a:sym typeface="Calibri"/>
            </a:endParaRPr>
          </a:p>
        </p:txBody>
      </p:sp>
      <p:sp>
        <p:nvSpPr>
          <p:cNvPr id="239" name="Google Shape;239;p9"/>
          <p:cNvSpPr txBox="1"/>
          <p:nvPr/>
        </p:nvSpPr>
        <p:spPr>
          <a:xfrm>
            <a:off x="5433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Evaluación por criterios y actividades; boletines y preinformes para acudientes.</a:t>
            </a:r>
            <a:endParaRPr b="0" i="0" sz="1500" u="none" cap="none" strike="noStrike">
              <a:solidFill>
                <a:schemeClr val="dk1"/>
              </a:solidFill>
              <a:latin typeface="Calibri"/>
              <a:ea typeface="Calibri"/>
              <a:cs typeface="Calibri"/>
              <a:sym typeface="Calibri"/>
            </a:endParaRPr>
          </a:p>
        </p:txBody>
      </p:sp>
      <p:sp>
        <p:nvSpPr>
          <p:cNvPr id="240" name="Google Shape;240;p9"/>
          <p:cNvSpPr/>
          <p:nvPr/>
        </p:nvSpPr>
        <p:spPr>
          <a:xfrm>
            <a:off x="8046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1" name="Google Shape;241;p9"/>
          <p:cNvPicPr preferRelativeResize="0"/>
          <p:nvPr/>
        </p:nvPicPr>
        <p:blipFill rotWithShape="1">
          <a:blip r:embed="rId3">
            <a:alphaModFix/>
          </a:blip>
          <a:srcRect b="0" l="0" r="0" t="0"/>
          <a:stretch/>
        </p:blipFill>
        <p:spPr>
          <a:xfrm>
            <a:off x="8296000" y="2377000"/>
            <a:ext cx="640000" cy="640000"/>
          </a:xfrm>
          <a:prstGeom prst="rect">
            <a:avLst/>
          </a:prstGeom>
          <a:noFill/>
          <a:ln>
            <a:noFill/>
          </a:ln>
        </p:spPr>
      </p:pic>
      <p:sp>
        <p:nvSpPr>
          <p:cNvPr id="242" name="Google Shape;242;p9"/>
          <p:cNvSpPr txBox="1"/>
          <p:nvPr/>
        </p:nvSpPr>
        <p:spPr>
          <a:xfrm>
            <a:off x="9136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Alerta académica</a:t>
            </a:r>
            <a:endParaRPr b="0" i="0" sz="2000" u="none" cap="none" strike="noStrike">
              <a:solidFill>
                <a:schemeClr val="dk1"/>
              </a:solidFill>
              <a:latin typeface="Calibri"/>
              <a:ea typeface="Calibri"/>
              <a:cs typeface="Calibri"/>
              <a:sym typeface="Calibri"/>
            </a:endParaRPr>
          </a:p>
        </p:txBody>
      </p:sp>
      <p:sp>
        <p:nvSpPr>
          <p:cNvPr id="243" name="Google Shape;243;p9"/>
          <p:cNvSpPr txBox="1"/>
          <p:nvPr/>
        </p:nvSpPr>
        <p:spPr>
          <a:xfrm>
            <a:off x="9136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Seguimiento preventivo del bajo rendimiento y reporte de causas.</a:t>
            </a:r>
            <a:endParaRPr b="0" i="0" sz="1500" u="none" cap="none" strike="noStrike">
              <a:solidFill>
                <a:schemeClr val="dk1"/>
              </a:solidFill>
              <a:latin typeface="Calibri"/>
              <a:ea typeface="Calibri"/>
              <a:cs typeface="Calibri"/>
              <a:sym typeface="Calibri"/>
            </a:endParaRPr>
          </a:p>
        </p:txBody>
      </p:sp>
      <p:sp>
        <p:nvSpPr>
          <p:cNvPr id="244" name="Google Shape;244;p9"/>
          <p:cNvSpPr/>
          <p:nvPr/>
        </p:nvSpPr>
        <p:spPr>
          <a:xfrm>
            <a:off x="640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5" name="Google Shape;245;p9"/>
          <p:cNvPicPr preferRelativeResize="0"/>
          <p:nvPr/>
        </p:nvPicPr>
        <p:blipFill rotWithShape="1">
          <a:blip r:embed="rId4">
            <a:alphaModFix/>
          </a:blip>
          <a:srcRect b="0" l="0" r="0" t="0"/>
          <a:stretch/>
        </p:blipFill>
        <p:spPr>
          <a:xfrm>
            <a:off x="890000" y="4388000"/>
            <a:ext cx="640000" cy="640000"/>
          </a:xfrm>
          <a:prstGeom prst="rect">
            <a:avLst/>
          </a:prstGeom>
          <a:noFill/>
          <a:ln>
            <a:noFill/>
          </a:ln>
        </p:spPr>
      </p:pic>
      <p:sp>
        <p:nvSpPr>
          <p:cNvPr id="246" name="Google Shape;246;p9"/>
          <p:cNvSpPr txBox="1"/>
          <p:nvPr/>
        </p:nvSpPr>
        <p:spPr>
          <a:xfrm>
            <a:off x="1730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Observador</a:t>
            </a:r>
            <a:endParaRPr b="0" i="0" sz="2000" u="none" cap="none" strike="noStrike">
              <a:solidFill>
                <a:schemeClr val="dk1"/>
              </a:solidFill>
              <a:latin typeface="Calibri"/>
              <a:ea typeface="Calibri"/>
              <a:cs typeface="Calibri"/>
              <a:sym typeface="Calibri"/>
            </a:endParaRPr>
          </a:p>
        </p:txBody>
      </p:sp>
      <p:sp>
        <p:nvSpPr>
          <p:cNvPr id="247" name="Google Shape;247;p9"/>
          <p:cNvSpPr txBox="1"/>
          <p:nvPr/>
        </p:nvSpPr>
        <p:spPr>
          <a:xfrm>
            <a:off x="1730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Observador del estudiante y excusas virtuales con avisos por WhatsApp.</a:t>
            </a:r>
            <a:endParaRPr b="0" i="0" sz="1500" u="none" cap="none" strike="noStrike">
              <a:solidFill>
                <a:schemeClr val="dk1"/>
              </a:solidFill>
              <a:latin typeface="Calibri"/>
              <a:ea typeface="Calibri"/>
              <a:cs typeface="Calibri"/>
              <a:sym typeface="Calibri"/>
            </a:endParaRPr>
          </a:p>
        </p:txBody>
      </p:sp>
      <p:sp>
        <p:nvSpPr>
          <p:cNvPr id="248" name="Google Shape;248;p9"/>
          <p:cNvSpPr txBox="1"/>
          <p:nvPr/>
        </p:nvSpPr>
        <p:spPr>
          <a:xfrm>
            <a:off x="640080" y="5852160"/>
            <a:ext cx="1090879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Fortaleza: alerta académica y apps móviles. Falta: registro emocional, chat con psicología y alertas de bienestar.</a:t>
            </a:r>
            <a:endParaRPr b="0" i="0" sz="1400" u="none" cap="none" strike="noStrike">
              <a:solidFill>
                <a:schemeClr val="dk1"/>
              </a:solidFill>
              <a:latin typeface="Calibri"/>
              <a:ea typeface="Calibri"/>
              <a:cs typeface="Calibri"/>
              <a:sym typeface="Calibri"/>
            </a:endParaRPr>
          </a:p>
        </p:txBody>
      </p:sp>
      <p:sp>
        <p:nvSpPr>
          <p:cNvPr id="249" name="Google Shape;249;p9"/>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
        <p:nvSpPr>
          <p:cNvPr id="300" name="Tarjeta extra 300"/>
          <p:cNvSpPr/>
          <p:nvPr/>
        </p:nvSpPr>
        <p:spPr>
          <a:xfrm>
            <a:off x="4343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01" name="Tarjeta extra 301"/>
          <p:cNvPicPr preferRelativeResize="0"/>
          <p:nvPr/>
        </p:nvPicPr>
        <p:blipFill rotWithShape="1">
          <a:blip r:embed="rId5">
            <a:alphaModFix/>
          </a:blip>
          <a:srcRect b="0" l="0" r="0" t="0"/>
          <a:stretch/>
        </p:blipFill>
        <p:spPr>
          <a:xfrm>
            <a:off x="4593000" y="4388000"/>
            <a:ext cx="640000" cy="640000"/>
          </a:xfrm>
          <a:prstGeom prst="rect">
            <a:avLst/>
          </a:prstGeom>
          <a:noFill/>
          <a:ln>
            <a:noFill/>
          </a:ln>
        </p:spPr>
      </p:pic>
      <p:sp>
        <p:nvSpPr>
          <p:cNvPr id="302" name="Tarjeta extra 302"/>
          <p:cNvSpPr txBox="1"/>
          <p:nvPr/>
        </p:nvSpPr>
        <p:spPr>
          <a:xfrm>
            <a:off x="5433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Apps móviles</a:t>
            </a:r>
            <a:endParaRPr b="0" i="0" sz="2000" u="none" cap="none" strike="noStrike">
              <a:solidFill>
                <a:schemeClr val="dk1"/>
              </a:solidFill>
              <a:latin typeface="Calibri"/>
              <a:ea typeface="Calibri"/>
              <a:cs typeface="Calibri"/>
              <a:sym typeface="Calibri"/>
            </a:endParaRPr>
          </a:p>
        </p:txBody>
      </p:sp>
      <p:sp>
        <p:nvSpPr>
          <p:cNvPr id="303" name="Tarjeta extra 303"/>
          <p:cNvSpPr txBox="1"/>
          <p:nvPr/>
        </p:nvSpPr>
        <p:spPr>
          <a:xfrm>
            <a:off x="5433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App para docentes, estudiantes y acudientes; el docente trabaja sin conexión.</a:t>
            </a:r>
            <a:endParaRPr b="0" i="0" sz="1500" u="none" cap="none" strike="noStrike">
              <a:solidFill>
                <a:schemeClr val="dk1"/>
              </a:solidFill>
              <a:latin typeface="Calibri"/>
              <a:ea typeface="Calibri"/>
              <a:cs typeface="Calibri"/>
              <a:sym typeface="Calibri"/>
            </a:endParaRPr>
          </a:p>
        </p:txBody>
      </p:sp>
      <p:sp>
        <p:nvSpPr>
          <p:cNvPr id="310" name="Tarjeta extra 310"/>
          <p:cNvSpPr/>
          <p:nvPr/>
        </p:nvSpPr>
        <p:spPr>
          <a:xfrm>
            <a:off x="8046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11" name="Tarjeta extra 311"/>
          <p:cNvPicPr preferRelativeResize="0"/>
          <p:nvPr/>
        </p:nvPicPr>
        <p:blipFill rotWithShape="1">
          <a:blip r:embed="rId7">
            <a:alphaModFix/>
          </a:blip>
          <a:srcRect b="0" l="0" r="0" t="0"/>
          <a:stretch/>
        </p:blipFill>
        <p:spPr>
          <a:xfrm>
            <a:off x="8296000" y="4388000"/>
            <a:ext cx="640000" cy="640000"/>
          </a:xfrm>
          <a:prstGeom prst="rect">
            <a:avLst/>
          </a:prstGeom>
          <a:noFill/>
          <a:ln>
            <a:noFill/>
          </a:ln>
        </p:spPr>
      </p:pic>
      <p:sp>
        <p:nvSpPr>
          <p:cNvPr id="312" name="Tarjeta extra 312"/>
          <p:cNvSpPr txBox="1"/>
          <p:nvPr/>
        </p:nvSpPr>
        <p:spPr>
          <a:xfrm>
            <a:off x="9136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Gobierno escolar</a:t>
            </a:r>
            <a:endParaRPr b="0" i="0" sz="2000" u="none" cap="none" strike="noStrike">
              <a:solidFill>
                <a:schemeClr val="dk1"/>
              </a:solidFill>
              <a:latin typeface="Calibri"/>
              <a:ea typeface="Calibri"/>
              <a:cs typeface="Calibri"/>
              <a:sym typeface="Calibri"/>
            </a:endParaRPr>
          </a:p>
        </p:txBody>
      </p:sp>
      <p:sp>
        <p:nvSpPr>
          <p:cNvPr id="313" name="Tarjeta extra 313"/>
          <p:cNvSpPr txBox="1"/>
          <p:nvPr/>
        </p:nvSpPr>
        <p:spPr>
          <a:xfrm>
            <a:off x="9136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Sistema electoral para las votaciones escolares en línea.</a:t>
            </a:r>
            <a:endParaRPr b="0" i="0" sz="1500" u="none" cap="none" strike="noStrike">
              <a:solidFill>
                <a:schemeClr val="dk1"/>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26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26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26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26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52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52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52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52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78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78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78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78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104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104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104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104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130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0" name="Google Shape;230;p9"/>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01  ·  EL PROBLEMA</a:t>
            </a:r>
            <a:endParaRPr b="0" i="0" sz="1200" u="none" cap="none" strike="noStrike">
              <a:solidFill>
                <a:schemeClr val="dk1"/>
              </a:solidFill>
              <a:latin typeface="Calibri"/>
              <a:ea typeface="Calibri"/>
              <a:cs typeface="Calibri"/>
              <a:sym typeface="Calibri"/>
            </a:endParaRPr>
          </a:p>
        </p:txBody>
      </p:sp>
      <p:sp>
        <p:nvSpPr>
          <p:cNvPr id="231" name="Google Shape;231;p9"/>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Phidias: qué ofrece</a:t>
            </a:r>
            <a:endParaRPr sz="3400"/>
          </a:p>
        </p:txBody>
      </p:sp>
      <p:sp>
        <p:nvSpPr>
          <p:cNvPr id="232" name="Google Shape;232;p9"/>
          <p:cNvSpPr/>
          <p:nvPr/>
        </p:nvSpPr>
        <p:spPr>
          <a:xfrm>
            <a:off x="640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3" name="Google Shape;233;p9"/>
          <p:cNvPicPr preferRelativeResize="0"/>
          <p:nvPr/>
        </p:nvPicPr>
        <p:blipFill rotWithShape="1">
          <a:blip r:embed="rId6">
            <a:alphaModFix/>
          </a:blip>
          <a:srcRect b="0" l="0" r="0" t="0"/>
          <a:stretch/>
        </p:blipFill>
        <p:spPr>
          <a:xfrm>
            <a:off x="890000" y="2377000"/>
            <a:ext cx="640000" cy="640000"/>
          </a:xfrm>
          <a:prstGeom prst="rect">
            <a:avLst/>
          </a:prstGeom>
          <a:noFill/>
          <a:ln>
            <a:noFill/>
          </a:ln>
        </p:spPr>
      </p:pic>
      <p:sp>
        <p:nvSpPr>
          <p:cNvPr id="234" name="Google Shape;234;p9"/>
          <p:cNvSpPr txBox="1"/>
          <p:nvPr/>
        </p:nvSpPr>
        <p:spPr>
          <a:xfrm>
            <a:off x="1730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Académico</a:t>
            </a:r>
            <a:endParaRPr b="0" i="0" sz="2000" u="none" cap="none" strike="noStrike">
              <a:solidFill>
                <a:schemeClr val="dk1"/>
              </a:solidFill>
              <a:latin typeface="Calibri"/>
              <a:ea typeface="Calibri"/>
              <a:cs typeface="Calibri"/>
              <a:sym typeface="Calibri"/>
            </a:endParaRPr>
          </a:p>
        </p:txBody>
      </p:sp>
      <p:sp>
        <p:nvSpPr>
          <p:cNvPr id="235" name="Google Shape;235;p9"/>
          <p:cNvSpPr txBox="1"/>
          <p:nvPr/>
        </p:nvSpPr>
        <p:spPr>
          <a:xfrm>
            <a:off x="1730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Cursos, notas, boletines, tareas y evaluaciones con formatos personalizables.</a:t>
            </a:r>
            <a:endParaRPr b="0" i="0" sz="1500" u="none" cap="none" strike="noStrike">
              <a:solidFill>
                <a:schemeClr val="dk1"/>
              </a:solidFill>
              <a:latin typeface="Calibri"/>
              <a:ea typeface="Calibri"/>
              <a:cs typeface="Calibri"/>
              <a:sym typeface="Calibri"/>
            </a:endParaRPr>
          </a:p>
        </p:txBody>
      </p:sp>
      <p:sp>
        <p:nvSpPr>
          <p:cNvPr id="236" name="Google Shape;236;p9"/>
          <p:cNvSpPr/>
          <p:nvPr/>
        </p:nvSpPr>
        <p:spPr>
          <a:xfrm>
            <a:off x="4343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7" name="Google Shape;237;p9"/>
          <p:cNvPicPr preferRelativeResize="0"/>
          <p:nvPr/>
        </p:nvPicPr>
        <p:blipFill rotWithShape="1">
          <a:blip r:embed="rId2">
            <a:alphaModFix/>
          </a:blip>
          <a:srcRect b="0" l="0" r="0" t="0"/>
          <a:stretch/>
        </p:blipFill>
        <p:spPr>
          <a:xfrm>
            <a:off x="4593000" y="2377000"/>
            <a:ext cx="640000" cy="640000"/>
          </a:xfrm>
          <a:prstGeom prst="rect">
            <a:avLst/>
          </a:prstGeom>
          <a:noFill/>
          <a:ln>
            <a:noFill/>
          </a:ln>
        </p:spPr>
      </p:pic>
      <p:sp>
        <p:nvSpPr>
          <p:cNvPr id="238" name="Google Shape;238;p9"/>
          <p:cNvSpPr txBox="1"/>
          <p:nvPr/>
        </p:nvSpPr>
        <p:spPr>
          <a:xfrm>
            <a:off x="5433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Tesorería</a:t>
            </a:r>
            <a:endParaRPr b="0" i="0" sz="2000" u="none" cap="none" strike="noStrike">
              <a:solidFill>
                <a:schemeClr val="dk1"/>
              </a:solidFill>
              <a:latin typeface="Calibri"/>
              <a:ea typeface="Calibri"/>
              <a:cs typeface="Calibri"/>
              <a:sym typeface="Calibri"/>
            </a:endParaRPr>
          </a:p>
        </p:txBody>
      </p:sp>
      <p:sp>
        <p:nvSpPr>
          <p:cNvPr id="239" name="Google Shape;239;p9"/>
          <p:cNvSpPr txBox="1"/>
          <p:nvPr/>
        </p:nvSpPr>
        <p:spPr>
          <a:xfrm>
            <a:off x="5433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Cobros, pagos, facturas y recibos con conceptos y descuentos ilimitados.</a:t>
            </a:r>
            <a:endParaRPr b="0" i="0" sz="1500" u="none" cap="none" strike="noStrike">
              <a:solidFill>
                <a:schemeClr val="dk1"/>
              </a:solidFill>
              <a:latin typeface="Calibri"/>
              <a:ea typeface="Calibri"/>
              <a:cs typeface="Calibri"/>
              <a:sym typeface="Calibri"/>
            </a:endParaRPr>
          </a:p>
        </p:txBody>
      </p:sp>
      <p:sp>
        <p:nvSpPr>
          <p:cNvPr id="240" name="Google Shape;240;p9"/>
          <p:cNvSpPr/>
          <p:nvPr/>
        </p:nvSpPr>
        <p:spPr>
          <a:xfrm>
            <a:off x="8046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1" name="Google Shape;241;p9"/>
          <p:cNvPicPr preferRelativeResize="0"/>
          <p:nvPr/>
        </p:nvPicPr>
        <p:blipFill rotWithShape="1">
          <a:blip r:embed="rId3">
            <a:alphaModFix/>
          </a:blip>
          <a:srcRect b="0" l="0" r="0" t="0"/>
          <a:stretch/>
        </p:blipFill>
        <p:spPr>
          <a:xfrm>
            <a:off x="8296000" y="2377000"/>
            <a:ext cx="640000" cy="640000"/>
          </a:xfrm>
          <a:prstGeom prst="rect">
            <a:avLst/>
          </a:prstGeom>
          <a:noFill/>
          <a:ln>
            <a:noFill/>
          </a:ln>
        </p:spPr>
      </p:pic>
      <p:sp>
        <p:nvSpPr>
          <p:cNvPr id="242" name="Google Shape;242;p9"/>
          <p:cNvSpPr txBox="1"/>
          <p:nvPr/>
        </p:nvSpPr>
        <p:spPr>
          <a:xfrm>
            <a:off x="9136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Comunicación</a:t>
            </a:r>
            <a:endParaRPr b="0" i="0" sz="2000" u="none" cap="none" strike="noStrike">
              <a:solidFill>
                <a:schemeClr val="dk1"/>
              </a:solidFill>
              <a:latin typeface="Calibri"/>
              <a:ea typeface="Calibri"/>
              <a:cs typeface="Calibri"/>
              <a:sym typeface="Calibri"/>
            </a:endParaRPr>
          </a:p>
        </p:txBody>
      </p:sp>
      <p:sp>
        <p:nvSpPr>
          <p:cNvPr id="243" name="Google Shape;243;p9"/>
          <p:cNvSpPr txBox="1"/>
          <p:nvPr/>
        </p:nvSpPr>
        <p:spPr>
          <a:xfrm>
            <a:off x="9136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Mensajes internos y masivos, encuestas, votaciones y formularios en línea.</a:t>
            </a:r>
            <a:endParaRPr b="0" i="0" sz="1500" u="none" cap="none" strike="noStrike">
              <a:solidFill>
                <a:schemeClr val="dk1"/>
              </a:solidFill>
              <a:latin typeface="Calibri"/>
              <a:ea typeface="Calibri"/>
              <a:cs typeface="Calibri"/>
              <a:sym typeface="Calibri"/>
            </a:endParaRPr>
          </a:p>
        </p:txBody>
      </p:sp>
      <p:sp>
        <p:nvSpPr>
          <p:cNvPr id="244" name="Google Shape;244;p9"/>
          <p:cNvSpPr/>
          <p:nvPr/>
        </p:nvSpPr>
        <p:spPr>
          <a:xfrm>
            <a:off x="640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5" name="Google Shape;245;p9"/>
          <p:cNvPicPr preferRelativeResize="0"/>
          <p:nvPr/>
        </p:nvPicPr>
        <p:blipFill rotWithShape="1">
          <a:blip r:embed="rId4">
            <a:alphaModFix/>
          </a:blip>
          <a:srcRect b="0" l="0" r="0" t="0"/>
          <a:stretch/>
        </p:blipFill>
        <p:spPr>
          <a:xfrm>
            <a:off x="890000" y="4388000"/>
            <a:ext cx="640000" cy="640000"/>
          </a:xfrm>
          <a:prstGeom prst="rect">
            <a:avLst/>
          </a:prstGeom>
          <a:noFill/>
          <a:ln>
            <a:noFill/>
          </a:ln>
        </p:spPr>
      </p:pic>
      <p:sp>
        <p:nvSpPr>
          <p:cNvPr id="246" name="Google Shape;246;p9"/>
          <p:cNvSpPr txBox="1"/>
          <p:nvPr/>
        </p:nvSpPr>
        <p:spPr>
          <a:xfrm>
            <a:off x="1730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Seguimientos</a:t>
            </a:r>
            <a:endParaRPr b="0" i="0" sz="2000" u="none" cap="none" strike="noStrike">
              <a:solidFill>
                <a:schemeClr val="dk1"/>
              </a:solidFill>
              <a:latin typeface="Calibri"/>
              <a:ea typeface="Calibri"/>
              <a:cs typeface="Calibri"/>
              <a:sym typeface="Calibri"/>
            </a:endParaRPr>
          </a:p>
        </p:txBody>
      </p:sp>
      <p:sp>
        <p:nvSpPr>
          <p:cNvPr id="247" name="Google Shape;247;p9"/>
          <p:cNvSpPr txBox="1"/>
          <p:nvPr/>
        </p:nvSpPr>
        <p:spPr>
          <a:xfrm>
            <a:off x="1730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Registro de incidentes, tutorías, disciplina y méritos del estudiante.</a:t>
            </a:r>
            <a:endParaRPr b="0" i="0" sz="1500" u="none" cap="none" strike="noStrike">
              <a:solidFill>
                <a:schemeClr val="dk1"/>
              </a:solidFill>
              <a:latin typeface="Calibri"/>
              <a:ea typeface="Calibri"/>
              <a:cs typeface="Calibri"/>
              <a:sym typeface="Calibri"/>
            </a:endParaRPr>
          </a:p>
        </p:txBody>
      </p:sp>
      <p:sp>
        <p:nvSpPr>
          <p:cNvPr id="248" name="Google Shape;248;p9"/>
          <p:cNvSpPr txBox="1"/>
          <p:nvPr/>
        </p:nvSpPr>
        <p:spPr>
          <a:xfrm>
            <a:off x="640080" y="5852160"/>
            <a:ext cx="1090879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Fortaleza: ecosistema modular muy completo. Falta: seguimiento emocional diario, alertas por ánimo bajo e IA de bienestar.</a:t>
            </a:r>
            <a:endParaRPr b="0" i="0" sz="1400" u="none" cap="none" strike="noStrike">
              <a:solidFill>
                <a:schemeClr val="dk1"/>
              </a:solidFill>
              <a:latin typeface="Calibri"/>
              <a:ea typeface="Calibri"/>
              <a:cs typeface="Calibri"/>
              <a:sym typeface="Calibri"/>
            </a:endParaRPr>
          </a:p>
        </p:txBody>
      </p:sp>
      <p:sp>
        <p:nvSpPr>
          <p:cNvPr id="249" name="Google Shape;249;p9"/>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
        <p:nvSpPr>
          <p:cNvPr id="300" name="Tarjeta extra 300"/>
          <p:cNvSpPr/>
          <p:nvPr/>
        </p:nvSpPr>
        <p:spPr>
          <a:xfrm>
            <a:off x="4343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01" name="Tarjeta extra 301"/>
          <p:cNvPicPr preferRelativeResize="0"/>
          <p:nvPr/>
        </p:nvPicPr>
        <p:blipFill rotWithShape="1">
          <a:blip r:embed="rId5">
            <a:alphaModFix/>
          </a:blip>
          <a:srcRect b="0" l="0" r="0" t="0"/>
          <a:stretch/>
        </p:blipFill>
        <p:spPr>
          <a:xfrm>
            <a:off x="4593000" y="4388000"/>
            <a:ext cx="640000" cy="640000"/>
          </a:xfrm>
          <a:prstGeom prst="rect">
            <a:avLst/>
          </a:prstGeom>
          <a:noFill/>
          <a:ln>
            <a:noFill/>
          </a:ln>
        </p:spPr>
      </p:pic>
      <p:sp>
        <p:nvSpPr>
          <p:cNvPr id="302" name="Tarjeta extra 302"/>
          <p:cNvSpPr txBox="1"/>
          <p:nvPr/>
        </p:nvSpPr>
        <p:spPr>
          <a:xfrm>
            <a:off x="5433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Administración</a:t>
            </a:r>
            <a:endParaRPr b="0" i="0" sz="2000" u="none" cap="none" strike="noStrike">
              <a:solidFill>
                <a:schemeClr val="dk1"/>
              </a:solidFill>
              <a:latin typeface="Calibri"/>
              <a:ea typeface="Calibri"/>
              <a:cs typeface="Calibri"/>
              <a:sym typeface="Calibri"/>
            </a:endParaRPr>
          </a:p>
        </p:txBody>
      </p:sp>
      <p:sp>
        <p:nvSpPr>
          <p:cNvPr id="303" name="Tarjeta extra 303"/>
          <p:cNvSpPr txBox="1"/>
          <p:nvPr/>
        </p:nvSpPr>
        <p:spPr>
          <a:xfrm>
            <a:off x="5433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Perfiles de estudiantes y familias, estadísticas y permisos de usuario.</a:t>
            </a:r>
            <a:endParaRPr b="0" i="0" sz="1500" u="none" cap="none" strike="noStrike">
              <a:solidFill>
                <a:schemeClr val="dk1"/>
              </a:solidFill>
              <a:latin typeface="Calibri"/>
              <a:ea typeface="Calibri"/>
              <a:cs typeface="Calibri"/>
              <a:sym typeface="Calibri"/>
            </a:endParaRPr>
          </a:p>
        </p:txBody>
      </p:sp>
      <p:sp>
        <p:nvSpPr>
          <p:cNvPr id="310" name="Tarjeta extra 310"/>
          <p:cNvSpPr/>
          <p:nvPr/>
        </p:nvSpPr>
        <p:spPr>
          <a:xfrm>
            <a:off x="8046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11" name="Tarjeta extra 311"/>
          <p:cNvPicPr preferRelativeResize="0"/>
          <p:nvPr/>
        </p:nvPicPr>
        <p:blipFill rotWithShape="1">
          <a:blip r:embed="rId7">
            <a:alphaModFix/>
          </a:blip>
          <a:srcRect b="0" l="0" r="0" t="0"/>
          <a:stretch/>
        </p:blipFill>
        <p:spPr>
          <a:xfrm>
            <a:off x="8296000" y="4388000"/>
            <a:ext cx="640000" cy="640000"/>
          </a:xfrm>
          <a:prstGeom prst="rect">
            <a:avLst/>
          </a:prstGeom>
          <a:noFill/>
          <a:ln>
            <a:noFill/>
          </a:ln>
        </p:spPr>
      </p:pic>
      <p:sp>
        <p:nvSpPr>
          <p:cNvPr id="312" name="Tarjeta extra 312"/>
          <p:cNvSpPr txBox="1"/>
          <p:nvPr/>
        </p:nvSpPr>
        <p:spPr>
          <a:xfrm>
            <a:off x="9136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A la carta</a:t>
            </a:r>
            <a:endParaRPr b="0" i="0" sz="2000" u="none" cap="none" strike="noStrike">
              <a:solidFill>
                <a:schemeClr val="dk1"/>
              </a:solidFill>
              <a:latin typeface="Calibri"/>
              <a:ea typeface="Calibri"/>
              <a:cs typeface="Calibri"/>
              <a:sym typeface="Calibri"/>
            </a:endParaRPr>
          </a:p>
        </p:txBody>
      </p:sp>
      <p:sp>
        <p:nvSpPr>
          <p:cNvPr id="313" name="Tarjeta extra 313"/>
          <p:cNvSpPr txBox="1"/>
          <p:nvPr/>
        </p:nvSpPr>
        <p:spPr>
          <a:xfrm>
            <a:off x="9136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También transporte, extracurriculares, admisiones y analítica; con API y app.</a:t>
            </a:r>
            <a:endParaRPr b="0" i="0" sz="1500" u="none" cap="none" strike="noStrike">
              <a:solidFill>
                <a:schemeClr val="dk1"/>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26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26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26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26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52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52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52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52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78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78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78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78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104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104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104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104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130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0" name="Google Shape;230;p9"/>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01  ·  EL PROBLEMA</a:t>
            </a:r>
            <a:endParaRPr b="0" i="0" sz="1200" u="none" cap="none" strike="noStrike">
              <a:solidFill>
                <a:schemeClr val="dk1"/>
              </a:solidFill>
              <a:latin typeface="Calibri"/>
              <a:ea typeface="Calibri"/>
              <a:cs typeface="Calibri"/>
              <a:sym typeface="Calibri"/>
            </a:endParaRPr>
          </a:p>
        </p:txBody>
      </p:sp>
      <p:sp>
        <p:nvSpPr>
          <p:cNvPr id="231" name="Google Shape;231;p9"/>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Q10: qué ofrece</a:t>
            </a:r>
            <a:endParaRPr sz="3400"/>
          </a:p>
        </p:txBody>
      </p:sp>
      <p:sp>
        <p:nvSpPr>
          <p:cNvPr id="232" name="Google Shape;232;p9"/>
          <p:cNvSpPr/>
          <p:nvPr/>
        </p:nvSpPr>
        <p:spPr>
          <a:xfrm>
            <a:off x="640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3" name="Google Shape;233;p9"/>
          <p:cNvPicPr preferRelativeResize="0"/>
          <p:nvPr/>
        </p:nvPicPr>
        <p:blipFill rotWithShape="1">
          <a:blip r:embed="rId6">
            <a:alphaModFix/>
          </a:blip>
          <a:srcRect b="0" l="0" r="0" t="0"/>
          <a:stretch/>
        </p:blipFill>
        <p:spPr>
          <a:xfrm>
            <a:off x="890000" y="2377000"/>
            <a:ext cx="640000" cy="640000"/>
          </a:xfrm>
          <a:prstGeom prst="rect">
            <a:avLst/>
          </a:prstGeom>
          <a:noFill/>
          <a:ln>
            <a:noFill/>
          </a:ln>
        </p:spPr>
      </p:pic>
      <p:sp>
        <p:nvSpPr>
          <p:cNvPr id="234" name="Google Shape;234;p9"/>
          <p:cNvSpPr txBox="1"/>
          <p:nvPr/>
        </p:nvSpPr>
        <p:spPr>
          <a:xfrm>
            <a:off x="1730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Gestión académica</a:t>
            </a:r>
            <a:endParaRPr b="0" i="0" sz="2000" u="none" cap="none" strike="noStrike">
              <a:solidFill>
                <a:schemeClr val="dk1"/>
              </a:solidFill>
              <a:latin typeface="Calibri"/>
              <a:ea typeface="Calibri"/>
              <a:cs typeface="Calibri"/>
              <a:sym typeface="Calibri"/>
            </a:endParaRPr>
          </a:p>
        </p:txBody>
      </p:sp>
      <p:sp>
        <p:nvSpPr>
          <p:cNvPr id="235" name="Google Shape;235;p9"/>
          <p:cNvSpPr txBox="1"/>
          <p:nvPr/>
        </p:nvSpPr>
        <p:spPr>
          <a:xfrm>
            <a:off x="1730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Matrículas, horarios, registro de notas y evaluación docente.</a:t>
            </a:r>
            <a:endParaRPr b="0" i="0" sz="1500" u="none" cap="none" strike="noStrike">
              <a:solidFill>
                <a:schemeClr val="dk1"/>
              </a:solidFill>
              <a:latin typeface="Calibri"/>
              <a:ea typeface="Calibri"/>
              <a:cs typeface="Calibri"/>
              <a:sym typeface="Calibri"/>
            </a:endParaRPr>
          </a:p>
        </p:txBody>
      </p:sp>
      <p:sp>
        <p:nvSpPr>
          <p:cNvPr id="236" name="Google Shape;236;p9"/>
          <p:cNvSpPr/>
          <p:nvPr/>
        </p:nvSpPr>
        <p:spPr>
          <a:xfrm>
            <a:off x="4343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7" name="Google Shape;237;p9"/>
          <p:cNvPicPr preferRelativeResize="0"/>
          <p:nvPr/>
        </p:nvPicPr>
        <p:blipFill rotWithShape="1">
          <a:blip r:embed="rId2">
            <a:alphaModFix/>
          </a:blip>
          <a:srcRect b="0" l="0" r="0" t="0"/>
          <a:stretch/>
        </p:blipFill>
        <p:spPr>
          <a:xfrm>
            <a:off x="4593000" y="2377000"/>
            <a:ext cx="640000" cy="640000"/>
          </a:xfrm>
          <a:prstGeom prst="rect">
            <a:avLst/>
          </a:prstGeom>
          <a:noFill/>
          <a:ln>
            <a:noFill/>
          </a:ln>
        </p:spPr>
      </p:pic>
      <p:sp>
        <p:nvSpPr>
          <p:cNvPr id="238" name="Google Shape;238;p9"/>
          <p:cNvSpPr txBox="1"/>
          <p:nvPr/>
        </p:nvSpPr>
        <p:spPr>
          <a:xfrm>
            <a:off x="5433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Admisiones</a:t>
            </a:r>
            <a:endParaRPr b="0" i="0" sz="2000" u="none" cap="none" strike="noStrike">
              <a:solidFill>
                <a:schemeClr val="dk1"/>
              </a:solidFill>
              <a:latin typeface="Calibri"/>
              <a:ea typeface="Calibri"/>
              <a:cs typeface="Calibri"/>
              <a:sym typeface="Calibri"/>
            </a:endParaRPr>
          </a:p>
        </p:txBody>
      </p:sp>
      <p:sp>
        <p:nvSpPr>
          <p:cNvPr id="239" name="Google Shape;239;p9"/>
          <p:cNvSpPr txBox="1"/>
          <p:nvPr/>
        </p:nvSpPr>
        <p:spPr>
          <a:xfrm>
            <a:off x="5433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Inscripciones, renovaciones masivas y graduaciones.</a:t>
            </a:r>
            <a:endParaRPr b="0" i="0" sz="1500" u="none" cap="none" strike="noStrike">
              <a:solidFill>
                <a:schemeClr val="dk1"/>
              </a:solidFill>
              <a:latin typeface="Calibri"/>
              <a:ea typeface="Calibri"/>
              <a:cs typeface="Calibri"/>
              <a:sym typeface="Calibri"/>
            </a:endParaRPr>
          </a:p>
        </p:txBody>
      </p:sp>
      <p:sp>
        <p:nvSpPr>
          <p:cNvPr id="240" name="Google Shape;240;p9"/>
          <p:cNvSpPr/>
          <p:nvPr/>
        </p:nvSpPr>
        <p:spPr>
          <a:xfrm>
            <a:off x="8046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1" name="Google Shape;241;p9"/>
          <p:cNvPicPr preferRelativeResize="0"/>
          <p:nvPr/>
        </p:nvPicPr>
        <p:blipFill rotWithShape="1">
          <a:blip r:embed="rId3">
            <a:alphaModFix/>
          </a:blip>
          <a:srcRect b="0" l="0" r="0" t="0"/>
          <a:stretch/>
        </p:blipFill>
        <p:spPr>
          <a:xfrm>
            <a:off x="8296000" y="2377000"/>
            <a:ext cx="640000" cy="640000"/>
          </a:xfrm>
          <a:prstGeom prst="rect">
            <a:avLst/>
          </a:prstGeom>
          <a:noFill/>
          <a:ln>
            <a:noFill/>
          </a:ln>
        </p:spPr>
      </p:pic>
      <p:sp>
        <p:nvSpPr>
          <p:cNvPr id="242" name="Google Shape;242;p9"/>
          <p:cNvSpPr txBox="1"/>
          <p:nvPr/>
        </p:nvSpPr>
        <p:spPr>
          <a:xfrm>
            <a:off x="9136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Cobros</a:t>
            </a:r>
            <a:endParaRPr b="0" i="0" sz="2000" u="none" cap="none" strike="noStrike">
              <a:solidFill>
                <a:schemeClr val="dk1"/>
              </a:solidFill>
              <a:latin typeface="Calibri"/>
              <a:ea typeface="Calibri"/>
              <a:cs typeface="Calibri"/>
              <a:sym typeface="Calibri"/>
            </a:endParaRPr>
          </a:p>
        </p:txBody>
      </p:sp>
      <p:sp>
        <p:nvSpPr>
          <p:cNvPr id="243" name="Google Shape;243;p9"/>
          <p:cNvSpPr txBox="1"/>
          <p:nvPr/>
        </p:nvSpPr>
        <p:spPr>
          <a:xfrm>
            <a:off x="9136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Facturación de matrículas y recaudos en la misma plataforma.</a:t>
            </a:r>
            <a:endParaRPr b="0" i="0" sz="1500" u="none" cap="none" strike="noStrike">
              <a:solidFill>
                <a:schemeClr val="dk1"/>
              </a:solidFill>
              <a:latin typeface="Calibri"/>
              <a:ea typeface="Calibri"/>
              <a:cs typeface="Calibri"/>
              <a:sym typeface="Calibri"/>
            </a:endParaRPr>
          </a:p>
        </p:txBody>
      </p:sp>
      <p:sp>
        <p:nvSpPr>
          <p:cNvPr id="244" name="Google Shape;244;p9"/>
          <p:cNvSpPr/>
          <p:nvPr/>
        </p:nvSpPr>
        <p:spPr>
          <a:xfrm>
            <a:off x="640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5" name="Google Shape;245;p9"/>
          <p:cNvPicPr preferRelativeResize="0"/>
          <p:nvPr/>
        </p:nvPicPr>
        <p:blipFill rotWithShape="1">
          <a:blip r:embed="rId4">
            <a:alphaModFix/>
          </a:blip>
          <a:srcRect b="0" l="0" r="0" t="0"/>
          <a:stretch/>
        </p:blipFill>
        <p:spPr>
          <a:xfrm>
            <a:off x="890000" y="4388000"/>
            <a:ext cx="640000" cy="640000"/>
          </a:xfrm>
          <a:prstGeom prst="rect">
            <a:avLst/>
          </a:prstGeom>
          <a:noFill/>
          <a:ln>
            <a:noFill/>
          </a:ln>
        </p:spPr>
      </p:pic>
      <p:sp>
        <p:nvSpPr>
          <p:cNvPr id="246" name="Google Shape;246;p9"/>
          <p:cNvSpPr txBox="1"/>
          <p:nvPr/>
        </p:nvSpPr>
        <p:spPr>
          <a:xfrm>
            <a:off x="1730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Educación virtual</a:t>
            </a:r>
            <a:endParaRPr b="0" i="0" sz="2000" u="none" cap="none" strike="noStrike">
              <a:solidFill>
                <a:schemeClr val="dk1"/>
              </a:solidFill>
              <a:latin typeface="Calibri"/>
              <a:ea typeface="Calibri"/>
              <a:cs typeface="Calibri"/>
              <a:sym typeface="Calibri"/>
            </a:endParaRPr>
          </a:p>
        </p:txBody>
      </p:sp>
      <p:sp>
        <p:nvSpPr>
          <p:cNvPr id="247" name="Google Shape;247;p9"/>
          <p:cNvSpPr txBox="1"/>
          <p:nvPr/>
        </p:nvSpPr>
        <p:spPr>
          <a:xfrm>
            <a:off x="1730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Aula virtual (LMS) integrada con la parte académica.</a:t>
            </a:r>
            <a:endParaRPr b="0" i="0" sz="1500" u="none" cap="none" strike="noStrike">
              <a:solidFill>
                <a:schemeClr val="dk1"/>
              </a:solidFill>
              <a:latin typeface="Calibri"/>
              <a:ea typeface="Calibri"/>
              <a:cs typeface="Calibri"/>
              <a:sym typeface="Calibri"/>
            </a:endParaRPr>
          </a:p>
        </p:txBody>
      </p:sp>
      <p:sp>
        <p:nvSpPr>
          <p:cNvPr id="248" name="Google Shape;248;p9"/>
          <p:cNvSpPr txBox="1"/>
          <p:nvPr/>
        </p:nvSpPr>
        <p:spPr>
          <a:xfrm>
            <a:off x="640080" y="5852160"/>
            <a:ext cx="1090879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Fortaleza: todo en la nube, con CRM y aula virtual. Falta: bienestar emocional y alertas tempranas.</a:t>
            </a:r>
            <a:endParaRPr b="0" i="0" sz="1400" u="none" cap="none" strike="noStrike">
              <a:solidFill>
                <a:schemeClr val="dk1"/>
              </a:solidFill>
              <a:latin typeface="Calibri"/>
              <a:ea typeface="Calibri"/>
              <a:cs typeface="Calibri"/>
              <a:sym typeface="Calibri"/>
            </a:endParaRPr>
          </a:p>
        </p:txBody>
      </p:sp>
      <p:sp>
        <p:nvSpPr>
          <p:cNvPr id="249" name="Google Shape;249;p9"/>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
        <p:nvSpPr>
          <p:cNvPr id="300" name="Tarjeta extra 300"/>
          <p:cNvSpPr/>
          <p:nvPr/>
        </p:nvSpPr>
        <p:spPr>
          <a:xfrm>
            <a:off x="4343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01" name="Tarjeta extra 301"/>
          <p:cNvPicPr preferRelativeResize="0"/>
          <p:nvPr/>
        </p:nvPicPr>
        <p:blipFill rotWithShape="1">
          <a:blip r:embed="rId5">
            <a:alphaModFix/>
          </a:blip>
          <a:srcRect b="0" l="0" r="0" t="0"/>
          <a:stretch/>
        </p:blipFill>
        <p:spPr>
          <a:xfrm>
            <a:off x="4593000" y="4388000"/>
            <a:ext cx="640000" cy="640000"/>
          </a:xfrm>
          <a:prstGeom prst="rect">
            <a:avLst/>
          </a:prstGeom>
          <a:noFill/>
          <a:ln>
            <a:noFill/>
          </a:ln>
        </p:spPr>
      </p:pic>
      <p:sp>
        <p:nvSpPr>
          <p:cNvPr id="302" name="Tarjeta extra 302"/>
          <p:cNvSpPr txBox="1"/>
          <p:nvPr/>
        </p:nvSpPr>
        <p:spPr>
          <a:xfrm>
            <a:off x="5433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CRM comercial</a:t>
            </a:r>
            <a:endParaRPr b="0" i="0" sz="2000" u="none" cap="none" strike="noStrike">
              <a:solidFill>
                <a:schemeClr val="dk1"/>
              </a:solidFill>
              <a:latin typeface="Calibri"/>
              <a:ea typeface="Calibri"/>
              <a:cs typeface="Calibri"/>
              <a:sym typeface="Calibri"/>
            </a:endParaRPr>
          </a:p>
        </p:txBody>
      </p:sp>
      <p:sp>
        <p:nvSpPr>
          <p:cNvPr id="303" name="Tarjeta extra 303"/>
          <p:cNvSpPr txBox="1"/>
          <p:nvPr/>
        </p:nvSpPr>
        <p:spPr>
          <a:xfrm>
            <a:off x="5433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Seguimiento de prospectos para captar nuevos estudiantes.</a:t>
            </a:r>
            <a:endParaRPr b="0" i="0" sz="1500" u="none" cap="none" strike="noStrike">
              <a:solidFill>
                <a:schemeClr val="dk1"/>
              </a:solidFill>
              <a:latin typeface="Calibri"/>
              <a:ea typeface="Calibri"/>
              <a:cs typeface="Calibri"/>
              <a:sym typeface="Calibri"/>
            </a:endParaRPr>
          </a:p>
        </p:txBody>
      </p:sp>
      <p:sp>
        <p:nvSpPr>
          <p:cNvPr id="310" name="Tarjeta extra 310"/>
          <p:cNvSpPr/>
          <p:nvPr/>
        </p:nvSpPr>
        <p:spPr>
          <a:xfrm>
            <a:off x="8046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11" name="Tarjeta extra 311"/>
          <p:cNvPicPr preferRelativeResize="0"/>
          <p:nvPr/>
        </p:nvPicPr>
        <p:blipFill rotWithShape="1">
          <a:blip r:embed="rId7">
            <a:alphaModFix/>
          </a:blip>
          <a:srcRect b="0" l="0" r="0" t="0"/>
          <a:stretch/>
        </p:blipFill>
        <p:spPr>
          <a:xfrm>
            <a:off x="8296000" y="4388000"/>
            <a:ext cx="640000" cy="640000"/>
          </a:xfrm>
          <a:prstGeom prst="rect">
            <a:avLst/>
          </a:prstGeom>
          <a:noFill/>
          <a:ln>
            <a:noFill/>
          </a:ln>
        </p:spPr>
      </p:pic>
      <p:sp>
        <p:nvSpPr>
          <p:cNvPr id="312" name="Tarjeta extra 312"/>
          <p:cNvSpPr txBox="1"/>
          <p:nvPr/>
        </p:nvSpPr>
        <p:spPr>
          <a:xfrm>
            <a:off x="9136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Escala</a:t>
            </a:r>
            <a:endParaRPr b="0" i="0" sz="2000" u="none" cap="none" strike="noStrike">
              <a:solidFill>
                <a:schemeClr val="dk1"/>
              </a:solidFill>
              <a:latin typeface="Calibri"/>
              <a:ea typeface="Calibri"/>
              <a:cs typeface="Calibri"/>
              <a:sym typeface="Calibri"/>
            </a:endParaRPr>
          </a:p>
        </p:txBody>
      </p:sp>
      <p:sp>
        <p:nvSpPr>
          <p:cNvPr id="313" name="Tarjeta extra 313"/>
          <p:cNvSpPr txBox="1"/>
          <p:nvPr/>
        </p:nvSpPr>
        <p:spPr>
          <a:xfrm>
            <a:off x="9136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Software en la nube de Uparsistem con más de 3.000 instituciones en Latinoamérica.</a:t>
            </a:r>
            <a:endParaRPr b="0" i="0" sz="1500" u="none" cap="none" strike="noStrike">
              <a:solidFill>
                <a:schemeClr val="dk1"/>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26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26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26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26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52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52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52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52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78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78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78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78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104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104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104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104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130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0" name="Google Shape;230;p9"/>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01  ·  EL PROBLEMA</a:t>
            </a:r>
            <a:endParaRPr b="0" i="0" sz="1200" u="none" cap="none" strike="noStrike">
              <a:solidFill>
                <a:schemeClr val="dk1"/>
              </a:solidFill>
              <a:latin typeface="Calibri"/>
              <a:ea typeface="Calibri"/>
              <a:cs typeface="Calibri"/>
              <a:sym typeface="Calibri"/>
            </a:endParaRPr>
          </a:p>
        </p:txBody>
      </p:sp>
      <p:sp>
        <p:nvSpPr>
          <p:cNvPr id="231" name="Google Shape;231;p9"/>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Akros: qué ofrece</a:t>
            </a:r>
            <a:endParaRPr sz="3400"/>
          </a:p>
        </p:txBody>
      </p:sp>
      <p:sp>
        <p:nvSpPr>
          <p:cNvPr id="232" name="Google Shape;232;p9"/>
          <p:cNvSpPr/>
          <p:nvPr/>
        </p:nvSpPr>
        <p:spPr>
          <a:xfrm>
            <a:off x="640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3" name="Google Shape;233;p9"/>
          <p:cNvPicPr preferRelativeResize="0"/>
          <p:nvPr/>
        </p:nvPicPr>
        <p:blipFill rotWithShape="1">
          <a:blip r:embed="rId6">
            <a:alphaModFix/>
          </a:blip>
          <a:srcRect b="0" l="0" r="0" t="0"/>
          <a:stretch/>
        </p:blipFill>
        <p:spPr>
          <a:xfrm>
            <a:off x="890000" y="2377000"/>
            <a:ext cx="640000" cy="640000"/>
          </a:xfrm>
          <a:prstGeom prst="rect">
            <a:avLst/>
          </a:prstGeom>
          <a:noFill/>
          <a:ln>
            <a:noFill/>
          </a:ln>
        </p:spPr>
      </p:pic>
      <p:sp>
        <p:nvSpPr>
          <p:cNvPr id="234" name="Google Shape;234;p9"/>
          <p:cNvSpPr txBox="1"/>
          <p:nvPr/>
        </p:nvSpPr>
        <p:spPr>
          <a:xfrm>
            <a:off x="1730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A la medida</a:t>
            </a:r>
            <a:endParaRPr b="0" i="0" sz="2000" u="none" cap="none" strike="noStrike">
              <a:solidFill>
                <a:schemeClr val="dk1"/>
              </a:solidFill>
              <a:latin typeface="Calibri"/>
              <a:ea typeface="Calibri"/>
              <a:cs typeface="Calibri"/>
              <a:sym typeface="Calibri"/>
            </a:endParaRPr>
          </a:p>
        </p:txBody>
      </p:sp>
      <p:sp>
        <p:nvSpPr>
          <p:cNvPr id="235" name="Google Shape;235;p9"/>
          <p:cNvSpPr txBox="1"/>
          <p:nvPr/>
        </p:nvSpPr>
        <p:spPr>
          <a:xfrm>
            <a:off x="1730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Empresa de Medellín que desarrolla software a la medida para instituciones educativas.</a:t>
            </a:r>
            <a:endParaRPr b="0" i="0" sz="1500" u="none" cap="none" strike="noStrike">
              <a:solidFill>
                <a:schemeClr val="dk1"/>
              </a:solidFill>
              <a:latin typeface="Calibri"/>
              <a:ea typeface="Calibri"/>
              <a:cs typeface="Calibri"/>
              <a:sym typeface="Calibri"/>
            </a:endParaRPr>
          </a:p>
        </p:txBody>
      </p:sp>
      <p:sp>
        <p:nvSpPr>
          <p:cNvPr id="236" name="Google Shape;236;p9"/>
          <p:cNvSpPr/>
          <p:nvPr/>
        </p:nvSpPr>
        <p:spPr>
          <a:xfrm>
            <a:off x="4343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7" name="Google Shape;237;p9"/>
          <p:cNvPicPr preferRelativeResize="0"/>
          <p:nvPr/>
        </p:nvPicPr>
        <p:blipFill rotWithShape="1">
          <a:blip r:embed="rId2">
            <a:alphaModFix/>
          </a:blip>
          <a:srcRect b="0" l="0" r="0" t="0"/>
          <a:stretch/>
        </p:blipFill>
        <p:spPr>
          <a:xfrm>
            <a:off x="4593000" y="2377000"/>
            <a:ext cx="640000" cy="640000"/>
          </a:xfrm>
          <a:prstGeom prst="rect">
            <a:avLst/>
          </a:prstGeom>
          <a:noFill/>
          <a:ln>
            <a:noFill/>
          </a:ln>
        </p:spPr>
      </p:pic>
      <p:sp>
        <p:nvSpPr>
          <p:cNvPr id="238" name="Google Shape;238;p9"/>
          <p:cNvSpPr txBox="1"/>
          <p:nvPr/>
        </p:nvSpPr>
        <p:spPr>
          <a:xfrm>
            <a:off x="5433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Planillas y notas</a:t>
            </a:r>
            <a:endParaRPr b="0" i="0" sz="2000" u="none" cap="none" strike="noStrike">
              <a:solidFill>
                <a:schemeClr val="dk1"/>
              </a:solidFill>
              <a:latin typeface="Calibri"/>
              <a:ea typeface="Calibri"/>
              <a:cs typeface="Calibri"/>
              <a:sym typeface="Calibri"/>
            </a:endParaRPr>
          </a:p>
        </p:txBody>
      </p:sp>
      <p:sp>
        <p:nvSpPr>
          <p:cNvPr id="239" name="Google Shape;239;p9"/>
          <p:cNvSpPr txBox="1"/>
          <p:nvPr/>
        </p:nvSpPr>
        <p:spPr>
          <a:xfrm>
            <a:off x="5433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Planilla de digitación para el docente y consulta de notas para estudiantes y acudientes.</a:t>
            </a:r>
            <a:endParaRPr b="0" i="0" sz="1500" u="none" cap="none" strike="noStrike">
              <a:solidFill>
                <a:schemeClr val="dk1"/>
              </a:solidFill>
              <a:latin typeface="Calibri"/>
              <a:ea typeface="Calibri"/>
              <a:cs typeface="Calibri"/>
              <a:sym typeface="Calibri"/>
            </a:endParaRPr>
          </a:p>
        </p:txBody>
      </p:sp>
      <p:sp>
        <p:nvSpPr>
          <p:cNvPr id="240" name="Google Shape;240;p9"/>
          <p:cNvSpPr/>
          <p:nvPr/>
        </p:nvSpPr>
        <p:spPr>
          <a:xfrm>
            <a:off x="8046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1" name="Google Shape;241;p9"/>
          <p:cNvPicPr preferRelativeResize="0"/>
          <p:nvPr/>
        </p:nvPicPr>
        <p:blipFill rotWithShape="1">
          <a:blip r:embed="rId3">
            <a:alphaModFix/>
          </a:blip>
          <a:srcRect b="0" l="0" r="0" t="0"/>
          <a:stretch/>
        </p:blipFill>
        <p:spPr>
          <a:xfrm>
            <a:off x="8296000" y="2377000"/>
            <a:ext cx="640000" cy="640000"/>
          </a:xfrm>
          <a:prstGeom prst="rect">
            <a:avLst/>
          </a:prstGeom>
          <a:noFill/>
          <a:ln>
            <a:noFill/>
          </a:ln>
        </p:spPr>
      </p:pic>
      <p:sp>
        <p:nvSpPr>
          <p:cNvPr id="242" name="Google Shape;242;p9"/>
          <p:cNvSpPr txBox="1"/>
          <p:nvPr/>
        </p:nvSpPr>
        <p:spPr>
          <a:xfrm>
            <a:off x="9136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Aula virtual</a:t>
            </a:r>
            <a:endParaRPr b="0" i="0" sz="2000" u="none" cap="none" strike="noStrike">
              <a:solidFill>
                <a:schemeClr val="dk1"/>
              </a:solidFill>
              <a:latin typeface="Calibri"/>
              <a:ea typeface="Calibri"/>
              <a:cs typeface="Calibri"/>
              <a:sym typeface="Calibri"/>
            </a:endParaRPr>
          </a:p>
        </p:txBody>
      </p:sp>
      <p:sp>
        <p:nvSpPr>
          <p:cNvPr id="243" name="Google Shape;243;p9"/>
          <p:cNvSpPr txBox="1"/>
          <p:nvPr/>
        </p:nvSpPr>
        <p:spPr>
          <a:xfrm>
            <a:off x="9136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El docente comparte archivos, recibe trabajos, califica y comenta; hay muro tipo chat.</a:t>
            </a:r>
            <a:endParaRPr b="0" i="0" sz="1500" u="none" cap="none" strike="noStrike">
              <a:solidFill>
                <a:schemeClr val="dk1"/>
              </a:solidFill>
              <a:latin typeface="Calibri"/>
              <a:ea typeface="Calibri"/>
              <a:cs typeface="Calibri"/>
              <a:sym typeface="Calibri"/>
            </a:endParaRPr>
          </a:p>
        </p:txBody>
      </p:sp>
      <p:sp>
        <p:nvSpPr>
          <p:cNvPr id="244" name="Google Shape;244;p9"/>
          <p:cNvSpPr/>
          <p:nvPr/>
        </p:nvSpPr>
        <p:spPr>
          <a:xfrm>
            <a:off x="640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5" name="Google Shape;245;p9"/>
          <p:cNvPicPr preferRelativeResize="0"/>
          <p:nvPr/>
        </p:nvPicPr>
        <p:blipFill rotWithShape="1">
          <a:blip r:embed="rId4">
            <a:alphaModFix/>
          </a:blip>
          <a:srcRect b="0" l="0" r="0" t="0"/>
          <a:stretch/>
        </p:blipFill>
        <p:spPr>
          <a:xfrm>
            <a:off x="890000" y="4388000"/>
            <a:ext cx="640000" cy="640000"/>
          </a:xfrm>
          <a:prstGeom prst="rect">
            <a:avLst/>
          </a:prstGeom>
          <a:noFill/>
          <a:ln>
            <a:noFill/>
          </a:ln>
        </p:spPr>
      </p:pic>
      <p:sp>
        <p:nvSpPr>
          <p:cNvPr id="246" name="Google Shape;246;p9"/>
          <p:cNvSpPr txBox="1"/>
          <p:nvPr/>
        </p:nvSpPr>
        <p:spPr>
          <a:xfrm>
            <a:off x="1730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Pruebas tipo test</a:t>
            </a:r>
            <a:endParaRPr b="0" i="0" sz="2000" u="none" cap="none" strike="noStrike">
              <a:solidFill>
                <a:schemeClr val="dk1"/>
              </a:solidFill>
              <a:latin typeface="Calibri"/>
              <a:ea typeface="Calibri"/>
              <a:cs typeface="Calibri"/>
              <a:sym typeface="Calibri"/>
            </a:endParaRPr>
          </a:p>
        </p:txBody>
      </p:sp>
      <p:sp>
        <p:nvSpPr>
          <p:cNvPr id="247" name="Google Shape;247;p9"/>
          <p:cNvSpPr txBox="1"/>
          <p:nvPr/>
        </p:nvSpPr>
        <p:spPr>
          <a:xfrm>
            <a:off x="1730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Autoevaluación desde la cuenta del estudiante; resultados a la planilla docente.</a:t>
            </a:r>
            <a:endParaRPr b="0" i="0" sz="1500" u="none" cap="none" strike="noStrike">
              <a:solidFill>
                <a:schemeClr val="dk1"/>
              </a:solidFill>
              <a:latin typeface="Calibri"/>
              <a:ea typeface="Calibri"/>
              <a:cs typeface="Calibri"/>
              <a:sym typeface="Calibri"/>
            </a:endParaRPr>
          </a:p>
        </p:txBody>
      </p:sp>
      <p:sp>
        <p:nvSpPr>
          <p:cNvPr id="248" name="Google Shape;248;p9"/>
          <p:cNvSpPr txBox="1"/>
          <p:nvPr/>
        </p:nvSpPr>
        <p:spPr>
          <a:xfrm>
            <a:off x="640080" y="5852160"/>
            <a:ext cx="1090879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Fortaleza: cercanía y personalización local. Falta: seguimiento de bienestar emocional y alertas tempranas.</a:t>
            </a:r>
            <a:endParaRPr b="0" i="0" sz="1400" u="none" cap="none" strike="noStrike">
              <a:solidFill>
                <a:schemeClr val="dk1"/>
              </a:solidFill>
              <a:latin typeface="Calibri"/>
              <a:ea typeface="Calibri"/>
              <a:cs typeface="Calibri"/>
              <a:sym typeface="Calibri"/>
            </a:endParaRPr>
          </a:p>
        </p:txBody>
      </p:sp>
      <p:sp>
        <p:nvSpPr>
          <p:cNvPr id="249" name="Google Shape;249;p9"/>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
        <p:nvSpPr>
          <p:cNvPr id="300" name="Tarjeta extra 300"/>
          <p:cNvSpPr/>
          <p:nvPr/>
        </p:nvSpPr>
        <p:spPr>
          <a:xfrm>
            <a:off x="4343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01" name="Tarjeta extra 301"/>
          <p:cNvPicPr preferRelativeResize="0"/>
          <p:nvPr/>
        </p:nvPicPr>
        <p:blipFill rotWithShape="1">
          <a:blip r:embed="rId5">
            <a:alphaModFix/>
          </a:blip>
          <a:srcRect b="0" l="0" r="0" t="0"/>
          <a:stretch/>
        </p:blipFill>
        <p:spPr>
          <a:xfrm>
            <a:off x="4593000" y="4388000"/>
            <a:ext cx="640000" cy="640000"/>
          </a:xfrm>
          <a:prstGeom prst="rect">
            <a:avLst/>
          </a:prstGeom>
          <a:noFill/>
          <a:ln>
            <a:noFill/>
          </a:ln>
        </p:spPr>
      </p:pic>
      <p:sp>
        <p:nvSpPr>
          <p:cNvPr id="302" name="Tarjeta extra 302"/>
          <p:cNvSpPr txBox="1"/>
          <p:nvPr/>
        </p:nvSpPr>
        <p:spPr>
          <a:xfrm>
            <a:off x="5433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Sector oficial</a:t>
            </a:r>
            <a:endParaRPr b="0" i="0" sz="2000" u="none" cap="none" strike="noStrike">
              <a:solidFill>
                <a:schemeClr val="dk1"/>
              </a:solidFill>
              <a:latin typeface="Calibri"/>
              <a:ea typeface="Calibri"/>
              <a:cs typeface="Calibri"/>
              <a:sym typeface="Calibri"/>
            </a:endParaRPr>
          </a:p>
        </p:txBody>
      </p:sp>
      <p:sp>
        <p:nvSpPr>
          <p:cNvPr id="303" name="Tarjeta extra 303"/>
          <p:cNvSpPr txBox="1"/>
          <p:nvPr/>
        </p:nvSpPr>
        <p:spPr>
          <a:xfrm>
            <a:off x="5433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Contratada por instituciones educativas de Medellín, según registros de SECOP.</a:t>
            </a:r>
            <a:endParaRPr b="0" i="0" sz="1500" u="none" cap="none" strike="noStrike">
              <a:solidFill>
                <a:schemeClr val="dk1"/>
              </a:solidFill>
              <a:latin typeface="Calibri"/>
              <a:ea typeface="Calibri"/>
              <a:cs typeface="Calibri"/>
              <a:sym typeface="Calibri"/>
            </a:endParaRPr>
          </a:p>
        </p:txBody>
      </p:sp>
      <p:sp>
        <p:nvSpPr>
          <p:cNvPr id="310" name="Tarjeta extra 310"/>
          <p:cNvSpPr/>
          <p:nvPr/>
        </p:nvSpPr>
        <p:spPr>
          <a:xfrm>
            <a:off x="8046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11" name="Tarjeta extra 311"/>
          <p:cNvPicPr preferRelativeResize="0"/>
          <p:nvPr/>
        </p:nvPicPr>
        <p:blipFill rotWithShape="1">
          <a:blip r:embed="rId7">
            <a:alphaModFix/>
          </a:blip>
          <a:srcRect b="0" l="0" r="0" t="0"/>
          <a:stretch/>
        </p:blipFill>
        <p:spPr>
          <a:xfrm>
            <a:off x="8296000" y="4388000"/>
            <a:ext cx="640000" cy="640000"/>
          </a:xfrm>
          <a:prstGeom prst="rect">
            <a:avLst/>
          </a:prstGeom>
          <a:noFill/>
          <a:ln>
            <a:noFill/>
          </a:ln>
        </p:spPr>
      </p:pic>
      <p:sp>
        <p:nvSpPr>
          <p:cNvPr id="312" name="Tarjeta extra 312"/>
          <p:cNvSpPr txBox="1"/>
          <p:nvPr/>
        </p:nvSpPr>
        <p:spPr>
          <a:xfrm>
            <a:off x="9136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Nube y seguridad</a:t>
            </a:r>
            <a:endParaRPr b="0" i="0" sz="2000" u="none" cap="none" strike="noStrike">
              <a:solidFill>
                <a:schemeClr val="dk1"/>
              </a:solidFill>
              <a:latin typeface="Calibri"/>
              <a:ea typeface="Calibri"/>
              <a:cs typeface="Calibri"/>
              <a:sym typeface="Calibri"/>
            </a:endParaRPr>
          </a:p>
        </p:txBody>
      </p:sp>
      <p:sp>
        <p:nvSpPr>
          <p:cNvPr id="313" name="Tarjeta extra 313"/>
          <p:cNvSpPr txBox="1"/>
          <p:nvPr/>
        </p:nvSpPr>
        <p:spPr>
          <a:xfrm>
            <a:off x="9136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Integra y unifica bases de datos en servidores web.</a:t>
            </a:r>
            <a:endParaRPr b="0" i="0" sz="1500" u="none" cap="none" strike="noStrike">
              <a:solidFill>
                <a:schemeClr val="dk1"/>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26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26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26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26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52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52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52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52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78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78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78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78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104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104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104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104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130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0" name="Google Shape;230;p9"/>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01  ·  EL PROBLEMA</a:t>
            </a:r>
            <a:endParaRPr b="0" i="0" sz="1200" u="none" cap="none" strike="noStrike">
              <a:solidFill>
                <a:schemeClr val="dk1"/>
              </a:solidFill>
              <a:latin typeface="Calibri"/>
              <a:ea typeface="Calibri"/>
              <a:cs typeface="Calibri"/>
              <a:sym typeface="Calibri"/>
            </a:endParaRPr>
          </a:p>
        </p:txBody>
      </p:sp>
      <p:sp>
        <p:nvSpPr>
          <p:cNvPr id="231" name="Google Shape;231;p9"/>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Serena vs. plataformas académicas</a:t>
            </a:r>
            <a:endParaRPr sz="3400"/>
          </a:p>
        </p:txBody>
      </p:sp>
      <p:sp>
        <p:nvSpPr>
          <p:cNvPr id="248" name="Google Shape;248;p9"/>
          <p:cNvSpPr txBox="1"/>
          <p:nvPr/>
        </p:nvSpPr>
        <p:spPr>
          <a:xfrm>
            <a:off x="640080" y="5852160"/>
            <a:ext cx="1090879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 incluye  ◐ parcial  ✗ no incluye  — sin información pública hallada · Serena registra cartera (cargos y pagos), sin facturación ni tesorería.</a:t>
            </a:r>
            <a:endParaRPr b="0" i="0" sz="1400" u="none" cap="none" strike="noStrike">
              <a:solidFill>
                <a:schemeClr val="dk1"/>
              </a:solidFill>
              <a:latin typeface="Calibri"/>
              <a:ea typeface="Calibri"/>
              <a:cs typeface="Calibri"/>
              <a:sym typeface="Calibri"/>
            </a:endParaRPr>
          </a:p>
        </p:txBody>
      </p:sp>
      <p:sp>
        <p:nvSpPr>
          <p:cNvPr id="249" name="Google Shape;249;p9"/>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graphicFrame>
        <p:nvGraphicFramePr>
          <p:cNvPr id="250" name="Table 249"/>
          <p:cNvGraphicFramePr>
            <a:graphicFrameLocks noGrp="1"/>
          </p:cNvGraphicFramePr>
          <p:nvPr/>
        </p:nvGraphicFramePr>
        <p:xfrm>
          <a:off x="640080" y="1560000"/>
          <a:ext cx="10908790" cy="3850000"/>
        </p:xfrm>
        <a:graphic>
          <a:graphicData uri="http://schemas.openxmlformats.org/drawingml/2006/table">
            <a:tbl>
              <a:tblPr firstRow="1" bandRow="1">
                <a:tableStyleId>{5C22544A-7EE6-4342-B048-85BDC9FD1C3A}</a:tableStyleId>
              </a:tblPr>
              <a:tblGrid>
                <a:gridCol w="2945373"/>
                <a:gridCol w="1199967"/>
                <a:gridCol w="1309055"/>
                <a:gridCol w="1309055"/>
                <a:gridCol w="1309055"/>
                <a:gridCol w="1309055"/>
                <a:gridCol w="1527230"/>
              </a:tblGrid>
              <a:tr h="385000">
                <a:tc>
                  <a:txBody>
                    <a:bodyPr/>
                    <a:lstStyle/>
                    <a:p>
                      <a:pPr algn="l"/>
                      <a:r>
                        <a:rPr sz="1400" b="1">
                          <a:solidFill>
                            <a:srgbClr val="FFFFFF"/>
                          </a:solidFill>
                          <a:latin typeface="Calibri"/>
                        </a:rPr>
                        <a:t>Característica</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0E3B16"/>
                    </a:solidFill>
                  </a:tcPr>
                </a:tc>
                <a:tc>
                  <a:txBody>
                    <a:bodyPr/>
                    <a:lstStyle/>
                    <a:p>
                      <a:pPr algn="ctr"/>
                      <a:r>
                        <a:rPr sz="1400" b="1">
                          <a:solidFill>
                            <a:srgbClr val="FFFFFF"/>
                          </a:solidFill>
                          <a:latin typeface="Calibri"/>
                        </a:rPr>
                        <a:t>Serena</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0E3B16"/>
                    </a:solidFill>
                  </a:tcPr>
                </a:tc>
                <a:tc>
                  <a:txBody>
                    <a:bodyPr/>
                    <a:lstStyle/>
                    <a:p>
                      <a:pPr algn="ctr"/>
                      <a:r>
                        <a:rPr sz="1400" b="1">
                          <a:solidFill>
                            <a:srgbClr val="FFFFFF"/>
                          </a:solidFill>
                          <a:latin typeface="Calibri"/>
                        </a:rPr>
                        <a:t>Master2000</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0E3B16"/>
                    </a:solidFill>
                  </a:tcPr>
                </a:tc>
                <a:tc>
                  <a:txBody>
                    <a:bodyPr/>
                    <a:lstStyle/>
                    <a:p>
                      <a:pPr algn="ctr"/>
                      <a:r>
                        <a:rPr sz="1400" b="1">
                          <a:solidFill>
                            <a:srgbClr val="FFFFFF"/>
                          </a:solidFill>
                          <a:latin typeface="Calibri"/>
                        </a:rPr>
                        <a:t>Sinaí</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0E3B16"/>
                    </a:solidFill>
                  </a:tcPr>
                </a:tc>
                <a:tc>
                  <a:txBody>
                    <a:bodyPr/>
                    <a:lstStyle/>
                    <a:p>
                      <a:pPr algn="ctr"/>
                      <a:r>
                        <a:rPr sz="1400" b="1">
                          <a:solidFill>
                            <a:srgbClr val="FFFFFF"/>
                          </a:solidFill>
                          <a:latin typeface="Calibri"/>
                        </a:rPr>
                        <a:t>Phidias</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0E3B16"/>
                    </a:solidFill>
                  </a:tcPr>
                </a:tc>
                <a:tc>
                  <a:txBody>
                    <a:bodyPr/>
                    <a:lstStyle/>
                    <a:p>
                      <a:pPr algn="ctr"/>
                      <a:r>
                        <a:rPr sz="1400" b="1">
                          <a:solidFill>
                            <a:srgbClr val="FFFFFF"/>
                          </a:solidFill>
                          <a:latin typeface="Calibri"/>
                        </a:rPr>
                        <a:t>Q10</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0E3B16"/>
                    </a:solidFill>
                  </a:tcPr>
                </a:tc>
                <a:tc>
                  <a:txBody>
                    <a:bodyPr/>
                    <a:lstStyle/>
                    <a:p>
                      <a:pPr algn="ctr"/>
                      <a:r>
                        <a:rPr sz="1400" b="1">
                          <a:solidFill>
                            <a:srgbClr val="FFFFFF"/>
                          </a:solidFill>
                          <a:latin typeface="Calibri"/>
                        </a:rPr>
                        <a:t>Akros</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0E3B16"/>
                    </a:solidFill>
                  </a:tcPr>
                </a:tc>
              </a:tr>
              <a:tr h="385000">
                <a:tc>
                  <a:txBody>
                    <a:bodyPr/>
                    <a:lstStyle/>
                    <a:p>
                      <a:pPr algn="l"/>
                      <a:r>
                        <a:rPr sz="1400" b="1">
                          <a:solidFill>
                            <a:srgbClr val="1B2A1B"/>
                          </a:solidFill>
                          <a:latin typeface="Calibri"/>
                        </a:rPr>
                        <a:t>Notas y boletines</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r>
              <a:tr h="385000">
                <a:tc>
                  <a:txBody>
                    <a:bodyPr/>
                    <a:lstStyle/>
                    <a:p>
                      <a:pPr algn="l"/>
                      <a:r>
                        <a:rPr sz="1400" b="1">
                          <a:solidFill>
                            <a:srgbClr val="1B2A1B"/>
                          </a:solidFill>
                          <a:latin typeface="Calibri"/>
                        </a:rPr>
                        <a:t>Comunicación con familias</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C9840F"/>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C9840F"/>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r>
              <a:tr h="385000">
                <a:tc>
                  <a:txBody>
                    <a:bodyPr/>
                    <a:lstStyle/>
                    <a:p>
                      <a:pPr algn="l"/>
                      <a:r>
                        <a:rPr sz="1400" b="1">
                          <a:solidFill>
                            <a:srgbClr val="1B2A1B"/>
                          </a:solidFill>
                          <a:latin typeface="Calibri"/>
                        </a:rPr>
                        <a:t>Cobros y tesorería</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C9840F"/>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400">
                          <a:solidFill>
                            <a:srgbClr val="4F6B58"/>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400">
                          <a:solidFill>
                            <a:srgbClr val="4F6B58"/>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r>
              <a:tr h="385000">
                <a:tc>
                  <a:txBody>
                    <a:bodyPr/>
                    <a:lstStyle/>
                    <a:p>
                      <a:pPr algn="l"/>
                      <a:r>
                        <a:rPr sz="1400" b="1">
                          <a:solidFill>
                            <a:srgbClr val="1B2A1B"/>
                          </a:solidFill>
                          <a:latin typeface="Calibri"/>
                        </a:rPr>
                        <a:t>Observador y convivencia</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400">
                          <a:solidFill>
                            <a:srgbClr val="4F6B58"/>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400">
                          <a:solidFill>
                            <a:srgbClr val="4F6B58"/>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400">
                          <a:solidFill>
                            <a:srgbClr val="4F6B58"/>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r>
              <a:tr h="385000">
                <a:tc>
                  <a:txBody>
                    <a:bodyPr/>
                    <a:lstStyle/>
                    <a:p>
                      <a:pPr algn="l"/>
                      <a:r>
                        <a:rPr sz="1400" b="1">
                          <a:solidFill>
                            <a:srgbClr val="1B2A1B"/>
                          </a:solidFill>
                          <a:latin typeface="Calibri"/>
                        </a:rPr>
                        <a:t>Alerta académica o ausentismo</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400">
                          <a:solidFill>
                            <a:srgbClr val="4F6B58"/>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C9840F"/>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400">
                          <a:solidFill>
                            <a:srgbClr val="4F6B58"/>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400">
                          <a:solidFill>
                            <a:srgbClr val="4F6B58"/>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r>
              <a:tr h="385000">
                <a:tc>
                  <a:txBody>
                    <a:bodyPr/>
                    <a:lstStyle/>
                    <a:p>
                      <a:pPr algn="l"/>
                      <a:r>
                        <a:rPr sz="1400" b="1">
                          <a:solidFill>
                            <a:srgbClr val="1B2A1B"/>
                          </a:solidFill>
                          <a:latin typeface="Calibri"/>
                        </a:rPr>
                        <a:t>Bienestar emocional diario</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r>
              <a:tr h="385000">
                <a:tc>
                  <a:txBody>
                    <a:bodyPr/>
                    <a:lstStyle/>
                    <a:p>
                      <a:pPr algn="l"/>
                      <a:r>
                        <a:rPr sz="1400" b="1">
                          <a:solidFill>
                            <a:srgbClr val="1B2A1B"/>
                          </a:solidFill>
                          <a:latin typeface="Calibri"/>
                        </a:rPr>
                        <a:t>Alerta emocional y chat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r>
              <a:tr h="385000">
                <a:tc>
                  <a:txBody>
                    <a:bodyPr/>
                    <a:lstStyle/>
                    <a:p>
                      <a:pPr algn="l"/>
                      <a:r>
                        <a:rPr sz="1400" b="1">
                          <a:solidFill>
                            <a:srgbClr val="1B2A1B"/>
                          </a:solidFill>
                          <a:latin typeface="Calibri"/>
                        </a:rPr>
                        <a:t>Inteligencia artificial</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400">
                          <a:solidFill>
                            <a:srgbClr val="4F6B58"/>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E4572E"/>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400">
                          <a:solidFill>
                            <a:srgbClr val="4F6B58"/>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600" b="1">
                          <a:solidFill>
                            <a:srgbClr val="2E7D00"/>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c>
                  <a:txBody>
                    <a:bodyPr/>
                    <a:lstStyle/>
                    <a:p>
                      <a:pPr algn="ctr"/>
                      <a:r>
                        <a:rPr sz="1400">
                          <a:solidFill>
                            <a:srgbClr val="4F6B58"/>
                          </a:solidFill>
                          <a:latin typeface="Calibri"/>
                        </a:rPr>
                        <a:t>—</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FFFFFF"/>
                    </a:solidFill>
                  </a:tcPr>
                </a:tc>
              </a:tr>
              <a:tr h="385000">
                <a:tc>
                  <a:txBody>
                    <a:bodyPr/>
                    <a:lstStyle/>
                    <a:p>
                      <a:pPr algn="l"/>
                      <a:r>
                        <a:rPr sz="1400" b="1">
                          <a:solidFill>
                            <a:srgbClr val="1B2A1B"/>
                          </a:solidFill>
                          <a:latin typeface="Calibri"/>
                        </a:rPr>
                        <a:t>Costo para la institución</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400" b="1">
                          <a:solidFill>
                            <a:srgbClr val="1B2A1B"/>
                          </a:solidFill>
                          <a:latin typeface="Calibri"/>
                        </a:rPr>
                        <a:t>Gratis</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D3ECBF"/>
                    </a:solidFill>
                  </a:tcPr>
                </a:tc>
                <a:tc>
                  <a:txBody>
                    <a:bodyPr/>
                    <a:lstStyle/>
                    <a:p>
                      <a:pPr algn="ctr"/>
                      <a:r>
                        <a:rPr sz="1400">
                          <a:solidFill>
                            <a:srgbClr val="1B2A1B"/>
                          </a:solidFill>
                          <a:latin typeface="Calibri"/>
                        </a:rPr>
                        <a:t>Pago</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400">
                          <a:solidFill>
                            <a:srgbClr val="1B2A1B"/>
                          </a:solidFill>
                          <a:latin typeface="Calibri"/>
                        </a:rPr>
                        <a:t>Pago</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400">
                          <a:solidFill>
                            <a:srgbClr val="1B2A1B"/>
                          </a:solidFill>
                          <a:latin typeface="Calibri"/>
                        </a:rPr>
                        <a:t>Pago</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400">
                          <a:solidFill>
                            <a:srgbClr val="1B2A1B"/>
                          </a:solidFill>
                          <a:latin typeface="Calibri"/>
                        </a:rPr>
                        <a:t>Pago</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c>
                  <a:txBody>
                    <a:bodyPr/>
                    <a:lstStyle/>
                    <a:p>
                      <a:pPr algn="ctr"/>
                      <a:r>
                        <a:rPr sz="1400">
                          <a:solidFill>
                            <a:srgbClr val="1B2A1B"/>
                          </a:solidFill>
                          <a:latin typeface="Calibri"/>
                        </a:rPr>
                        <a:t>Pago</a:t>
                      </a:r>
                    </a:p>
                  </a:txBody>
                  <a:tcPr anchor="ctr" marL="80000" marR="80000" marT="20000" marB="20000">
                    <a:lnL w="9525">
                      <a:solidFill>
                        <a:srgbClr val="C5DDB5"/>
                      </a:solidFill>
                    </a:lnL>
                    <a:lnR w="9525">
                      <a:solidFill>
                        <a:srgbClr val="C5DDB5"/>
                      </a:solidFill>
                    </a:lnR>
                    <a:lnT w="9525">
                      <a:solidFill>
                        <a:srgbClr val="C5DDB5"/>
                      </a:solidFill>
                    </a:lnT>
                    <a:lnB w="9525">
                      <a:solidFill>
                        <a:srgbClr val="C5DDB5"/>
                      </a:solidFill>
                    </a:lnB>
                    <a:solidFill>
                      <a:srgbClr val="EAF5E1"/>
                    </a:solidFill>
                  </a:tcPr>
                </a:tc>
              </a:tr>
            </a:tbl>
          </a:graphicData>
        </a:graphic>
      </p:graphicFrame>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26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26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26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26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52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52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52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52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78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78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78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78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104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104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104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104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130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5" name="Google Shape;95;p4"/>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02  ·  LA SOLUCIÓN</a:t>
            </a:r>
            <a:endParaRPr b="0" i="0" sz="1200" u="none" cap="none" strike="noStrike">
              <a:solidFill>
                <a:schemeClr val="dk1"/>
              </a:solidFill>
              <a:latin typeface="Calibri"/>
              <a:ea typeface="Calibri"/>
              <a:cs typeface="Calibri"/>
              <a:sym typeface="Calibri"/>
            </a:endParaRPr>
          </a:p>
        </p:txBody>
      </p:sp>
      <p:sp>
        <p:nvSpPr>
          <p:cNvPr id="96" name="Google Shape;96;p4"/>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En qué es mejor Serena</a:t>
            </a:r>
            <a:endParaRPr sz="3400"/>
          </a:p>
        </p:txBody>
      </p:sp>
      <p:sp>
        <p:nvSpPr>
          <p:cNvPr id="97" name="Google Shape;97;p4"/>
          <p:cNvSpPr/>
          <p:nvPr/>
        </p:nvSpPr>
        <p:spPr>
          <a:xfrm>
            <a:off x="640080" y="1783080"/>
            <a:ext cx="3465576" cy="3429000"/>
          </a:xfrm>
          <a:prstGeom prst="roundRect">
            <a:avLst>
              <a:gd fmla="val 373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98" name="Google Shape;98;p4"/>
          <p:cNvPicPr preferRelativeResize="0"/>
          <p:nvPr/>
        </p:nvPicPr>
        <p:blipFill rotWithShape="1">
          <a:blip r:embed="rId5">
            <a:alphaModFix/>
          </a:blip>
          <a:srcRect b="0" l="0" r="0" t="0"/>
          <a:stretch/>
        </p:blipFill>
        <p:spPr>
          <a:xfrm>
            <a:off x="960120" y="2103120"/>
            <a:ext cx="777240" cy="777240"/>
          </a:xfrm>
          <a:prstGeom prst="rect">
            <a:avLst/>
          </a:prstGeom>
          <a:noFill/>
          <a:ln>
            <a:noFill/>
          </a:ln>
        </p:spPr>
      </p:pic>
      <p:sp>
        <p:nvSpPr>
          <p:cNvPr id="99" name="Google Shape;99;p4"/>
          <p:cNvSpPr txBox="1"/>
          <p:nvPr/>
        </p:nvSpPr>
        <p:spPr>
          <a:xfrm>
            <a:off x="960120" y="3063240"/>
            <a:ext cx="2834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200"/>
              <a:buFont typeface="Georgia"/>
              <a:buNone/>
            </a:pPr>
            <a:r>
              <a:rPr b="1" i="0" lang="en-US" sz="2200" u="none" cap="none" strike="noStrike">
                <a:solidFill>
                  <a:schemeClr val="dk2"/>
                </a:solidFill>
                <a:latin typeface="Georgia"/>
                <a:ea typeface="Georgia"/>
                <a:cs typeface="Georgia"/>
                <a:sym typeface="Georgia"/>
              </a:rPr>
              <a:t>Todo en uno</a:t>
            </a:r>
            <a:endParaRPr b="0" i="0" sz="2200" u="none" cap="none" strike="noStrike">
              <a:solidFill>
                <a:schemeClr val="dk1"/>
              </a:solidFill>
              <a:latin typeface="Calibri"/>
              <a:ea typeface="Calibri"/>
              <a:cs typeface="Calibri"/>
              <a:sym typeface="Calibri"/>
            </a:endParaRPr>
          </a:p>
        </p:txBody>
      </p:sp>
      <p:sp>
        <p:nvSpPr>
          <p:cNvPr id="100" name="Google Shape;100;p4"/>
          <p:cNvSpPr txBox="1"/>
          <p:nvPr/>
        </p:nvSpPr>
        <p:spPr>
          <a:xfrm>
            <a:off x="960120" y="3566160"/>
            <a:ext cx="283464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Gestión académica y bienestar emocional en la misma plataforma, con alertas tempranas.</a:t>
            </a:r>
            <a:endParaRPr b="0" i="0" sz="1500" u="none" cap="none" strike="noStrike">
              <a:solidFill>
                <a:schemeClr val="dk1"/>
              </a:solidFill>
              <a:latin typeface="Calibri"/>
              <a:ea typeface="Calibri"/>
              <a:cs typeface="Calibri"/>
              <a:sym typeface="Calibri"/>
            </a:endParaRPr>
          </a:p>
        </p:txBody>
      </p:sp>
      <p:sp>
        <p:nvSpPr>
          <p:cNvPr id="101" name="Google Shape;101;p4"/>
          <p:cNvSpPr/>
          <p:nvPr/>
        </p:nvSpPr>
        <p:spPr>
          <a:xfrm>
            <a:off x="4361688" y="1783080"/>
            <a:ext cx="3465576" cy="3429000"/>
          </a:xfrm>
          <a:prstGeom prst="roundRect">
            <a:avLst>
              <a:gd fmla="val 373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102" name="Google Shape;102;p4"/>
          <p:cNvPicPr preferRelativeResize="0"/>
          <p:nvPr/>
        </p:nvPicPr>
        <p:blipFill rotWithShape="1">
          <a:blip r:embed="rId2">
            <a:alphaModFix/>
          </a:blip>
          <a:srcRect b="0" l="0" r="0" t="0"/>
          <a:stretch/>
        </p:blipFill>
        <p:spPr>
          <a:xfrm>
            <a:off x="4681728" y="2103120"/>
            <a:ext cx="777240" cy="777240"/>
          </a:xfrm>
          <a:prstGeom prst="rect">
            <a:avLst/>
          </a:prstGeom>
          <a:noFill/>
          <a:ln>
            <a:noFill/>
          </a:ln>
        </p:spPr>
      </p:pic>
      <p:sp>
        <p:nvSpPr>
          <p:cNvPr id="103" name="Google Shape;103;p4"/>
          <p:cNvSpPr txBox="1"/>
          <p:nvPr/>
        </p:nvSpPr>
        <p:spPr>
          <a:xfrm>
            <a:off x="4681728" y="3063240"/>
            <a:ext cx="2834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200"/>
              <a:buFont typeface="Georgia"/>
              <a:buNone/>
            </a:pPr>
            <a:r>
              <a:rPr b="1" i="0" lang="en-US" sz="2200" u="none" cap="none" strike="noStrike">
                <a:solidFill>
                  <a:schemeClr val="dk2"/>
                </a:solidFill>
                <a:latin typeface="Georgia"/>
                <a:ea typeface="Georgia"/>
                <a:cs typeface="Georgia"/>
                <a:sym typeface="Georgia"/>
              </a:rPr>
              <a:t>Con IA</a:t>
            </a:r>
            <a:endParaRPr b="0" i="0" sz="2200" u="none" cap="none" strike="noStrike">
              <a:solidFill>
                <a:schemeClr val="dk1"/>
              </a:solidFill>
              <a:latin typeface="Calibri"/>
              <a:ea typeface="Calibri"/>
              <a:cs typeface="Calibri"/>
              <a:sym typeface="Calibri"/>
            </a:endParaRPr>
          </a:p>
        </p:txBody>
      </p:sp>
      <p:sp>
        <p:nvSpPr>
          <p:cNvPr id="104" name="Google Shape;104;p4"/>
          <p:cNvSpPr txBox="1"/>
          <p:nvPr/>
        </p:nvSpPr>
        <p:spPr>
          <a:xfrm>
            <a:off x="4681728" y="3566160"/>
            <a:ext cx="283464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Asistente «Pregúntale a Serena» y análisis en informes de psicología y encuestas; anonimiza los datos antes de enviarlos.</a:t>
            </a:r>
            <a:endParaRPr b="0" i="0" sz="1500" u="none" cap="none" strike="noStrike">
              <a:solidFill>
                <a:schemeClr val="dk1"/>
              </a:solidFill>
              <a:latin typeface="Calibri"/>
              <a:ea typeface="Calibri"/>
              <a:cs typeface="Calibri"/>
              <a:sym typeface="Calibri"/>
            </a:endParaRPr>
          </a:p>
        </p:txBody>
      </p:sp>
      <p:sp>
        <p:nvSpPr>
          <p:cNvPr id="105" name="Google Shape;105;p4"/>
          <p:cNvSpPr/>
          <p:nvPr/>
        </p:nvSpPr>
        <p:spPr>
          <a:xfrm>
            <a:off x="8083296" y="1783080"/>
            <a:ext cx="3465576" cy="3429000"/>
          </a:xfrm>
          <a:prstGeom prst="roundRect">
            <a:avLst>
              <a:gd fmla="val 373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106" name="Google Shape;106;p4"/>
          <p:cNvPicPr preferRelativeResize="0"/>
          <p:nvPr/>
        </p:nvPicPr>
        <p:blipFill rotWithShape="1">
          <a:blip r:embed="rId4">
            <a:alphaModFix/>
          </a:blip>
          <a:srcRect b="0" l="0" r="0" t="0"/>
          <a:stretch/>
        </p:blipFill>
        <p:spPr>
          <a:xfrm>
            <a:off x="8403336" y="2103120"/>
            <a:ext cx="777240" cy="777240"/>
          </a:xfrm>
          <a:prstGeom prst="rect">
            <a:avLst/>
          </a:prstGeom>
          <a:noFill/>
          <a:ln>
            <a:noFill/>
          </a:ln>
        </p:spPr>
      </p:pic>
      <p:sp>
        <p:nvSpPr>
          <p:cNvPr id="107" name="Google Shape;107;p4"/>
          <p:cNvSpPr txBox="1"/>
          <p:nvPr/>
        </p:nvSpPr>
        <p:spPr>
          <a:xfrm>
            <a:off x="8403336" y="3063240"/>
            <a:ext cx="2834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200"/>
              <a:buFont typeface="Georgia"/>
              <a:buNone/>
            </a:pPr>
            <a:r>
              <a:rPr b="1" i="0" lang="en-US" sz="2200" u="none" cap="none" strike="noStrike">
                <a:solidFill>
                  <a:schemeClr val="dk2"/>
                </a:solidFill>
                <a:latin typeface="Georgia"/>
                <a:ea typeface="Georgia"/>
                <a:cs typeface="Georgia"/>
                <a:sym typeface="Georgia"/>
              </a:rPr>
              <a:t>Gratuita</a:t>
            </a:r>
            <a:endParaRPr b="0" i="0" sz="2200" u="none" cap="none" strike="noStrike">
              <a:solidFill>
                <a:schemeClr val="dk1"/>
              </a:solidFill>
              <a:latin typeface="Calibri"/>
              <a:ea typeface="Calibri"/>
              <a:cs typeface="Calibri"/>
              <a:sym typeface="Calibri"/>
            </a:endParaRPr>
          </a:p>
        </p:txBody>
      </p:sp>
      <p:sp>
        <p:nvSpPr>
          <p:cNvPr id="108" name="Google Shape;108;p4"/>
          <p:cNvSpPr txBox="1"/>
          <p:nvPr/>
        </p:nvSpPr>
        <p:spPr>
          <a:xfrm>
            <a:off x="8403336" y="3566160"/>
            <a:ext cx="283464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PHP y MySQL libres y hosting gratuito: costo cero para la institución.</a:t>
            </a:r>
            <a:endParaRPr b="0" i="0" sz="1500" u="none" cap="none" strike="noStrike">
              <a:solidFill>
                <a:schemeClr val="dk1"/>
              </a:solidFill>
              <a:latin typeface="Calibri"/>
              <a:ea typeface="Calibri"/>
              <a:cs typeface="Calibri"/>
              <a:sym typeface="Calibri"/>
            </a:endParaRPr>
          </a:p>
        </p:txBody>
      </p:sp>
      <p:sp>
        <p:nvSpPr>
          <p:cNvPr id="109" name="Google Shape;109;p4"/>
          <p:cNvSpPr/>
          <p:nvPr/>
        </p:nvSpPr>
        <p:spPr>
          <a:xfrm>
            <a:off x="640080" y="5440680"/>
            <a:ext cx="10908792" cy="777240"/>
          </a:xfrm>
          <a:prstGeom prst="roundRect">
            <a:avLst>
              <a:gd fmla="val 16471"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txBox="1"/>
          <p:nvPr/>
        </p:nvSpPr>
        <p:spPr>
          <a:xfrm>
            <a:off x="1005840" y="5440680"/>
            <a:ext cx="102412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Las demás cubren lo académico; Serena suma bienestar emocional, alertas tempranas e IA.</a:t>
            </a:r>
            <a:endParaRPr b="0" i="0" sz="1800" u="none" cap="none" strike="noStrike">
              <a:solidFill>
                <a:schemeClr val="dk1"/>
              </a:solidFill>
              <a:latin typeface="Calibri"/>
              <a:ea typeface="Calibri"/>
              <a:cs typeface="Calibri"/>
              <a:sym typeface="Calibri"/>
            </a:endParaRPr>
          </a:p>
        </p:txBody>
      </p:sp>
      <p:sp>
        <p:nvSpPr>
          <p:cNvPr id="111" name="Google Shape;111;p4"/>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500"/>
                                        <p:tgtEl>
                                          <p:spTgt spid="95"/>
                                        </p:tgtEl>
                                      </p:cBhvr>
                                    </p:animEffect>
                                  </p:childTnLst>
                                </p:cTn>
                              </p:par>
                              <p:par>
                                <p:cTn fill="hold" nodeType="withEffect" presetClass="entr" presetID="10" presetSubtype="0">
                                  <p:stCondLst>
                                    <p:cond delay="260"/>
                                  </p:stCondLst>
                                  <p:childTnLst>
                                    <p:set>
                                      <p:cBhvr>
                                        <p:cTn dur="1" fill="hold">
                                          <p:stCondLst>
                                            <p:cond delay="0"/>
                                          </p:stCondLst>
                                        </p:cTn>
                                        <p:tgtEl>
                                          <p:spTgt spid="97"/>
                                        </p:tgtEl>
                                        <p:attrNameLst>
                                          <p:attrName>style.visibility</p:attrName>
                                        </p:attrNameLst>
                                      </p:cBhvr>
                                      <p:to>
                                        <p:strVal val="visible"/>
                                      </p:to>
                                    </p:set>
                                    <p:animEffect filter="fade" transition="in">
                                      <p:cBhvr>
                                        <p:cTn dur="500"/>
                                        <p:tgtEl>
                                          <p:spTgt spid="97"/>
                                        </p:tgtEl>
                                      </p:cBhvr>
                                    </p:animEffect>
                                  </p:childTnLst>
                                </p:cTn>
                              </p:par>
                              <p:par>
                                <p:cTn fill="hold" nodeType="withEffect" presetClass="entr" presetID="10" presetSubtype="0">
                                  <p:stCondLst>
                                    <p:cond delay="26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par>
                                <p:cTn fill="hold" nodeType="withEffect" presetClass="entr" presetID="10" presetSubtype="0">
                                  <p:stCondLst>
                                    <p:cond delay="260"/>
                                  </p:stCondLst>
                                  <p:childTnLst>
                                    <p:set>
                                      <p:cBhvr>
                                        <p:cTn dur="1" fill="hold">
                                          <p:stCondLst>
                                            <p:cond delay="0"/>
                                          </p:stCondLst>
                                        </p:cTn>
                                        <p:tgtEl>
                                          <p:spTgt spid="99"/>
                                        </p:tgtEl>
                                        <p:attrNameLst>
                                          <p:attrName>style.visibility</p:attrName>
                                        </p:attrNameLst>
                                      </p:cBhvr>
                                      <p:to>
                                        <p:strVal val="visible"/>
                                      </p:to>
                                    </p:set>
                                    <p:animEffect filter="fade" transition="in">
                                      <p:cBhvr>
                                        <p:cTn dur="500"/>
                                        <p:tgtEl>
                                          <p:spTgt spid="99"/>
                                        </p:tgtEl>
                                      </p:cBhvr>
                                    </p:animEffect>
                                  </p:childTnLst>
                                </p:cTn>
                              </p:par>
                              <p:par>
                                <p:cTn fill="hold" nodeType="withEffect" presetClass="entr" presetID="10" presetSubtype="0">
                                  <p:stCondLst>
                                    <p:cond delay="260"/>
                                  </p:stCondLst>
                                  <p:childTnLst>
                                    <p:set>
                                      <p:cBhvr>
                                        <p:cTn dur="1" fill="hold">
                                          <p:stCondLst>
                                            <p:cond delay="0"/>
                                          </p:stCondLst>
                                        </p:cTn>
                                        <p:tgtEl>
                                          <p:spTgt spid="100"/>
                                        </p:tgtEl>
                                        <p:attrNameLst>
                                          <p:attrName>style.visibility</p:attrName>
                                        </p:attrNameLst>
                                      </p:cBhvr>
                                      <p:to>
                                        <p:strVal val="visible"/>
                                      </p:to>
                                    </p:set>
                                    <p:animEffect filter="fade" transition="in">
                                      <p:cBhvr>
                                        <p:cTn dur="500"/>
                                        <p:tgtEl>
                                          <p:spTgt spid="100"/>
                                        </p:tgtEl>
                                      </p:cBhvr>
                                    </p:animEffect>
                                  </p:childTnLst>
                                </p:cTn>
                              </p:par>
                              <p:par>
                                <p:cTn fill="hold" nodeType="withEffect" presetClass="entr" presetID="10" presetSubtype="0">
                                  <p:stCondLst>
                                    <p:cond delay="52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par>
                                <p:cTn fill="hold" nodeType="withEffect" presetClass="entr" presetID="10" presetSubtype="0">
                                  <p:stCondLst>
                                    <p:cond delay="52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par>
                                <p:cTn fill="hold" nodeType="withEffect" presetClass="entr" presetID="10" presetSubtype="0">
                                  <p:stCondLst>
                                    <p:cond delay="520"/>
                                  </p:stCondLst>
                                  <p:childTnLst>
                                    <p:set>
                                      <p:cBhvr>
                                        <p:cTn dur="1" fill="hold">
                                          <p:stCondLst>
                                            <p:cond delay="0"/>
                                          </p:stCondLst>
                                        </p:cTn>
                                        <p:tgtEl>
                                          <p:spTgt spid="103"/>
                                        </p:tgtEl>
                                        <p:attrNameLst>
                                          <p:attrName>style.visibility</p:attrName>
                                        </p:attrNameLst>
                                      </p:cBhvr>
                                      <p:to>
                                        <p:strVal val="visible"/>
                                      </p:to>
                                    </p:set>
                                    <p:animEffect filter="fade" transition="in">
                                      <p:cBhvr>
                                        <p:cTn dur="500"/>
                                        <p:tgtEl>
                                          <p:spTgt spid="103"/>
                                        </p:tgtEl>
                                      </p:cBhvr>
                                    </p:animEffect>
                                  </p:childTnLst>
                                </p:cTn>
                              </p:par>
                              <p:par>
                                <p:cTn fill="hold" nodeType="withEffect" presetClass="entr" presetID="10" presetSubtype="0">
                                  <p:stCondLst>
                                    <p:cond delay="52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par>
                                <p:cTn fill="hold" nodeType="withEffect" presetClass="entr" presetID="10" presetSubtype="0">
                                  <p:stCondLst>
                                    <p:cond delay="78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par>
                                <p:cTn fill="hold" nodeType="withEffect" presetClass="entr" presetID="10" presetSubtype="0">
                                  <p:stCondLst>
                                    <p:cond delay="78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par>
                                <p:cTn fill="hold" nodeType="withEffect" presetClass="entr" presetID="10" presetSubtype="0">
                                  <p:stCondLst>
                                    <p:cond delay="78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par>
                                <p:cTn fill="hold" nodeType="withEffect" presetClass="entr" presetID="10" presetSubtype="0">
                                  <p:stCondLst>
                                    <p:cond delay="78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par>
                                <p:cTn fill="hold" nodeType="withEffect" presetClass="entr" presetID="10" presetSubtype="0">
                                  <p:stCondLst>
                                    <p:cond delay="104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par>
                                <p:cTn fill="hold" nodeType="withEffect" presetClass="entr" presetID="10" presetSubtype="0">
                                  <p:stCondLst>
                                    <p:cond delay="1040"/>
                                  </p:stCondLst>
                                  <p:childTnLst>
                                    <p:set>
                                      <p:cBhvr>
                                        <p:cTn dur="1" fill="hold">
                                          <p:stCondLst>
                                            <p:cond delay="0"/>
                                          </p:stCondLst>
                                        </p:cTn>
                                        <p:tgtEl>
                                          <p:spTgt spid="110"/>
                                        </p:tgtEl>
                                        <p:attrNameLst>
                                          <p:attrName>style.visibility</p:attrName>
                                        </p:attrNameLst>
                                      </p:cBhvr>
                                      <p:to>
                                        <p:strVal val="visible"/>
                                      </p:to>
                                    </p:set>
                                    <p:animEffect filter="fade" transition="in">
                                      <p:cBhvr>
                                        <p:cTn dur="500"/>
                                        <p:tgtEl>
                                          <p:spTgt spid="1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6"/>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02  ·  LA SOLUCIÓN</a:t>
            </a:r>
            <a:endParaRPr b="0" i="0" sz="1200" u="none" cap="none" strike="noStrike">
              <a:solidFill>
                <a:schemeClr val="dk1"/>
              </a:solidFill>
              <a:latin typeface="Calibri"/>
              <a:ea typeface="Calibri"/>
              <a:cs typeface="Calibri"/>
              <a:sym typeface="Calibri"/>
            </a:endParaRPr>
          </a:p>
        </p:txBody>
      </p:sp>
      <p:sp>
        <p:nvSpPr>
          <p:cNvPr id="146" name="Google Shape;146;p6"/>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Descripción del proyecto</a:t>
            </a:r>
            <a:endParaRPr sz="3400"/>
          </a:p>
        </p:txBody>
      </p:sp>
      <p:sp>
        <p:nvSpPr>
          <p:cNvPr id="147" name="Google Shape;147;p6"/>
          <p:cNvSpPr txBox="1"/>
          <p:nvPr/>
        </p:nvSpPr>
        <p:spPr>
          <a:xfrm>
            <a:off x="640080" y="1783080"/>
            <a:ext cx="612648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0" i="0" lang="en-US" sz="1700" u="none" cap="none" strike="noStrike">
                <a:solidFill>
                  <a:schemeClr val="dk1"/>
                </a:solidFill>
                <a:latin typeface="Calibri"/>
                <a:ea typeface="Calibri"/>
                <a:cs typeface="Calibri"/>
                <a:sym typeface="Calibri"/>
              </a:rPr>
              <a:t>Serena es una plataforma web académica y de bienestar emocional para toda la institución, desde grado sexto. El estudiante registra cómo se siente y consulta sus notas y asistencia; psicología y orientación reciben alertas tempranas; docentes y secretaría gestionan matrículas, notas, horarios, certificados e informes.</a:t>
            </a:r>
            <a:endParaRPr b="0" i="0" sz="1700" u="none" cap="none" strike="noStrike">
              <a:solidFill>
                <a:schemeClr val="dk1"/>
              </a:solidFill>
              <a:latin typeface="Calibri"/>
              <a:ea typeface="Calibri"/>
              <a:cs typeface="Calibri"/>
              <a:sym typeface="Calibri"/>
            </a:endParaRPr>
          </a:p>
        </p:txBody>
      </p:sp>
      <p:sp>
        <p:nvSpPr>
          <p:cNvPr id="148" name="Google Shape;148;p6"/>
          <p:cNvSpPr/>
          <p:nvPr/>
        </p:nvSpPr>
        <p:spPr>
          <a:xfrm>
            <a:off x="640080" y="3657600"/>
            <a:ext cx="6126480" cy="2423160"/>
          </a:xfrm>
          <a:prstGeom prst="roundRect">
            <a:avLst>
              <a:gd fmla="val 528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txBox="1"/>
          <p:nvPr/>
        </p:nvSpPr>
        <p:spPr>
          <a:xfrm>
            <a:off x="1005840" y="3886200"/>
            <a:ext cx="2743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BENEFICIOS</a:t>
            </a:r>
            <a:endParaRPr b="0" i="0" sz="1200" u="none" cap="none" strike="noStrike">
              <a:solidFill>
                <a:schemeClr val="dk1"/>
              </a:solidFill>
              <a:latin typeface="Calibri"/>
              <a:ea typeface="Calibri"/>
              <a:cs typeface="Calibri"/>
              <a:sym typeface="Calibri"/>
            </a:endParaRPr>
          </a:p>
        </p:txBody>
      </p:sp>
      <p:sp>
        <p:nvSpPr>
          <p:cNvPr id="150" name="Google Shape;150;p6"/>
          <p:cNvSpPr txBox="1"/>
          <p:nvPr/>
        </p:nvSpPr>
        <p:spPr>
          <a:xfrm>
            <a:off x="1005840" y="4251960"/>
            <a:ext cx="5486400" cy="173736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Bienestar y gestión académica en un solo lugar.</a:t>
            </a:r>
            <a:endParaRPr b="0" i="0" sz="18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Detección temprana de malestar y ausentismo.</a:t>
            </a:r>
            <a:endParaRPr b="0" i="0" sz="18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Informes y certificados con QR verificable.</a:t>
            </a:r>
            <a:endParaRPr b="0" i="0" sz="1800" u="none" cap="none" strike="noStrike">
              <a:solidFill>
                <a:schemeClr val="dk1"/>
              </a:solidFill>
              <a:latin typeface="Calibri"/>
              <a:ea typeface="Calibri"/>
              <a:cs typeface="Calibri"/>
              <a:sym typeface="Calibri"/>
            </a:endParaRPr>
          </a:p>
        </p:txBody>
      </p:sp>
      <p:sp>
        <p:nvSpPr>
          <p:cNvPr id="151" name="Google Shape;151;p6"/>
          <p:cNvSpPr/>
          <p:nvPr/>
        </p:nvSpPr>
        <p:spPr>
          <a:xfrm>
            <a:off x="7132320" y="1783080"/>
            <a:ext cx="4416552" cy="1280160"/>
          </a:xfrm>
          <a:prstGeom prst="roundRect">
            <a:avLst>
              <a:gd fmla="val 1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txBox="1"/>
          <p:nvPr/>
        </p:nvSpPr>
        <p:spPr>
          <a:xfrm>
            <a:off x="7452360" y="1965960"/>
            <a:ext cx="17373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5400"/>
              <a:buFont typeface="Georgia"/>
              <a:buNone/>
            </a:pPr>
            <a:r>
              <a:rPr b="1" i="0" lang="en-US" sz="5400" u="none" cap="none" strike="noStrike">
                <a:solidFill>
                  <a:schemeClr val="accent2"/>
                </a:solidFill>
                <a:latin typeface="Georgia"/>
                <a:ea typeface="Georgia"/>
                <a:cs typeface="Georgia"/>
                <a:sym typeface="Georgia"/>
              </a:rPr>
              <a:t>11</a:t>
            </a:r>
            <a:endParaRPr b="0" i="0" sz="5400" u="none" cap="none" strike="noStrike">
              <a:solidFill>
                <a:schemeClr val="dk1"/>
              </a:solidFill>
              <a:latin typeface="Calibri"/>
              <a:ea typeface="Calibri"/>
              <a:cs typeface="Calibri"/>
              <a:sym typeface="Calibri"/>
            </a:endParaRPr>
          </a:p>
        </p:txBody>
      </p:sp>
      <p:sp>
        <p:nvSpPr>
          <p:cNvPr id="153" name="Google Shape;153;p6"/>
          <p:cNvSpPr txBox="1"/>
          <p:nvPr/>
        </p:nvSpPr>
        <p:spPr>
          <a:xfrm>
            <a:off x="9235440" y="1965960"/>
            <a:ext cx="2148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roles de usuario, cada uno con su propio panel</a:t>
            </a:r>
            <a:endParaRPr b="0" i="0" sz="1500" u="none" cap="none" strike="noStrike">
              <a:solidFill>
                <a:schemeClr val="dk1"/>
              </a:solidFill>
              <a:latin typeface="Calibri"/>
              <a:ea typeface="Calibri"/>
              <a:cs typeface="Calibri"/>
              <a:sym typeface="Calibri"/>
            </a:endParaRPr>
          </a:p>
        </p:txBody>
      </p:sp>
      <p:sp>
        <p:nvSpPr>
          <p:cNvPr id="154" name="Google Shape;154;p6"/>
          <p:cNvSpPr/>
          <p:nvPr/>
        </p:nvSpPr>
        <p:spPr>
          <a:xfrm>
            <a:off x="7132320" y="3246120"/>
            <a:ext cx="4416552" cy="1280160"/>
          </a:xfrm>
          <a:prstGeom prst="roundRect">
            <a:avLst>
              <a:gd fmla="val 1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txBox="1"/>
          <p:nvPr/>
        </p:nvSpPr>
        <p:spPr>
          <a:xfrm>
            <a:off x="7452360" y="3429000"/>
            <a:ext cx="17373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5400"/>
              <a:buFont typeface="Georgia"/>
              <a:buNone/>
            </a:pPr>
            <a:r>
              <a:rPr b="1" i="0" lang="en-US" sz="5400" u="none" cap="none" strike="noStrike">
                <a:solidFill>
                  <a:schemeClr val="accent2"/>
                </a:solidFill>
                <a:latin typeface="Georgia"/>
                <a:ea typeface="Georgia"/>
                <a:cs typeface="Georgia"/>
                <a:sym typeface="Georgia"/>
              </a:rPr>
              <a:t>344</a:t>
            </a:r>
            <a:endParaRPr b="0" i="0" sz="5400" u="none" cap="none" strike="noStrike">
              <a:solidFill>
                <a:schemeClr val="dk1"/>
              </a:solidFill>
              <a:latin typeface="Calibri"/>
              <a:ea typeface="Calibri"/>
              <a:cs typeface="Calibri"/>
              <a:sym typeface="Calibri"/>
            </a:endParaRPr>
          </a:p>
        </p:txBody>
      </p:sp>
      <p:sp>
        <p:nvSpPr>
          <p:cNvPr id="156" name="Google Shape;156;p6"/>
          <p:cNvSpPr txBox="1"/>
          <p:nvPr/>
        </p:nvSpPr>
        <p:spPr>
          <a:xfrm>
            <a:off x="9235440" y="3429000"/>
            <a:ext cx="2148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archivos PHP organizados por rol</a:t>
            </a:r>
            <a:endParaRPr b="0" i="0" sz="1500" u="none" cap="none" strike="noStrike">
              <a:solidFill>
                <a:schemeClr val="dk1"/>
              </a:solidFill>
              <a:latin typeface="Calibri"/>
              <a:ea typeface="Calibri"/>
              <a:cs typeface="Calibri"/>
              <a:sym typeface="Calibri"/>
            </a:endParaRPr>
          </a:p>
        </p:txBody>
      </p:sp>
      <p:sp>
        <p:nvSpPr>
          <p:cNvPr id="157" name="Google Shape;157;p6"/>
          <p:cNvSpPr/>
          <p:nvPr/>
        </p:nvSpPr>
        <p:spPr>
          <a:xfrm>
            <a:off x="7132320" y="4709160"/>
            <a:ext cx="4416552" cy="1280160"/>
          </a:xfrm>
          <a:prstGeom prst="roundRect">
            <a:avLst>
              <a:gd fmla="val 1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txBox="1"/>
          <p:nvPr/>
        </p:nvSpPr>
        <p:spPr>
          <a:xfrm>
            <a:off x="7452360" y="4892040"/>
            <a:ext cx="17373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5400"/>
              <a:buFont typeface="Georgia"/>
              <a:buNone/>
            </a:pPr>
            <a:r>
              <a:rPr b="1" i="0" lang="en-US" sz="5400" u="none" cap="none" strike="noStrike">
                <a:solidFill>
                  <a:schemeClr val="accent2"/>
                </a:solidFill>
                <a:latin typeface="Georgia"/>
                <a:ea typeface="Georgia"/>
                <a:cs typeface="Georgia"/>
                <a:sym typeface="Georgia"/>
              </a:rPr>
              <a:t>46</a:t>
            </a:r>
            <a:endParaRPr b="0" i="0" sz="5400" u="none" cap="none" strike="noStrike">
              <a:solidFill>
                <a:schemeClr val="dk1"/>
              </a:solidFill>
              <a:latin typeface="Calibri"/>
              <a:ea typeface="Calibri"/>
              <a:cs typeface="Calibri"/>
              <a:sym typeface="Calibri"/>
            </a:endParaRPr>
          </a:p>
        </p:txBody>
      </p:sp>
      <p:sp>
        <p:nvSpPr>
          <p:cNvPr id="159" name="Google Shape;159;p6"/>
          <p:cNvSpPr txBox="1"/>
          <p:nvPr/>
        </p:nvSpPr>
        <p:spPr>
          <a:xfrm>
            <a:off x="9235440" y="4892040"/>
            <a:ext cx="2148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migraciones SQL de la base de datos</a:t>
            </a:r>
            <a:endParaRPr b="0" i="0" sz="1500" u="none" cap="none" strike="noStrike">
              <a:solidFill>
                <a:schemeClr val="dk1"/>
              </a:solidFill>
              <a:latin typeface="Calibri"/>
              <a:ea typeface="Calibri"/>
              <a:cs typeface="Calibri"/>
              <a:sym typeface="Calibri"/>
            </a:endParaRPr>
          </a:p>
        </p:txBody>
      </p:sp>
      <p:sp>
        <p:nvSpPr>
          <p:cNvPr id="160" name="Google Shape;160;p6"/>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par>
                                <p:cTn fill="hold" nodeType="withEffect" presetClass="entr" presetID="10" presetSubtype="0">
                                  <p:stCondLst>
                                    <p:cond delay="26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par>
                                <p:cTn fill="hold" nodeType="withEffect" presetClass="entr" presetID="10" presetSubtype="0">
                                  <p:stCondLst>
                                    <p:cond delay="520"/>
                                  </p:stCondLst>
                                  <p:childTnLst>
                                    <p:set>
                                      <p:cBhvr>
                                        <p:cTn dur="1" fill="hold">
                                          <p:stCondLst>
                                            <p:cond delay="0"/>
                                          </p:stCondLst>
                                        </p:cTn>
                                        <p:tgtEl>
                                          <p:spTgt spid="148"/>
                                        </p:tgtEl>
                                        <p:attrNameLst>
                                          <p:attrName>style.visibility</p:attrName>
                                        </p:attrNameLst>
                                      </p:cBhvr>
                                      <p:to>
                                        <p:strVal val="visible"/>
                                      </p:to>
                                    </p:set>
                                    <p:animEffect filter="fade" transition="in">
                                      <p:cBhvr>
                                        <p:cTn dur="500"/>
                                        <p:tgtEl>
                                          <p:spTgt spid="148"/>
                                        </p:tgtEl>
                                      </p:cBhvr>
                                    </p:animEffect>
                                  </p:childTnLst>
                                </p:cTn>
                              </p:par>
                              <p:par>
                                <p:cTn fill="hold" nodeType="withEffect" presetClass="entr" presetID="10" presetSubtype="0">
                                  <p:stCondLst>
                                    <p:cond delay="52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par>
                                <p:cTn fill="hold" nodeType="withEffect" presetClass="entr" presetID="10" presetSubtype="0">
                                  <p:stCondLst>
                                    <p:cond delay="52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par>
                                <p:cTn fill="hold" nodeType="withEffect" presetClass="entr" presetID="10" presetSubtype="0">
                                  <p:stCondLst>
                                    <p:cond delay="78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par>
                                <p:cTn fill="hold" nodeType="withEffect" presetClass="entr" presetID="10" presetSubtype="0">
                                  <p:stCondLst>
                                    <p:cond delay="78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par>
                                <p:cTn fill="hold" nodeType="withEffect" presetClass="entr" presetID="10" presetSubtype="0">
                                  <p:stCondLst>
                                    <p:cond delay="78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par>
                                <p:cTn fill="hold" nodeType="withEffect" presetClass="entr" presetID="10" presetSubtype="0">
                                  <p:stCondLst>
                                    <p:cond delay="104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par>
                                <p:cTn fill="hold" nodeType="withEffect" presetClass="entr" presetID="10" presetSubtype="0">
                                  <p:stCondLst>
                                    <p:cond delay="104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par>
                                <p:cTn fill="hold" nodeType="withEffect" presetClass="entr" presetID="10" presetSubtype="0">
                                  <p:stCondLst>
                                    <p:cond delay="104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par>
                                <p:cTn fill="hold" nodeType="withEffect" presetClass="entr" presetID="10" presetSubtype="0">
                                  <p:stCondLst>
                                    <p:cond delay="1300"/>
                                  </p:stCondLst>
                                  <p:childTnLst>
                                    <p:set>
                                      <p:cBhvr>
                                        <p:cTn dur="1" fill="hold">
                                          <p:stCondLst>
                                            <p:cond delay="0"/>
                                          </p:stCondLst>
                                        </p:cTn>
                                        <p:tgtEl>
                                          <p:spTgt spid="157"/>
                                        </p:tgtEl>
                                        <p:attrNameLst>
                                          <p:attrName>style.visibility</p:attrName>
                                        </p:attrNameLst>
                                      </p:cBhvr>
                                      <p:to>
                                        <p:strVal val="visible"/>
                                      </p:to>
                                    </p:set>
                                    <p:animEffect filter="fade" transition="in">
                                      <p:cBhvr>
                                        <p:cTn dur="500"/>
                                        <p:tgtEl>
                                          <p:spTgt spid="157"/>
                                        </p:tgtEl>
                                      </p:cBhvr>
                                    </p:animEffect>
                                  </p:childTnLst>
                                </p:cTn>
                              </p:par>
                              <p:par>
                                <p:cTn fill="hold" nodeType="withEffect" presetClass="entr" presetID="10" presetSubtype="0">
                                  <p:stCondLst>
                                    <p:cond delay="130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par>
                                <p:cTn fill="hold" nodeType="withEffect" presetClass="entr" presetID="10" presetSubtype="0">
                                  <p:stCondLst>
                                    <p:cond delay="130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7"/>
          <p:cNvSpPr/>
          <p:nvPr/>
        </p:nvSpPr>
        <p:spPr>
          <a:xfrm>
            <a:off x="640080" y="365760"/>
            <a:ext cx="3566160" cy="310896"/>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02  ·  LA SOLUCIÓN</a:t>
            </a:r>
            <a:endParaRPr b="0" i="0" sz="1100" u="none" cap="none" strike="noStrike">
              <a:solidFill>
                <a:schemeClr val="dk1"/>
              </a:solidFill>
              <a:latin typeface="Calibri"/>
              <a:ea typeface="Calibri"/>
              <a:cs typeface="Calibri"/>
              <a:sym typeface="Calibri"/>
            </a:endParaRPr>
          </a:p>
        </p:txBody>
      </p:sp>
      <p:sp>
        <p:nvSpPr>
          <p:cNvPr id="167" name="Google Shape;167;p7"/>
          <p:cNvSpPr txBox="1"/>
          <p:nvPr>
            <p:ph type="title"/>
          </p:nvPr>
        </p:nvSpPr>
        <p:spPr>
          <a:xfrm>
            <a:off x="640080" y="777240"/>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400"/>
              <a:buFont typeface="Georgia"/>
              <a:buNone/>
            </a:pPr>
            <a:r>
              <a:rPr b="1" lang="en-US" sz="3400">
                <a:solidFill>
                  <a:schemeClr val="lt1"/>
                </a:solidFill>
              </a:rPr>
              <a:t>Objetivos</a:t>
            </a:r>
            <a:endParaRPr sz="3400"/>
          </a:p>
        </p:txBody>
      </p:sp>
      <p:sp>
        <p:nvSpPr>
          <p:cNvPr id="168" name="Google Shape;168;p7"/>
          <p:cNvSpPr/>
          <p:nvPr/>
        </p:nvSpPr>
        <p:spPr>
          <a:xfrm>
            <a:off x="640080" y="1783080"/>
            <a:ext cx="4754880" cy="4297680"/>
          </a:xfrm>
          <a:prstGeom prst="roundRect">
            <a:avLst>
              <a:gd fmla="val 2979" name="adj"/>
            </a:avLst>
          </a:prstGeom>
          <a:solidFill>
            <a:schemeClr val="dk2">
              <a:alpha val="7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txBox="1"/>
          <p:nvPr/>
        </p:nvSpPr>
        <p:spPr>
          <a:xfrm>
            <a:off x="1005840" y="2103120"/>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200"/>
              <a:buFont typeface="Calibri"/>
              <a:buNone/>
            </a:pPr>
            <a:r>
              <a:rPr b="1" i="0" lang="en-US" sz="1200" u="none" cap="none" strike="noStrike">
                <a:solidFill>
                  <a:schemeClr val="accent3"/>
                </a:solidFill>
                <a:latin typeface="Calibri"/>
                <a:ea typeface="Calibri"/>
                <a:cs typeface="Calibri"/>
                <a:sym typeface="Calibri"/>
              </a:rPr>
              <a:t>OBJETIVO GENERAL</a:t>
            </a:r>
            <a:endParaRPr b="0" i="0" sz="1200" u="none" cap="none" strike="noStrike">
              <a:solidFill>
                <a:schemeClr val="dk1"/>
              </a:solidFill>
              <a:latin typeface="Calibri"/>
              <a:ea typeface="Calibri"/>
              <a:cs typeface="Calibri"/>
              <a:sym typeface="Calibri"/>
            </a:endParaRPr>
          </a:p>
        </p:txBody>
      </p:sp>
      <p:sp>
        <p:nvSpPr>
          <p:cNvPr id="170" name="Google Shape;170;p7"/>
          <p:cNvSpPr txBox="1"/>
          <p:nvPr/>
        </p:nvSpPr>
        <p:spPr>
          <a:xfrm>
            <a:off x="1005840" y="2560320"/>
            <a:ext cx="4023360" cy="3383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200"/>
              <a:buFont typeface="Calibri"/>
              <a:buNone/>
            </a:pPr>
            <a:r>
              <a:rPr b="0" i="0" lang="en-US" sz="2200" u="none" cap="none" strike="noStrike">
                <a:solidFill>
                  <a:schemeClr val="lt1"/>
                </a:solidFill>
                <a:latin typeface="Calibri"/>
                <a:ea typeface="Calibri"/>
                <a:cs typeface="Calibri"/>
                <a:sym typeface="Calibri"/>
              </a:rPr>
              <a:t>Desarrollar una plataforma web académica y de bienestar emocional para la institución educativa, que unifique la gestión académica con el seguimiento de emociones, sueño, hábitos, metas y diario, y apoye el trabajo de docentes, psicología y orientación.</a:t>
            </a:r>
            <a:endParaRPr b="0" i="0" sz="2200" u="none" cap="none" strike="noStrike">
              <a:solidFill>
                <a:schemeClr val="dk1"/>
              </a:solidFill>
              <a:latin typeface="Calibri"/>
              <a:ea typeface="Calibri"/>
              <a:cs typeface="Calibri"/>
              <a:sym typeface="Calibri"/>
            </a:endParaRPr>
          </a:p>
        </p:txBody>
      </p:sp>
      <p:sp>
        <p:nvSpPr>
          <p:cNvPr id="171" name="Google Shape;171;p7"/>
          <p:cNvSpPr txBox="1"/>
          <p:nvPr/>
        </p:nvSpPr>
        <p:spPr>
          <a:xfrm>
            <a:off x="5760720" y="1783080"/>
            <a:ext cx="45720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200"/>
              <a:buFont typeface="Calibri"/>
              <a:buNone/>
            </a:pPr>
            <a:r>
              <a:rPr b="1" i="0" lang="en-US" sz="1200" u="none" cap="none" strike="noStrike">
                <a:solidFill>
                  <a:schemeClr val="lt1"/>
                </a:solidFill>
                <a:latin typeface="Calibri"/>
                <a:ea typeface="Calibri"/>
                <a:cs typeface="Calibri"/>
                <a:sym typeface="Calibri"/>
              </a:rPr>
              <a:t>OBJETIVOS ESPECÍFICOS</a:t>
            </a:r>
            <a:endParaRPr b="0" i="0" sz="1200" u="none" cap="none" strike="noStrike">
              <a:solidFill>
                <a:schemeClr val="dk1"/>
              </a:solidFill>
              <a:latin typeface="Calibri"/>
              <a:ea typeface="Calibri"/>
              <a:cs typeface="Calibri"/>
              <a:sym typeface="Calibri"/>
            </a:endParaRPr>
          </a:p>
        </p:txBody>
      </p:sp>
      <p:sp>
        <p:nvSpPr>
          <p:cNvPr id="172" name="Google Shape;172;p7"/>
          <p:cNvSpPr/>
          <p:nvPr/>
        </p:nvSpPr>
        <p:spPr>
          <a:xfrm>
            <a:off x="5760720" y="2148840"/>
            <a:ext cx="5788152" cy="868680"/>
          </a:xfrm>
          <a:prstGeom prst="roundRect">
            <a:avLst>
              <a:gd fmla="val 14737" name="adj"/>
            </a:avLst>
          </a:prstGeom>
          <a:solidFill>
            <a:schemeClr val="dk2">
              <a:alpha val="7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7"/>
          <p:cNvSpPr/>
          <p:nvPr/>
        </p:nvSpPr>
        <p:spPr>
          <a:xfrm>
            <a:off x="5989320" y="2318004"/>
            <a:ext cx="548640" cy="548640"/>
          </a:xfrm>
          <a:prstGeom prst="ellipse">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2000"/>
              <a:buFont typeface="Georgia"/>
              <a:buNone/>
            </a:pPr>
            <a:r>
              <a:rPr b="1" i="0" lang="en-US" sz="2000" u="none" cap="none" strike="noStrike">
                <a:solidFill>
                  <a:schemeClr val="accent2"/>
                </a:solidFill>
                <a:latin typeface="Georgia"/>
                <a:ea typeface="Georgia"/>
                <a:cs typeface="Georgia"/>
                <a:sym typeface="Georgia"/>
              </a:rPr>
              <a:t>1</a:t>
            </a:r>
            <a:endParaRPr b="0" i="0" sz="2000" u="none" cap="none" strike="noStrike">
              <a:solidFill>
                <a:schemeClr val="dk1"/>
              </a:solidFill>
              <a:latin typeface="Calibri"/>
              <a:ea typeface="Calibri"/>
              <a:cs typeface="Calibri"/>
              <a:sym typeface="Calibri"/>
            </a:endParaRPr>
          </a:p>
        </p:txBody>
      </p:sp>
      <p:sp>
        <p:nvSpPr>
          <p:cNvPr id="174" name="Google Shape;174;p7"/>
          <p:cNvSpPr txBox="1"/>
          <p:nvPr/>
        </p:nvSpPr>
        <p:spPr>
          <a:xfrm>
            <a:off x="6766560" y="2240280"/>
            <a:ext cx="4617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Diseñar el modelo de datos y el sistema de 11 roles con sus permisos.</a:t>
            </a:r>
            <a:endParaRPr b="0" i="0" sz="1500" u="none" cap="none" strike="noStrike">
              <a:solidFill>
                <a:schemeClr val="dk1"/>
              </a:solidFill>
              <a:latin typeface="Calibri"/>
              <a:ea typeface="Calibri"/>
              <a:cs typeface="Calibri"/>
              <a:sym typeface="Calibri"/>
            </a:endParaRPr>
          </a:p>
        </p:txBody>
      </p:sp>
      <p:sp>
        <p:nvSpPr>
          <p:cNvPr id="175" name="Google Shape;175;p7"/>
          <p:cNvSpPr/>
          <p:nvPr/>
        </p:nvSpPr>
        <p:spPr>
          <a:xfrm>
            <a:off x="5760720" y="3182112"/>
            <a:ext cx="5788152" cy="868680"/>
          </a:xfrm>
          <a:prstGeom prst="roundRect">
            <a:avLst>
              <a:gd fmla="val 14737" name="adj"/>
            </a:avLst>
          </a:prstGeom>
          <a:solidFill>
            <a:schemeClr val="dk2">
              <a:alpha val="7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5989320" y="3351276"/>
            <a:ext cx="548640" cy="548640"/>
          </a:xfrm>
          <a:prstGeom prst="ellipse">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2000"/>
              <a:buFont typeface="Georgia"/>
              <a:buNone/>
            </a:pPr>
            <a:r>
              <a:rPr b="1" i="0" lang="en-US" sz="2000" u="none" cap="none" strike="noStrike">
                <a:solidFill>
                  <a:schemeClr val="accent2"/>
                </a:solidFill>
                <a:latin typeface="Georgia"/>
                <a:ea typeface="Georgia"/>
                <a:cs typeface="Georgia"/>
                <a:sym typeface="Georgia"/>
              </a:rPr>
              <a:t>2</a:t>
            </a:r>
            <a:endParaRPr b="0" i="0" sz="2000" u="none" cap="none" strike="noStrike">
              <a:solidFill>
                <a:schemeClr val="dk1"/>
              </a:solidFill>
              <a:latin typeface="Calibri"/>
              <a:ea typeface="Calibri"/>
              <a:cs typeface="Calibri"/>
              <a:sym typeface="Calibri"/>
            </a:endParaRPr>
          </a:p>
        </p:txBody>
      </p:sp>
      <p:sp>
        <p:nvSpPr>
          <p:cNvPr id="177" name="Google Shape;177;p7"/>
          <p:cNvSpPr txBox="1"/>
          <p:nvPr/>
        </p:nvSpPr>
        <p:spPr>
          <a:xfrm>
            <a:off x="6766560" y="3273552"/>
            <a:ext cx="4617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Construir los módulos de bienestar y los académicos: matrícula, notas, asistencia, horarios y expediente.</a:t>
            </a:r>
            <a:endParaRPr b="0" i="0" sz="1500" u="none" cap="none" strike="noStrike">
              <a:solidFill>
                <a:schemeClr val="dk1"/>
              </a:solidFill>
              <a:latin typeface="Calibri"/>
              <a:ea typeface="Calibri"/>
              <a:cs typeface="Calibri"/>
              <a:sym typeface="Calibri"/>
            </a:endParaRPr>
          </a:p>
        </p:txBody>
      </p:sp>
      <p:sp>
        <p:nvSpPr>
          <p:cNvPr id="178" name="Google Shape;178;p7"/>
          <p:cNvSpPr/>
          <p:nvPr/>
        </p:nvSpPr>
        <p:spPr>
          <a:xfrm>
            <a:off x="5760720" y="4215384"/>
            <a:ext cx="5788152" cy="868680"/>
          </a:xfrm>
          <a:prstGeom prst="roundRect">
            <a:avLst>
              <a:gd fmla="val 14737" name="adj"/>
            </a:avLst>
          </a:prstGeom>
          <a:solidFill>
            <a:schemeClr val="dk2">
              <a:alpha val="7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
          <p:cNvSpPr/>
          <p:nvPr/>
        </p:nvSpPr>
        <p:spPr>
          <a:xfrm>
            <a:off x="5989320" y="4384548"/>
            <a:ext cx="548640" cy="548640"/>
          </a:xfrm>
          <a:prstGeom prst="ellipse">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2000"/>
              <a:buFont typeface="Georgia"/>
              <a:buNone/>
            </a:pPr>
            <a:r>
              <a:rPr b="1" i="0" lang="en-US" sz="2000" u="none" cap="none" strike="noStrike">
                <a:solidFill>
                  <a:schemeClr val="accent2"/>
                </a:solidFill>
                <a:latin typeface="Georgia"/>
                <a:ea typeface="Georgia"/>
                <a:cs typeface="Georgia"/>
                <a:sym typeface="Georgia"/>
              </a:rPr>
              <a:t>3</a:t>
            </a:r>
            <a:endParaRPr b="0" i="0" sz="2000" u="none" cap="none" strike="noStrike">
              <a:solidFill>
                <a:schemeClr val="dk1"/>
              </a:solidFill>
              <a:latin typeface="Calibri"/>
              <a:ea typeface="Calibri"/>
              <a:cs typeface="Calibri"/>
              <a:sym typeface="Calibri"/>
            </a:endParaRPr>
          </a:p>
        </p:txBody>
      </p:sp>
      <p:sp>
        <p:nvSpPr>
          <p:cNvPr id="180" name="Google Shape;180;p7"/>
          <p:cNvSpPr txBox="1"/>
          <p:nvPr/>
        </p:nvSpPr>
        <p:spPr>
          <a:xfrm>
            <a:off x="6766560" y="4306824"/>
            <a:ext cx="4617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Implementar alertas tempranas, chat y citas, certificados con QR e informes institucionales.</a:t>
            </a:r>
            <a:endParaRPr b="0" i="0" sz="1500" u="none" cap="none" strike="noStrike">
              <a:solidFill>
                <a:schemeClr val="dk1"/>
              </a:solidFill>
              <a:latin typeface="Calibri"/>
              <a:ea typeface="Calibri"/>
              <a:cs typeface="Calibri"/>
              <a:sym typeface="Calibri"/>
            </a:endParaRPr>
          </a:p>
        </p:txBody>
      </p:sp>
      <p:sp>
        <p:nvSpPr>
          <p:cNvPr id="181" name="Google Shape;181;p7"/>
          <p:cNvSpPr/>
          <p:nvPr/>
        </p:nvSpPr>
        <p:spPr>
          <a:xfrm>
            <a:off x="5760720" y="5248656"/>
            <a:ext cx="5788152" cy="868680"/>
          </a:xfrm>
          <a:prstGeom prst="roundRect">
            <a:avLst>
              <a:gd fmla="val 14737" name="adj"/>
            </a:avLst>
          </a:prstGeom>
          <a:solidFill>
            <a:schemeClr val="dk2">
              <a:alpha val="7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
          <p:cNvSpPr/>
          <p:nvPr/>
        </p:nvSpPr>
        <p:spPr>
          <a:xfrm>
            <a:off x="5989320" y="5417820"/>
            <a:ext cx="548640" cy="548640"/>
          </a:xfrm>
          <a:prstGeom prst="ellipse">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2000"/>
              <a:buFont typeface="Georgia"/>
              <a:buNone/>
            </a:pPr>
            <a:r>
              <a:rPr b="1" i="0" lang="en-US" sz="2000" u="none" cap="none" strike="noStrike">
                <a:solidFill>
                  <a:schemeClr val="accent2"/>
                </a:solidFill>
                <a:latin typeface="Georgia"/>
                <a:ea typeface="Georgia"/>
                <a:cs typeface="Georgia"/>
                <a:sym typeface="Georgia"/>
              </a:rPr>
              <a:t>4</a:t>
            </a:r>
            <a:endParaRPr b="0" i="0" sz="2000" u="none" cap="none" strike="noStrike">
              <a:solidFill>
                <a:schemeClr val="dk1"/>
              </a:solidFill>
              <a:latin typeface="Calibri"/>
              <a:ea typeface="Calibri"/>
              <a:cs typeface="Calibri"/>
              <a:sym typeface="Calibri"/>
            </a:endParaRPr>
          </a:p>
        </p:txBody>
      </p:sp>
      <p:sp>
        <p:nvSpPr>
          <p:cNvPr id="183" name="Google Shape;183;p7"/>
          <p:cNvSpPr txBox="1"/>
          <p:nvPr/>
        </p:nvSpPr>
        <p:spPr>
          <a:xfrm>
            <a:off x="6766560" y="5340096"/>
            <a:ext cx="46177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Proteger los datos con consentimiento (Ley 1581), verificación en 2 pasos y buenas prácticas de seguridad.</a:t>
            </a:r>
            <a:endParaRPr b="0" i="0" sz="1500" u="none" cap="none" strike="noStrike">
              <a:solidFill>
                <a:schemeClr val="dk1"/>
              </a:solidFill>
              <a:latin typeface="Calibri"/>
              <a:ea typeface="Calibri"/>
              <a:cs typeface="Calibri"/>
              <a:sym typeface="Calibri"/>
            </a:endParaRPr>
          </a:p>
        </p:txBody>
      </p:sp>
      <p:sp>
        <p:nvSpPr>
          <p:cNvPr id="184" name="Google Shape;184;p7"/>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par>
                                <p:cTn fill="hold" nodeType="withEffect" presetClass="entr" presetID="10" presetSubtype="0">
                                  <p:stCondLst>
                                    <p:cond delay="26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par>
                                <p:cTn fill="hold" nodeType="withEffect" presetClass="entr" presetID="10" presetSubtype="0">
                                  <p:stCondLst>
                                    <p:cond delay="260"/>
                                  </p:stCondLst>
                                  <p:childTnLst>
                                    <p:set>
                                      <p:cBhvr>
                                        <p:cTn dur="1" fill="hold">
                                          <p:stCondLst>
                                            <p:cond delay="0"/>
                                          </p:stCondLst>
                                        </p:cTn>
                                        <p:tgtEl>
                                          <p:spTgt spid="169"/>
                                        </p:tgtEl>
                                        <p:attrNameLst>
                                          <p:attrName>style.visibility</p:attrName>
                                        </p:attrNameLst>
                                      </p:cBhvr>
                                      <p:to>
                                        <p:strVal val="visible"/>
                                      </p:to>
                                    </p:set>
                                    <p:animEffect filter="fade" transition="in">
                                      <p:cBhvr>
                                        <p:cTn dur="500"/>
                                        <p:tgtEl>
                                          <p:spTgt spid="169"/>
                                        </p:tgtEl>
                                      </p:cBhvr>
                                    </p:animEffect>
                                  </p:childTnLst>
                                </p:cTn>
                              </p:par>
                              <p:par>
                                <p:cTn fill="hold" nodeType="withEffect" presetClass="entr" presetID="10" presetSubtype="0">
                                  <p:stCondLst>
                                    <p:cond delay="26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par>
                                <p:cTn fill="hold" nodeType="withEffect" presetClass="entr" presetID="10" presetSubtype="0">
                                  <p:stCondLst>
                                    <p:cond delay="52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par>
                                <p:cTn fill="hold" nodeType="withEffect" presetClass="entr" presetID="10" presetSubtype="0">
                                  <p:stCondLst>
                                    <p:cond delay="520"/>
                                  </p:stCondLst>
                                  <p:childTnLst>
                                    <p:set>
                                      <p:cBhvr>
                                        <p:cTn dur="1" fill="hold">
                                          <p:stCondLst>
                                            <p:cond delay="0"/>
                                          </p:stCondLst>
                                        </p:cTn>
                                        <p:tgtEl>
                                          <p:spTgt spid="172"/>
                                        </p:tgtEl>
                                        <p:attrNameLst>
                                          <p:attrName>style.visibility</p:attrName>
                                        </p:attrNameLst>
                                      </p:cBhvr>
                                      <p:to>
                                        <p:strVal val="visible"/>
                                      </p:to>
                                    </p:set>
                                    <p:animEffect filter="fade" transition="in">
                                      <p:cBhvr>
                                        <p:cTn dur="500"/>
                                        <p:tgtEl>
                                          <p:spTgt spid="172"/>
                                        </p:tgtEl>
                                      </p:cBhvr>
                                    </p:animEffect>
                                  </p:childTnLst>
                                </p:cTn>
                              </p:par>
                              <p:par>
                                <p:cTn fill="hold" nodeType="withEffect" presetClass="entr" presetID="10" presetSubtype="0">
                                  <p:stCondLst>
                                    <p:cond delay="52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par>
                                <p:cTn fill="hold" nodeType="withEffect" presetClass="entr" presetID="10" presetSubtype="0">
                                  <p:stCondLst>
                                    <p:cond delay="52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par>
                                <p:cTn fill="hold" nodeType="withEffect" presetClass="entr" presetID="10" presetSubtype="0">
                                  <p:stCondLst>
                                    <p:cond delay="78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par>
                                <p:cTn fill="hold" nodeType="withEffect" presetClass="entr" presetID="10" presetSubtype="0">
                                  <p:stCondLst>
                                    <p:cond delay="78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par>
                                <p:cTn fill="hold" nodeType="withEffect" presetClass="entr" presetID="10" presetSubtype="0">
                                  <p:stCondLst>
                                    <p:cond delay="78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par>
                                <p:cTn fill="hold" nodeType="withEffect" presetClass="entr" presetID="10" presetSubtype="0">
                                  <p:stCondLst>
                                    <p:cond delay="104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par>
                                <p:cTn fill="hold" nodeType="withEffect" presetClass="entr" presetID="10" presetSubtype="0">
                                  <p:stCondLst>
                                    <p:cond delay="104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par>
                                <p:cTn fill="hold" nodeType="withEffect" presetClass="entr" presetID="10" presetSubtype="0">
                                  <p:stCondLst>
                                    <p:cond delay="104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par>
                                <p:cTn fill="hold" nodeType="withEffect" presetClass="entr" presetID="10" presetSubtype="0">
                                  <p:stCondLst>
                                    <p:cond delay="1300"/>
                                  </p:stCondLst>
                                  <p:childTnLst>
                                    <p:set>
                                      <p:cBhvr>
                                        <p:cTn dur="1" fill="hold">
                                          <p:stCondLst>
                                            <p:cond delay="0"/>
                                          </p:stCondLst>
                                        </p:cTn>
                                        <p:tgtEl>
                                          <p:spTgt spid="181"/>
                                        </p:tgtEl>
                                        <p:attrNameLst>
                                          <p:attrName>style.visibility</p:attrName>
                                        </p:attrNameLst>
                                      </p:cBhvr>
                                      <p:to>
                                        <p:strVal val="visible"/>
                                      </p:to>
                                    </p:set>
                                    <p:animEffect filter="fade" transition="in">
                                      <p:cBhvr>
                                        <p:cTn dur="500"/>
                                        <p:tgtEl>
                                          <p:spTgt spid="181"/>
                                        </p:tgtEl>
                                      </p:cBhvr>
                                    </p:animEffect>
                                  </p:childTnLst>
                                </p:cTn>
                              </p:par>
                              <p:par>
                                <p:cTn fill="hold" nodeType="withEffect" presetClass="entr" presetID="10" presetSubtype="0">
                                  <p:stCondLst>
                                    <p:cond delay="1300"/>
                                  </p:stCondLst>
                                  <p:childTnLst>
                                    <p:set>
                                      <p:cBhvr>
                                        <p:cTn dur="1" fill="hold">
                                          <p:stCondLst>
                                            <p:cond delay="0"/>
                                          </p:stCondLst>
                                        </p:cTn>
                                        <p:tgtEl>
                                          <p:spTgt spid="182"/>
                                        </p:tgtEl>
                                        <p:attrNameLst>
                                          <p:attrName>style.visibility</p:attrName>
                                        </p:attrNameLst>
                                      </p:cBhvr>
                                      <p:to>
                                        <p:strVal val="visible"/>
                                      </p:to>
                                    </p:set>
                                    <p:animEffect filter="fade" transition="in">
                                      <p:cBhvr>
                                        <p:cTn dur="500"/>
                                        <p:tgtEl>
                                          <p:spTgt spid="182"/>
                                        </p:tgtEl>
                                      </p:cBhvr>
                                    </p:animEffect>
                                  </p:childTnLst>
                                </p:cTn>
                              </p:par>
                              <p:par>
                                <p:cTn fill="hold" nodeType="withEffect" presetClass="entr" presetID="10" presetSubtype="0">
                                  <p:stCondLst>
                                    <p:cond delay="130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8"/>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02  ·  LA SOLUCIÓN</a:t>
            </a:r>
            <a:endParaRPr b="0" i="0" sz="1200" u="none" cap="none" strike="noStrike">
              <a:solidFill>
                <a:schemeClr val="dk1"/>
              </a:solidFill>
              <a:latin typeface="Calibri"/>
              <a:ea typeface="Calibri"/>
              <a:cs typeface="Calibri"/>
              <a:sym typeface="Calibri"/>
            </a:endParaRPr>
          </a:p>
        </p:txBody>
      </p:sp>
      <p:sp>
        <p:nvSpPr>
          <p:cNvPr id="191" name="Google Shape;191;p8"/>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Bienestar emocional</a:t>
            </a:r>
            <a:endParaRPr sz="3400"/>
          </a:p>
        </p:txBody>
      </p:sp>
      <p:sp>
        <p:nvSpPr>
          <p:cNvPr id="192" name="Google Shape;192;p8"/>
          <p:cNvSpPr/>
          <p:nvPr/>
        </p:nvSpPr>
        <p:spPr>
          <a:xfrm>
            <a:off x="640080" y="178308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193" name="Google Shape;193;p8"/>
          <p:cNvPicPr preferRelativeResize="0"/>
          <p:nvPr/>
        </p:nvPicPr>
        <p:blipFill rotWithShape="1">
          <a:blip r:embed="rId3">
            <a:alphaModFix/>
          </a:blip>
          <a:srcRect b="0" l="0" r="0" t="0"/>
          <a:stretch/>
        </p:blipFill>
        <p:spPr>
          <a:xfrm>
            <a:off x="914400" y="2011680"/>
            <a:ext cx="640080" cy="640080"/>
          </a:xfrm>
          <a:prstGeom prst="rect">
            <a:avLst/>
          </a:prstGeom>
          <a:noFill/>
          <a:ln>
            <a:noFill/>
          </a:ln>
        </p:spPr>
      </p:pic>
      <p:sp>
        <p:nvSpPr>
          <p:cNvPr id="194" name="Google Shape;194;p8"/>
          <p:cNvSpPr txBox="1"/>
          <p:nvPr/>
        </p:nvSpPr>
        <p:spPr>
          <a:xfrm>
            <a:off x="914400" y="274320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Emociones</a:t>
            </a:r>
            <a:endParaRPr b="0" i="0" sz="1700" u="none" cap="none" strike="noStrike">
              <a:solidFill>
                <a:schemeClr val="dk1"/>
              </a:solidFill>
              <a:latin typeface="Calibri"/>
              <a:ea typeface="Calibri"/>
              <a:cs typeface="Calibri"/>
              <a:sym typeface="Calibri"/>
            </a:endParaRPr>
          </a:p>
        </p:txBody>
      </p:sp>
      <p:sp>
        <p:nvSpPr>
          <p:cNvPr id="195" name="Google Shape;195;p8"/>
          <p:cNvSpPr txBox="1"/>
          <p:nvPr/>
        </p:nvSpPr>
        <p:spPr>
          <a:xfrm>
            <a:off x="914400" y="313639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Registro varias veces al día, con nota</a:t>
            </a:r>
            <a:endParaRPr b="0" i="0" sz="1400" u="none" cap="none" strike="noStrike">
              <a:solidFill>
                <a:schemeClr val="dk1"/>
              </a:solidFill>
              <a:latin typeface="Calibri"/>
              <a:ea typeface="Calibri"/>
              <a:cs typeface="Calibri"/>
              <a:sym typeface="Calibri"/>
            </a:endParaRPr>
          </a:p>
        </p:txBody>
      </p:sp>
      <p:sp>
        <p:nvSpPr>
          <p:cNvPr id="196" name="Google Shape;196;p8"/>
          <p:cNvSpPr/>
          <p:nvPr/>
        </p:nvSpPr>
        <p:spPr>
          <a:xfrm>
            <a:off x="3410712" y="178308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197" name="Google Shape;197;p8"/>
          <p:cNvPicPr preferRelativeResize="0"/>
          <p:nvPr/>
        </p:nvPicPr>
        <p:blipFill rotWithShape="1">
          <a:blip r:embed="rId4">
            <a:alphaModFix/>
          </a:blip>
          <a:srcRect b="0" l="0" r="0" t="0"/>
          <a:stretch/>
        </p:blipFill>
        <p:spPr>
          <a:xfrm>
            <a:off x="3685032" y="2011680"/>
            <a:ext cx="640080" cy="640080"/>
          </a:xfrm>
          <a:prstGeom prst="rect">
            <a:avLst/>
          </a:prstGeom>
          <a:noFill/>
          <a:ln>
            <a:noFill/>
          </a:ln>
        </p:spPr>
      </p:pic>
      <p:sp>
        <p:nvSpPr>
          <p:cNvPr id="198" name="Google Shape;198;p8"/>
          <p:cNvSpPr txBox="1"/>
          <p:nvPr/>
        </p:nvSpPr>
        <p:spPr>
          <a:xfrm>
            <a:off x="3685032" y="274320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Sueño</a:t>
            </a:r>
            <a:endParaRPr b="0" i="0" sz="1700" u="none" cap="none" strike="noStrike">
              <a:solidFill>
                <a:schemeClr val="dk1"/>
              </a:solidFill>
              <a:latin typeface="Calibri"/>
              <a:ea typeface="Calibri"/>
              <a:cs typeface="Calibri"/>
              <a:sym typeface="Calibri"/>
            </a:endParaRPr>
          </a:p>
        </p:txBody>
      </p:sp>
      <p:sp>
        <p:nvSpPr>
          <p:cNvPr id="199" name="Google Shape;199;p8"/>
          <p:cNvSpPr txBox="1"/>
          <p:nvPr/>
        </p:nvSpPr>
        <p:spPr>
          <a:xfrm>
            <a:off x="3685032" y="313639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Horas, calidad y su efecto en tu ánimo</a:t>
            </a:r>
            <a:endParaRPr b="0" i="0" sz="1400" u="none" cap="none" strike="noStrike">
              <a:solidFill>
                <a:schemeClr val="dk1"/>
              </a:solidFill>
              <a:latin typeface="Calibri"/>
              <a:ea typeface="Calibri"/>
              <a:cs typeface="Calibri"/>
              <a:sym typeface="Calibri"/>
            </a:endParaRPr>
          </a:p>
        </p:txBody>
      </p:sp>
      <p:sp>
        <p:nvSpPr>
          <p:cNvPr id="200" name="Google Shape;200;p8"/>
          <p:cNvSpPr/>
          <p:nvPr/>
        </p:nvSpPr>
        <p:spPr>
          <a:xfrm>
            <a:off x="6181344" y="178308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01" name="Google Shape;201;p8"/>
          <p:cNvPicPr preferRelativeResize="0"/>
          <p:nvPr/>
        </p:nvPicPr>
        <p:blipFill rotWithShape="1">
          <a:blip r:embed="rId5">
            <a:alphaModFix/>
          </a:blip>
          <a:srcRect b="0" l="0" r="0" t="0"/>
          <a:stretch/>
        </p:blipFill>
        <p:spPr>
          <a:xfrm>
            <a:off x="6455664" y="2011680"/>
            <a:ext cx="640080" cy="640080"/>
          </a:xfrm>
          <a:prstGeom prst="rect">
            <a:avLst/>
          </a:prstGeom>
          <a:noFill/>
          <a:ln>
            <a:noFill/>
          </a:ln>
        </p:spPr>
      </p:pic>
      <p:sp>
        <p:nvSpPr>
          <p:cNvPr id="202" name="Google Shape;202;p8"/>
          <p:cNvSpPr txBox="1"/>
          <p:nvPr/>
        </p:nvSpPr>
        <p:spPr>
          <a:xfrm>
            <a:off x="6455664" y="274320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Diario</a:t>
            </a:r>
            <a:endParaRPr b="0" i="0" sz="1700" u="none" cap="none" strike="noStrike">
              <a:solidFill>
                <a:schemeClr val="dk1"/>
              </a:solidFill>
              <a:latin typeface="Calibri"/>
              <a:ea typeface="Calibri"/>
              <a:cs typeface="Calibri"/>
              <a:sym typeface="Calibri"/>
            </a:endParaRPr>
          </a:p>
        </p:txBody>
      </p:sp>
      <p:sp>
        <p:nvSpPr>
          <p:cNvPr id="203" name="Google Shape;203;p8"/>
          <p:cNvSpPr txBox="1"/>
          <p:nvPr/>
        </p:nvSpPr>
        <p:spPr>
          <a:xfrm>
            <a:off x="6455664" y="313639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Texto e imágenes, protegido con PIN</a:t>
            </a:r>
            <a:endParaRPr b="0" i="0" sz="1400" u="none" cap="none" strike="noStrike">
              <a:solidFill>
                <a:schemeClr val="dk1"/>
              </a:solidFill>
              <a:latin typeface="Calibri"/>
              <a:ea typeface="Calibri"/>
              <a:cs typeface="Calibri"/>
              <a:sym typeface="Calibri"/>
            </a:endParaRPr>
          </a:p>
        </p:txBody>
      </p:sp>
      <p:sp>
        <p:nvSpPr>
          <p:cNvPr id="204" name="Google Shape;204;p8"/>
          <p:cNvSpPr/>
          <p:nvPr/>
        </p:nvSpPr>
        <p:spPr>
          <a:xfrm>
            <a:off x="8951976" y="178308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05" name="Google Shape;205;p8"/>
          <p:cNvPicPr preferRelativeResize="0"/>
          <p:nvPr/>
        </p:nvPicPr>
        <p:blipFill rotWithShape="1">
          <a:blip r:embed="rId6">
            <a:alphaModFix/>
          </a:blip>
          <a:srcRect b="0" l="0" r="0" t="0"/>
          <a:stretch/>
        </p:blipFill>
        <p:spPr>
          <a:xfrm>
            <a:off x="9226296" y="2011680"/>
            <a:ext cx="640080" cy="640080"/>
          </a:xfrm>
          <a:prstGeom prst="rect">
            <a:avLst/>
          </a:prstGeom>
          <a:noFill/>
          <a:ln>
            <a:noFill/>
          </a:ln>
        </p:spPr>
      </p:pic>
      <p:sp>
        <p:nvSpPr>
          <p:cNvPr id="206" name="Google Shape;206;p8"/>
          <p:cNvSpPr txBox="1"/>
          <p:nvPr/>
        </p:nvSpPr>
        <p:spPr>
          <a:xfrm>
            <a:off x="9226296" y="274320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Hábitos y metas</a:t>
            </a:r>
            <a:endParaRPr b="0" i="0" sz="1700" u="none" cap="none" strike="noStrike">
              <a:solidFill>
                <a:schemeClr val="dk1"/>
              </a:solidFill>
              <a:latin typeface="Calibri"/>
              <a:ea typeface="Calibri"/>
              <a:cs typeface="Calibri"/>
              <a:sym typeface="Calibri"/>
            </a:endParaRPr>
          </a:p>
        </p:txBody>
      </p:sp>
      <p:sp>
        <p:nvSpPr>
          <p:cNvPr id="207" name="Google Shape;207;p8"/>
          <p:cNvSpPr txBox="1"/>
          <p:nvPr/>
        </p:nvSpPr>
        <p:spPr>
          <a:xfrm>
            <a:off x="9226296" y="313639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Rachas, subtareas e insignias</a:t>
            </a:r>
            <a:endParaRPr b="0" i="0" sz="1400" u="none" cap="none" strike="noStrike">
              <a:solidFill>
                <a:schemeClr val="dk1"/>
              </a:solidFill>
              <a:latin typeface="Calibri"/>
              <a:ea typeface="Calibri"/>
              <a:cs typeface="Calibri"/>
              <a:sym typeface="Calibri"/>
            </a:endParaRPr>
          </a:p>
        </p:txBody>
      </p:sp>
      <p:sp>
        <p:nvSpPr>
          <p:cNvPr id="208" name="Google Shape;208;p8"/>
          <p:cNvSpPr/>
          <p:nvPr/>
        </p:nvSpPr>
        <p:spPr>
          <a:xfrm>
            <a:off x="640080" y="393192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09" name="Google Shape;209;p8"/>
          <p:cNvPicPr preferRelativeResize="0"/>
          <p:nvPr/>
        </p:nvPicPr>
        <p:blipFill rotWithShape="1">
          <a:blip r:embed="rId7">
            <a:alphaModFix/>
          </a:blip>
          <a:srcRect b="0" l="0" r="0" t="0"/>
          <a:stretch/>
        </p:blipFill>
        <p:spPr>
          <a:xfrm>
            <a:off x="914400" y="4160520"/>
            <a:ext cx="640080" cy="640080"/>
          </a:xfrm>
          <a:prstGeom prst="rect">
            <a:avLst/>
          </a:prstGeom>
          <a:noFill/>
          <a:ln>
            <a:noFill/>
          </a:ln>
        </p:spPr>
      </p:pic>
      <p:sp>
        <p:nvSpPr>
          <p:cNvPr id="210" name="Google Shape;210;p8"/>
          <p:cNvSpPr txBox="1"/>
          <p:nvPr/>
        </p:nvSpPr>
        <p:spPr>
          <a:xfrm>
            <a:off x="914400" y="489204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Estadísticas</a:t>
            </a:r>
            <a:endParaRPr b="0" i="0" sz="1700" u="none" cap="none" strike="noStrike">
              <a:solidFill>
                <a:schemeClr val="dk1"/>
              </a:solidFill>
              <a:latin typeface="Calibri"/>
              <a:ea typeface="Calibri"/>
              <a:cs typeface="Calibri"/>
              <a:sym typeface="Calibri"/>
            </a:endParaRPr>
          </a:p>
        </p:txBody>
      </p:sp>
      <p:sp>
        <p:nvSpPr>
          <p:cNvPr id="211" name="Google Shape;211;p8"/>
          <p:cNvSpPr txBox="1"/>
          <p:nvPr/>
        </p:nvSpPr>
        <p:spPr>
          <a:xfrm>
            <a:off x="914400" y="528523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Gráficos por periodo e informe en PDF</a:t>
            </a:r>
            <a:endParaRPr b="0" i="0" sz="1400" u="none" cap="none" strike="noStrike">
              <a:solidFill>
                <a:schemeClr val="dk1"/>
              </a:solidFill>
              <a:latin typeface="Calibri"/>
              <a:ea typeface="Calibri"/>
              <a:cs typeface="Calibri"/>
              <a:sym typeface="Calibri"/>
            </a:endParaRPr>
          </a:p>
        </p:txBody>
      </p:sp>
      <p:sp>
        <p:nvSpPr>
          <p:cNvPr id="212" name="Google Shape;212;p8"/>
          <p:cNvSpPr/>
          <p:nvPr/>
        </p:nvSpPr>
        <p:spPr>
          <a:xfrm>
            <a:off x="3410712" y="393192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13" name="Google Shape;213;p8"/>
          <p:cNvPicPr preferRelativeResize="0"/>
          <p:nvPr/>
        </p:nvPicPr>
        <p:blipFill rotWithShape="1">
          <a:blip r:embed="rId8">
            <a:alphaModFix/>
          </a:blip>
          <a:srcRect b="0" l="0" r="0" t="0"/>
          <a:stretch/>
        </p:blipFill>
        <p:spPr>
          <a:xfrm>
            <a:off x="3685032" y="4160520"/>
            <a:ext cx="640080" cy="640080"/>
          </a:xfrm>
          <a:prstGeom prst="rect">
            <a:avLst/>
          </a:prstGeom>
          <a:noFill/>
          <a:ln>
            <a:noFill/>
          </a:ln>
        </p:spPr>
      </p:pic>
      <p:sp>
        <p:nvSpPr>
          <p:cNvPr id="214" name="Google Shape;214;p8"/>
          <p:cNvSpPr txBox="1"/>
          <p:nvPr/>
        </p:nvSpPr>
        <p:spPr>
          <a:xfrm>
            <a:off x="3685032" y="489204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Alertas</a:t>
            </a:r>
            <a:endParaRPr b="0" i="0" sz="1700" u="none" cap="none" strike="noStrike">
              <a:solidFill>
                <a:schemeClr val="dk1"/>
              </a:solidFill>
              <a:latin typeface="Calibri"/>
              <a:ea typeface="Calibri"/>
              <a:cs typeface="Calibri"/>
              <a:sym typeface="Calibri"/>
            </a:endParaRPr>
          </a:p>
        </p:txBody>
      </p:sp>
      <p:sp>
        <p:nvSpPr>
          <p:cNvPr id="215" name="Google Shape;215;p8"/>
          <p:cNvSpPr txBox="1"/>
          <p:nvPr/>
        </p:nvSpPr>
        <p:spPr>
          <a:xfrm>
            <a:off x="3685032" y="528523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Aviso temprano tras días de ánimo bajo</a:t>
            </a:r>
            <a:endParaRPr b="0" i="0" sz="1400" u="none" cap="none" strike="noStrike">
              <a:solidFill>
                <a:schemeClr val="dk1"/>
              </a:solidFill>
              <a:latin typeface="Calibri"/>
              <a:ea typeface="Calibri"/>
              <a:cs typeface="Calibri"/>
              <a:sym typeface="Calibri"/>
            </a:endParaRPr>
          </a:p>
        </p:txBody>
      </p:sp>
      <p:sp>
        <p:nvSpPr>
          <p:cNvPr id="216" name="Google Shape;216;p8"/>
          <p:cNvSpPr/>
          <p:nvPr/>
        </p:nvSpPr>
        <p:spPr>
          <a:xfrm>
            <a:off x="6181344" y="393192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17" name="Google Shape;217;p8"/>
          <p:cNvPicPr preferRelativeResize="0"/>
          <p:nvPr/>
        </p:nvPicPr>
        <p:blipFill rotWithShape="1">
          <a:blip r:embed="rId9">
            <a:alphaModFix/>
          </a:blip>
          <a:srcRect b="0" l="0" r="0" t="0"/>
          <a:stretch/>
        </p:blipFill>
        <p:spPr>
          <a:xfrm>
            <a:off x="6455664" y="4160520"/>
            <a:ext cx="640080" cy="640080"/>
          </a:xfrm>
          <a:prstGeom prst="rect">
            <a:avLst/>
          </a:prstGeom>
          <a:noFill/>
          <a:ln>
            <a:noFill/>
          </a:ln>
        </p:spPr>
      </p:pic>
      <p:sp>
        <p:nvSpPr>
          <p:cNvPr id="218" name="Google Shape;218;p8"/>
          <p:cNvSpPr txBox="1"/>
          <p:nvPr/>
        </p:nvSpPr>
        <p:spPr>
          <a:xfrm>
            <a:off x="6455664" y="489204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Chat y citas</a:t>
            </a:r>
            <a:endParaRPr b="0" i="0" sz="1700" u="none" cap="none" strike="noStrike">
              <a:solidFill>
                <a:schemeClr val="dk1"/>
              </a:solidFill>
              <a:latin typeface="Calibri"/>
              <a:ea typeface="Calibri"/>
              <a:cs typeface="Calibri"/>
              <a:sym typeface="Calibri"/>
            </a:endParaRPr>
          </a:p>
        </p:txBody>
      </p:sp>
      <p:sp>
        <p:nvSpPr>
          <p:cNvPr id="219" name="Google Shape;219;p8"/>
          <p:cNvSpPr txBox="1"/>
          <p:nvPr/>
        </p:nvSpPr>
        <p:spPr>
          <a:xfrm>
            <a:off x="6455664" y="528523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Contacto con psicología u orientación</a:t>
            </a:r>
            <a:endParaRPr b="0" i="0" sz="1400" u="none" cap="none" strike="noStrike">
              <a:solidFill>
                <a:schemeClr val="dk1"/>
              </a:solidFill>
              <a:latin typeface="Calibri"/>
              <a:ea typeface="Calibri"/>
              <a:cs typeface="Calibri"/>
              <a:sym typeface="Calibri"/>
            </a:endParaRPr>
          </a:p>
        </p:txBody>
      </p:sp>
      <p:sp>
        <p:nvSpPr>
          <p:cNvPr id="220" name="Google Shape;220;p8"/>
          <p:cNvSpPr/>
          <p:nvPr/>
        </p:nvSpPr>
        <p:spPr>
          <a:xfrm>
            <a:off x="8951976" y="393192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21" name="Google Shape;221;p8"/>
          <p:cNvPicPr preferRelativeResize="0"/>
          <p:nvPr/>
        </p:nvPicPr>
        <p:blipFill rotWithShape="1">
          <a:blip r:embed="rId10">
            <a:alphaModFix/>
          </a:blip>
          <a:srcRect b="0" l="0" r="0" t="0"/>
          <a:stretch/>
        </p:blipFill>
        <p:spPr>
          <a:xfrm>
            <a:off x="9226296" y="4160520"/>
            <a:ext cx="640080" cy="640080"/>
          </a:xfrm>
          <a:prstGeom prst="rect">
            <a:avLst/>
          </a:prstGeom>
          <a:noFill/>
          <a:ln>
            <a:noFill/>
          </a:ln>
        </p:spPr>
      </p:pic>
      <p:sp>
        <p:nvSpPr>
          <p:cNvPr id="222" name="Google Shape;222;p8"/>
          <p:cNvSpPr txBox="1"/>
          <p:nvPr/>
        </p:nvSpPr>
        <p:spPr>
          <a:xfrm>
            <a:off x="9226296" y="489204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Apoyo</a:t>
            </a:r>
            <a:endParaRPr b="0" i="0" sz="1700" u="none" cap="none" strike="noStrike">
              <a:solidFill>
                <a:schemeClr val="dk1"/>
              </a:solidFill>
              <a:latin typeface="Calibri"/>
              <a:ea typeface="Calibri"/>
              <a:cs typeface="Calibri"/>
              <a:sym typeface="Calibri"/>
            </a:endParaRPr>
          </a:p>
        </p:txBody>
      </p:sp>
      <p:sp>
        <p:nvSpPr>
          <p:cNvPr id="223" name="Google Shape;223;p8"/>
          <p:cNvSpPr txBox="1"/>
          <p:nvPr/>
        </p:nvSpPr>
        <p:spPr>
          <a:xfrm>
            <a:off x="9226296" y="528523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Encuestas, respiración y líneas de ayuda</a:t>
            </a:r>
            <a:endParaRPr b="0" i="0" sz="1400" u="none" cap="none" strike="noStrike">
              <a:solidFill>
                <a:schemeClr val="dk1"/>
              </a:solidFill>
              <a:latin typeface="Calibri"/>
              <a:ea typeface="Calibri"/>
              <a:cs typeface="Calibri"/>
              <a:sym typeface="Calibri"/>
            </a:endParaRPr>
          </a:p>
        </p:txBody>
      </p:sp>
      <p:sp>
        <p:nvSpPr>
          <p:cNvPr id="224" name="Google Shape;224;p8"/>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par>
                                <p:cTn fill="hold" nodeType="withEffect" presetClass="entr" presetID="10" presetSubtype="0">
                                  <p:stCondLst>
                                    <p:cond delay="26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par>
                                <p:cTn fill="hold" nodeType="withEffect" presetClass="entr" presetID="10" presetSubtype="0">
                                  <p:stCondLst>
                                    <p:cond delay="26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par>
                                <p:cTn fill="hold" nodeType="withEffect" presetClass="entr" presetID="10" presetSubtype="0">
                                  <p:stCondLst>
                                    <p:cond delay="26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par>
                                <p:cTn fill="hold" nodeType="withEffect" presetClass="entr" presetID="10" presetSubtype="0">
                                  <p:stCondLst>
                                    <p:cond delay="26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par>
                                <p:cTn fill="hold" nodeType="withEffect" presetClass="entr" presetID="10" presetSubtype="0">
                                  <p:stCondLst>
                                    <p:cond delay="52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par>
                                <p:cTn fill="hold" nodeType="withEffect" presetClass="entr" presetID="10" presetSubtype="0">
                                  <p:stCondLst>
                                    <p:cond delay="52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par>
                                <p:cTn fill="hold" nodeType="withEffect" presetClass="entr" presetID="10" presetSubtype="0">
                                  <p:stCondLst>
                                    <p:cond delay="52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par>
                                <p:cTn fill="hold" nodeType="withEffect" presetClass="entr" presetID="10" presetSubtype="0">
                                  <p:stCondLst>
                                    <p:cond delay="52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par>
                                <p:cTn fill="hold" nodeType="withEffect" presetClass="entr" presetID="10" presetSubtype="0">
                                  <p:stCondLst>
                                    <p:cond delay="78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par>
                                <p:cTn fill="hold" nodeType="withEffect" presetClass="entr" presetID="10" presetSubtype="0">
                                  <p:stCondLst>
                                    <p:cond delay="78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par>
                                <p:cTn fill="hold" nodeType="withEffect" presetClass="entr" presetID="10" presetSubtype="0">
                                  <p:stCondLst>
                                    <p:cond delay="78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par>
                                <p:cTn fill="hold" nodeType="withEffect" presetClass="entr" presetID="10" presetSubtype="0">
                                  <p:stCondLst>
                                    <p:cond delay="78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par>
                                <p:cTn fill="hold" nodeType="withEffect" presetClass="entr" presetID="10" presetSubtype="0">
                                  <p:stCondLst>
                                    <p:cond delay="104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par>
                                <p:cTn fill="hold" nodeType="withEffect" presetClass="entr" presetID="10" presetSubtype="0">
                                  <p:stCondLst>
                                    <p:cond delay="104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par>
                                <p:cTn fill="hold" nodeType="withEffect" presetClass="entr" presetID="10" presetSubtype="0">
                                  <p:stCondLst>
                                    <p:cond delay="104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par>
                                <p:cTn fill="hold" nodeType="withEffect" presetClass="entr" presetID="10" presetSubtype="0">
                                  <p:stCondLst>
                                    <p:cond delay="104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par>
                                <p:cTn fill="hold" nodeType="withEffect" presetClass="entr" presetID="10" presetSubtype="0">
                                  <p:stCondLst>
                                    <p:cond delay="130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par>
                                <p:cTn fill="hold" nodeType="withEffect" presetClass="entr" presetID="10" presetSubtype="0">
                                  <p:stCondLst>
                                    <p:cond delay="130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par>
                                <p:cTn fill="hold" nodeType="withEffect" presetClass="entr" presetID="10" presetSubtype="0">
                                  <p:stCondLst>
                                    <p:cond delay="130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par>
                                <p:cTn fill="hold" nodeType="withEffect" presetClass="entr" presetID="10" presetSubtype="0">
                                  <p:stCondLst>
                                    <p:cond delay="130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par>
                                <p:cTn fill="hold" nodeType="withEffect" presetClass="entr" presetID="10" presetSubtype="0">
                                  <p:stCondLst>
                                    <p:cond delay="156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par>
                                <p:cTn fill="hold" nodeType="withEffect" presetClass="entr" presetID="10" presetSubtype="0">
                                  <p:stCondLst>
                                    <p:cond delay="156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par>
                                <p:cTn fill="hold" nodeType="withEffect" presetClass="entr" presetID="10" presetSubtype="0">
                                  <p:stCondLst>
                                    <p:cond delay="156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par>
                                <p:cTn fill="hold" nodeType="withEffect" presetClass="entr" presetID="10" presetSubtype="0">
                                  <p:stCondLst>
                                    <p:cond delay="156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par>
                                <p:cTn fill="hold" nodeType="withEffect" presetClass="entr" presetID="10" presetSubtype="0">
                                  <p:stCondLst>
                                    <p:cond delay="182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par>
                                <p:cTn fill="hold" nodeType="withEffect" presetClass="entr" presetID="10" presetSubtype="0">
                                  <p:stCondLst>
                                    <p:cond delay="182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par>
                                <p:cTn fill="hold" nodeType="withEffect" presetClass="entr" presetID="10" presetSubtype="0">
                                  <p:stCondLst>
                                    <p:cond delay="182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par>
                                <p:cTn fill="hold" nodeType="withEffect" presetClass="entr" presetID="10" presetSubtype="0">
                                  <p:stCondLst>
                                    <p:cond delay="182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par>
                                <p:cTn fill="hold" nodeType="withEffect" presetClass="entr" presetID="10" presetSubtype="0">
                                  <p:stCondLst>
                                    <p:cond delay="208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par>
                                <p:cTn fill="hold" nodeType="withEffect" presetClass="entr" presetID="10" presetSubtype="0">
                                  <p:stCondLst>
                                    <p:cond delay="208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par>
                                <p:cTn fill="hold" nodeType="withEffect" presetClass="entr" presetID="10" presetSubtype="0">
                                  <p:stCondLst>
                                    <p:cond delay="208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par>
                                <p:cTn fill="hold" nodeType="withEffect" presetClass="entr" presetID="10" presetSubtype="0">
                                  <p:stCondLst>
                                    <p:cond delay="2080"/>
                                  </p:stCondLst>
                                  <p:childTnLst>
                                    <p:set>
                                      <p:cBhvr>
                                        <p:cTn dur="1" fill="hold">
                                          <p:stCondLst>
                                            <p:cond delay="0"/>
                                          </p:stCondLst>
                                        </p:cTn>
                                        <p:tgtEl>
                                          <p:spTgt spid="223"/>
                                        </p:tgtEl>
                                        <p:attrNameLst>
                                          <p:attrName>style.visibility</p:attrName>
                                        </p:attrNameLst>
                                      </p:cBhvr>
                                      <p:to>
                                        <p:strVal val="visible"/>
                                      </p:to>
                                    </p:set>
                                    <p:animEffect filter="fade" transition="in">
                                      <p:cBhvr>
                                        <p:cTn dur="500"/>
                                        <p:tgtEl>
                                          <p:spTgt spid="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90" name="Google Shape;190;p8"/>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02  ·  LA SOLUCIÓN</a:t>
            </a:r>
            <a:endParaRPr b="0" i="0" sz="1200" u="none" cap="none" strike="noStrike">
              <a:solidFill>
                <a:schemeClr val="dk1"/>
              </a:solidFill>
              <a:latin typeface="Calibri"/>
              <a:ea typeface="Calibri"/>
              <a:cs typeface="Calibri"/>
              <a:sym typeface="Calibri"/>
            </a:endParaRPr>
          </a:p>
        </p:txBody>
      </p:sp>
      <p:sp>
        <p:nvSpPr>
          <p:cNvPr id="191" name="Google Shape;191;p8"/>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Gestión académica</a:t>
            </a:r>
            <a:endParaRPr sz="3400"/>
          </a:p>
        </p:txBody>
      </p:sp>
      <p:sp>
        <p:nvSpPr>
          <p:cNvPr id="192" name="Google Shape;192;p8"/>
          <p:cNvSpPr/>
          <p:nvPr/>
        </p:nvSpPr>
        <p:spPr>
          <a:xfrm>
            <a:off x="640080" y="178308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193" name="Google Shape;193;p8"/>
          <p:cNvPicPr preferRelativeResize="0"/>
          <p:nvPr/>
        </p:nvPicPr>
        <p:blipFill rotWithShape="1">
          <a:blip r:embed="rId10">
            <a:alphaModFix/>
          </a:blip>
          <a:srcRect b="0" l="0" r="0" t="0"/>
          <a:stretch/>
        </p:blipFill>
        <p:spPr>
          <a:xfrm>
            <a:off x="914400" y="2011680"/>
            <a:ext cx="640080" cy="640080"/>
          </a:xfrm>
          <a:prstGeom prst="rect">
            <a:avLst/>
          </a:prstGeom>
          <a:noFill/>
          <a:ln>
            <a:noFill/>
          </a:ln>
        </p:spPr>
      </p:pic>
      <p:sp>
        <p:nvSpPr>
          <p:cNvPr id="194" name="Google Shape;194;p8"/>
          <p:cNvSpPr txBox="1"/>
          <p:nvPr/>
        </p:nvSpPr>
        <p:spPr>
          <a:xfrm>
            <a:off x="914400" y="274320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Matrícula</a:t>
            </a:r>
            <a:endParaRPr b="0" i="0" sz="1700" u="none" cap="none" strike="noStrike">
              <a:solidFill>
                <a:schemeClr val="dk1"/>
              </a:solidFill>
              <a:latin typeface="Calibri"/>
              <a:ea typeface="Calibri"/>
              <a:cs typeface="Calibri"/>
              <a:sym typeface="Calibri"/>
            </a:endParaRPr>
          </a:p>
        </p:txBody>
      </p:sp>
      <p:sp>
        <p:nvSpPr>
          <p:cNvPr id="195" name="Google Shape;195;p8"/>
          <p:cNvSpPr txBox="1"/>
          <p:nvPr/>
        </p:nvSpPr>
        <p:spPr>
          <a:xfrm>
            <a:off x="914400" y="313639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Inscripción web, matrícula y renovación</a:t>
            </a:r>
            <a:endParaRPr b="0" i="0" sz="1400" u="none" cap="none" strike="noStrike">
              <a:solidFill>
                <a:schemeClr val="dk1"/>
              </a:solidFill>
              <a:latin typeface="Calibri"/>
              <a:ea typeface="Calibri"/>
              <a:cs typeface="Calibri"/>
              <a:sym typeface="Calibri"/>
            </a:endParaRPr>
          </a:p>
        </p:txBody>
      </p:sp>
      <p:sp>
        <p:nvSpPr>
          <p:cNvPr id="196" name="Google Shape;196;p8"/>
          <p:cNvSpPr/>
          <p:nvPr/>
        </p:nvSpPr>
        <p:spPr>
          <a:xfrm>
            <a:off x="3410712" y="178308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197" name="Google Shape;197;p8"/>
          <p:cNvPicPr preferRelativeResize="0"/>
          <p:nvPr/>
        </p:nvPicPr>
        <p:blipFill rotWithShape="1">
          <a:blip r:embed="rId2">
            <a:alphaModFix/>
          </a:blip>
          <a:srcRect b="0" l="0" r="0" t="0"/>
          <a:stretch/>
        </p:blipFill>
        <p:spPr>
          <a:xfrm>
            <a:off x="3685032" y="2011680"/>
            <a:ext cx="640080" cy="640080"/>
          </a:xfrm>
          <a:prstGeom prst="rect">
            <a:avLst/>
          </a:prstGeom>
          <a:noFill/>
          <a:ln>
            <a:noFill/>
          </a:ln>
        </p:spPr>
      </p:pic>
      <p:sp>
        <p:nvSpPr>
          <p:cNvPr id="198" name="Google Shape;198;p8"/>
          <p:cNvSpPr txBox="1"/>
          <p:nvPr/>
        </p:nvSpPr>
        <p:spPr>
          <a:xfrm>
            <a:off x="3685032" y="274320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Notas</a:t>
            </a:r>
            <a:endParaRPr b="0" i="0" sz="1700" u="none" cap="none" strike="noStrike">
              <a:solidFill>
                <a:schemeClr val="dk1"/>
              </a:solidFill>
              <a:latin typeface="Calibri"/>
              <a:ea typeface="Calibri"/>
              <a:cs typeface="Calibri"/>
              <a:sym typeface="Calibri"/>
            </a:endParaRPr>
          </a:p>
        </p:txBody>
      </p:sp>
      <p:sp>
        <p:nvSpPr>
          <p:cNvPr id="199" name="Google Shape;199;p8"/>
          <p:cNvSpPr txBox="1"/>
          <p:nvPr/>
        </p:nvSpPr>
        <p:spPr>
          <a:xfrm>
            <a:off x="3685032" y="313639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Actividades, logros, planilla y boletín</a:t>
            </a:r>
            <a:endParaRPr b="0" i="0" sz="1400" u="none" cap="none" strike="noStrike">
              <a:solidFill>
                <a:schemeClr val="dk1"/>
              </a:solidFill>
              <a:latin typeface="Calibri"/>
              <a:ea typeface="Calibri"/>
              <a:cs typeface="Calibri"/>
              <a:sym typeface="Calibri"/>
            </a:endParaRPr>
          </a:p>
        </p:txBody>
      </p:sp>
      <p:sp>
        <p:nvSpPr>
          <p:cNvPr id="200" name="Google Shape;200;p8"/>
          <p:cNvSpPr/>
          <p:nvPr/>
        </p:nvSpPr>
        <p:spPr>
          <a:xfrm>
            <a:off x="6181344" y="178308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01" name="Google Shape;201;p8"/>
          <p:cNvPicPr preferRelativeResize="0"/>
          <p:nvPr/>
        </p:nvPicPr>
        <p:blipFill rotWithShape="1">
          <a:blip r:embed="rId3">
            <a:alphaModFix/>
          </a:blip>
          <a:srcRect b="0" l="0" r="0" t="0"/>
          <a:stretch/>
        </p:blipFill>
        <p:spPr>
          <a:xfrm>
            <a:off x="6455664" y="2011680"/>
            <a:ext cx="640080" cy="640080"/>
          </a:xfrm>
          <a:prstGeom prst="rect">
            <a:avLst/>
          </a:prstGeom>
          <a:noFill/>
          <a:ln>
            <a:noFill/>
          </a:ln>
        </p:spPr>
      </p:pic>
      <p:sp>
        <p:nvSpPr>
          <p:cNvPr id="202" name="Google Shape;202;p8"/>
          <p:cNvSpPr txBox="1"/>
          <p:nvPr/>
        </p:nvSpPr>
        <p:spPr>
          <a:xfrm>
            <a:off x="6455664" y="274320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Asistencia</a:t>
            </a:r>
            <a:endParaRPr b="0" i="0" sz="1700" u="none" cap="none" strike="noStrike">
              <a:solidFill>
                <a:schemeClr val="dk1"/>
              </a:solidFill>
              <a:latin typeface="Calibri"/>
              <a:ea typeface="Calibri"/>
              <a:cs typeface="Calibri"/>
              <a:sym typeface="Calibri"/>
            </a:endParaRPr>
          </a:p>
        </p:txBody>
      </p:sp>
      <p:sp>
        <p:nvSpPr>
          <p:cNvPr id="203" name="Google Shape;203;p8"/>
          <p:cNvSpPr txBox="1"/>
          <p:nvPr/>
        </p:nvSpPr>
        <p:spPr>
          <a:xfrm>
            <a:off x="6455664" y="313639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Lista por clase y alerta de ausentismo</a:t>
            </a:r>
            <a:endParaRPr b="0" i="0" sz="1400" u="none" cap="none" strike="noStrike">
              <a:solidFill>
                <a:schemeClr val="dk1"/>
              </a:solidFill>
              <a:latin typeface="Calibri"/>
              <a:ea typeface="Calibri"/>
              <a:cs typeface="Calibri"/>
              <a:sym typeface="Calibri"/>
            </a:endParaRPr>
          </a:p>
        </p:txBody>
      </p:sp>
      <p:sp>
        <p:nvSpPr>
          <p:cNvPr id="204" name="Google Shape;204;p8"/>
          <p:cNvSpPr/>
          <p:nvPr/>
        </p:nvSpPr>
        <p:spPr>
          <a:xfrm>
            <a:off x="8951976" y="178308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05" name="Google Shape;205;p8"/>
          <p:cNvPicPr preferRelativeResize="0"/>
          <p:nvPr/>
        </p:nvPicPr>
        <p:blipFill rotWithShape="1">
          <a:blip r:embed="rId6">
            <a:alphaModFix/>
          </a:blip>
          <a:srcRect b="0" l="0" r="0" t="0"/>
          <a:stretch/>
        </p:blipFill>
        <p:spPr>
          <a:xfrm>
            <a:off x="9226296" y="2011680"/>
            <a:ext cx="640080" cy="640080"/>
          </a:xfrm>
          <a:prstGeom prst="rect">
            <a:avLst/>
          </a:prstGeom>
          <a:noFill/>
          <a:ln>
            <a:noFill/>
          </a:ln>
        </p:spPr>
      </p:pic>
      <p:sp>
        <p:nvSpPr>
          <p:cNvPr id="206" name="Google Shape;206;p8"/>
          <p:cNvSpPr txBox="1"/>
          <p:nvPr/>
        </p:nvSpPr>
        <p:spPr>
          <a:xfrm>
            <a:off x="9226296" y="274320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Horarios</a:t>
            </a:r>
            <a:endParaRPr b="0" i="0" sz="1700" u="none" cap="none" strike="noStrike">
              <a:solidFill>
                <a:schemeClr val="dk1"/>
              </a:solidFill>
              <a:latin typeface="Calibri"/>
              <a:ea typeface="Calibri"/>
              <a:cs typeface="Calibri"/>
              <a:sym typeface="Calibri"/>
            </a:endParaRPr>
          </a:p>
        </p:txBody>
      </p:sp>
      <p:sp>
        <p:nvSpPr>
          <p:cNvPr id="207" name="Google Shape;207;p8"/>
          <p:cNvSpPr txBox="1"/>
          <p:nvPr/>
        </p:nvSpPr>
        <p:spPr>
          <a:xfrm>
            <a:off x="9226296" y="313639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Franjas, grupos y detección de cruces</a:t>
            </a:r>
            <a:endParaRPr b="0" i="0" sz="1400" u="none" cap="none" strike="noStrike">
              <a:solidFill>
                <a:schemeClr val="dk1"/>
              </a:solidFill>
              <a:latin typeface="Calibri"/>
              <a:ea typeface="Calibri"/>
              <a:cs typeface="Calibri"/>
              <a:sym typeface="Calibri"/>
            </a:endParaRPr>
          </a:p>
        </p:txBody>
      </p:sp>
      <p:sp>
        <p:nvSpPr>
          <p:cNvPr id="208" name="Google Shape;208;p8"/>
          <p:cNvSpPr/>
          <p:nvPr/>
        </p:nvSpPr>
        <p:spPr>
          <a:xfrm>
            <a:off x="640080" y="393192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09" name="Google Shape;209;p8"/>
          <p:cNvPicPr preferRelativeResize="0"/>
          <p:nvPr/>
        </p:nvPicPr>
        <p:blipFill rotWithShape="1">
          <a:blip r:embed="rId7">
            <a:alphaModFix/>
          </a:blip>
          <a:srcRect b="0" l="0" r="0" t="0"/>
          <a:stretch/>
        </p:blipFill>
        <p:spPr>
          <a:xfrm>
            <a:off x="914400" y="4160520"/>
            <a:ext cx="640080" cy="640080"/>
          </a:xfrm>
          <a:prstGeom prst="rect">
            <a:avLst/>
          </a:prstGeom>
          <a:noFill/>
          <a:ln>
            <a:noFill/>
          </a:ln>
        </p:spPr>
      </p:pic>
      <p:sp>
        <p:nvSpPr>
          <p:cNvPr id="210" name="Google Shape;210;p8"/>
          <p:cNvSpPr txBox="1"/>
          <p:nvPr/>
        </p:nvSpPr>
        <p:spPr>
          <a:xfrm>
            <a:off x="914400" y="489204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Expediente</a:t>
            </a:r>
            <a:endParaRPr b="0" i="0" sz="1700" u="none" cap="none" strike="noStrike">
              <a:solidFill>
                <a:schemeClr val="dk1"/>
              </a:solidFill>
              <a:latin typeface="Calibri"/>
              <a:ea typeface="Calibri"/>
              <a:cs typeface="Calibri"/>
              <a:sym typeface="Calibri"/>
            </a:endParaRPr>
          </a:p>
        </p:txBody>
      </p:sp>
      <p:sp>
        <p:nvSpPr>
          <p:cNvPr id="211" name="Google Shape;211;p8"/>
          <p:cNvSpPr txBox="1"/>
          <p:nvPr/>
        </p:nvSpPr>
        <p:spPr>
          <a:xfrm>
            <a:off x="914400" y="528523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Hoja de vida, observador y convivencia</a:t>
            </a:r>
            <a:endParaRPr b="0" i="0" sz="1400" u="none" cap="none" strike="noStrike">
              <a:solidFill>
                <a:schemeClr val="dk1"/>
              </a:solidFill>
              <a:latin typeface="Calibri"/>
              <a:ea typeface="Calibri"/>
              <a:cs typeface="Calibri"/>
              <a:sym typeface="Calibri"/>
            </a:endParaRPr>
          </a:p>
        </p:txBody>
      </p:sp>
      <p:sp>
        <p:nvSpPr>
          <p:cNvPr id="212" name="Google Shape;212;p8"/>
          <p:cNvSpPr/>
          <p:nvPr/>
        </p:nvSpPr>
        <p:spPr>
          <a:xfrm>
            <a:off x="3410712" y="393192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13" name="Google Shape;213;p8"/>
          <p:cNvPicPr preferRelativeResize="0"/>
          <p:nvPr/>
        </p:nvPicPr>
        <p:blipFill rotWithShape="1">
          <a:blip r:embed="rId8">
            <a:alphaModFix/>
          </a:blip>
          <a:srcRect b="0" l="0" r="0" t="0"/>
          <a:stretch/>
        </p:blipFill>
        <p:spPr>
          <a:xfrm>
            <a:off x="3685032" y="4160520"/>
            <a:ext cx="640080" cy="640080"/>
          </a:xfrm>
          <a:prstGeom prst="rect">
            <a:avLst/>
          </a:prstGeom>
          <a:noFill/>
          <a:ln>
            <a:noFill/>
          </a:ln>
        </p:spPr>
      </p:pic>
      <p:sp>
        <p:nvSpPr>
          <p:cNvPr id="214" name="Google Shape;214;p8"/>
          <p:cNvSpPr txBox="1"/>
          <p:nvPr/>
        </p:nvSpPr>
        <p:spPr>
          <a:xfrm>
            <a:off x="3685032" y="489204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Certificados</a:t>
            </a:r>
            <a:endParaRPr b="0" i="0" sz="1700" u="none" cap="none" strike="noStrike">
              <a:solidFill>
                <a:schemeClr val="dk1"/>
              </a:solidFill>
              <a:latin typeface="Calibri"/>
              <a:ea typeface="Calibri"/>
              <a:cs typeface="Calibri"/>
              <a:sym typeface="Calibri"/>
            </a:endParaRPr>
          </a:p>
        </p:txBody>
      </p:sp>
      <p:sp>
        <p:nvSpPr>
          <p:cNvPr id="215" name="Google Shape;215;p8"/>
          <p:cNvSpPr txBox="1"/>
          <p:nvPr/>
        </p:nvSpPr>
        <p:spPr>
          <a:xfrm>
            <a:off x="3685032" y="528523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Con código QR verificable en línea</a:t>
            </a:r>
            <a:endParaRPr b="0" i="0" sz="1400" u="none" cap="none" strike="noStrike">
              <a:solidFill>
                <a:schemeClr val="dk1"/>
              </a:solidFill>
              <a:latin typeface="Calibri"/>
              <a:ea typeface="Calibri"/>
              <a:cs typeface="Calibri"/>
              <a:sym typeface="Calibri"/>
            </a:endParaRPr>
          </a:p>
        </p:txBody>
      </p:sp>
      <p:sp>
        <p:nvSpPr>
          <p:cNvPr id="216" name="Google Shape;216;p8"/>
          <p:cNvSpPr/>
          <p:nvPr/>
        </p:nvSpPr>
        <p:spPr>
          <a:xfrm>
            <a:off x="6181344" y="393192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17" name="Google Shape;217;p8"/>
          <p:cNvPicPr preferRelativeResize="0"/>
          <p:nvPr/>
        </p:nvPicPr>
        <p:blipFill rotWithShape="1">
          <a:blip r:embed="rId9">
            <a:alphaModFix/>
          </a:blip>
          <a:srcRect b="0" l="0" r="0" t="0"/>
          <a:stretch/>
        </p:blipFill>
        <p:spPr>
          <a:xfrm>
            <a:off x="6455664" y="4160520"/>
            <a:ext cx="640080" cy="640080"/>
          </a:xfrm>
          <a:prstGeom prst="rect">
            <a:avLst/>
          </a:prstGeom>
          <a:noFill/>
          <a:ln>
            <a:noFill/>
          </a:ln>
        </p:spPr>
      </p:pic>
      <p:sp>
        <p:nvSpPr>
          <p:cNvPr id="218" name="Google Shape;218;p8"/>
          <p:cNvSpPr txBox="1"/>
          <p:nvPr/>
        </p:nvSpPr>
        <p:spPr>
          <a:xfrm>
            <a:off x="6455664" y="489204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Informes</a:t>
            </a:r>
            <a:endParaRPr b="0" i="0" sz="1700" u="none" cap="none" strike="noStrike">
              <a:solidFill>
                <a:schemeClr val="dk1"/>
              </a:solidFill>
              <a:latin typeface="Calibri"/>
              <a:ea typeface="Calibri"/>
              <a:cs typeface="Calibri"/>
              <a:sym typeface="Calibri"/>
            </a:endParaRPr>
          </a:p>
        </p:txBody>
      </p:sp>
      <p:sp>
        <p:nvSpPr>
          <p:cNvPr id="219" name="Google Shape;219;p8"/>
          <p:cNvSpPr txBox="1"/>
          <p:nvPr/>
        </p:nvSpPr>
        <p:spPr>
          <a:xfrm>
            <a:off x="6455664" y="528523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69 informes en PDF, CSV o impresión</a:t>
            </a:r>
            <a:endParaRPr b="0" i="0" sz="1400" u="none" cap="none" strike="noStrike">
              <a:solidFill>
                <a:schemeClr val="dk1"/>
              </a:solidFill>
              <a:latin typeface="Calibri"/>
              <a:ea typeface="Calibri"/>
              <a:cs typeface="Calibri"/>
              <a:sym typeface="Calibri"/>
            </a:endParaRPr>
          </a:p>
        </p:txBody>
      </p:sp>
      <p:sp>
        <p:nvSpPr>
          <p:cNvPr id="220" name="Google Shape;220;p8"/>
          <p:cNvSpPr/>
          <p:nvPr/>
        </p:nvSpPr>
        <p:spPr>
          <a:xfrm>
            <a:off x="8951976" y="3931920"/>
            <a:ext cx="2606040" cy="1965960"/>
          </a:xfrm>
          <a:prstGeom prst="roundRect">
            <a:avLst>
              <a:gd fmla="val 651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21" name="Google Shape;221;p8"/>
          <p:cNvPicPr preferRelativeResize="0"/>
          <p:nvPr/>
        </p:nvPicPr>
        <p:blipFill rotWithShape="1">
          <a:blip r:embed="rId5">
            <a:alphaModFix/>
          </a:blip>
          <a:srcRect b="0" l="0" r="0" t="0"/>
          <a:stretch/>
        </p:blipFill>
        <p:spPr>
          <a:xfrm>
            <a:off x="9226296" y="4160520"/>
            <a:ext cx="640080" cy="640080"/>
          </a:xfrm>
          <a:prstGeom prst="rect">
            <a:avLst/>
          </a:prstGeom>
          <a:noFill/>
          <a:ln>
            <a:noFill/>
          </a:ln>
        </p:spPr>
      </p:pic>
      <p:sp>
        <p:nvSpPr>
          <p:cNvPr id="222" name="Google Shape;222;p8"/>
          <p:cNvSpPr txBox="1"/>
          <p:nvPr/>
        </p:nvSpPr>
        <p:spPr>
          <a:xfrm>
            <a:off x="9226296" y="4892040"/>
            <a:ext cx="2240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SIMAT</a:t>
            </a:r>
            <a:endParaRPr b="0" i="0" sz="1700" u="none" cap="none" strike="noStrike">
              <a:solidFill>
                <a:schemeClr val="dk1"/>
              </a:solidFill>
              <a:latin typeface="Calibri"/>
              <a:ea typeface="Calibri"/>
              <a:cs typeface="Calibri"/>
              <a:sym typeface="Calibri"/>
            </a:endParaRPr>
          </a:p>
        </p:txBody>
      </p:sp>
      <p:sp>
        <p:nvSpPr>
          <p:cNvPr id="223" name="Google Shape;223;p8"/>
          <p:cNvSpPr txBox="1"/>
          <p:nvPr/>
        </p:nvSpPr>
        <p:spPr>
          <a:xfrm>
            <a:off x="9226296" y="5285232"/>
            <a:ext cx="21488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Con SIMPADE: revisión y exportación de reportes</a:t>
            </a:r>
            <a:endParaRPr b="0" i="0" sz="1400" u="none" cap="none" strike="noStrike">
              <a:solidFill>
                <a:schemeClr val="dk1"/>
              </a:solidFill>
              <a:latin typeface="Calibri"/>
              <a:ea typeface="Calibri"/>
              <a:cs typeface="Calibri"/>
              <a:sym typeface="Calibri"/>
            </a:endParaRPr>
          </a:p>
        </p:txBody>
      </p:sp>
      <p:sp>
        <p:nvSpPr>
          <p:cNvPr id="224" name="Google Shape;224;p8"/>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par>
                                <p:cTn fill="hold" nodeType="withEffect" presetClass="entr" presetID="10" presetSubtype="0">
                                  <p:stCondLst>
                                    <p:cond delay="26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par>
                                <p:cTn fill="hold" nodeType="withEffect" presetClass="entr" presetID="10" presetSubtype="0">
                                  <p:stCondLst>
                                    <p:cond delay="26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par>
                                <p:cTn fill="hold" nodeType="withEffect" presetClass="entr" presetID="10" presetSubtype="0">
                                  <p:stCondLst>
                                    <p:cond delay="26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par>
                                <p:cTn fill="hold" nodeType="withEffect" presetClass="entr" presetID="10" presetSubtype="0">
                                  <p:stCondLst>
                                    <p:cond delay="26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par>
                                <p:cTn fill="hold" nodeType="withEffect" presetClass="entr" presetID="10" presetSubtype="0">
                                  <p:stCondLst>
                                    <p:cond delay="52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par>
                                <p:cTn fill="hold" nodeType="withEffect" presetClass="entr" presetID="10" presetSubtype="0">
                                  <p:stCondLst>
                                    <p:cond delay="52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par>
                                <p:cTn fill="hold" nodeType="withEffect" presetClass="entr" presetID="10" presetSubtype="0">
                                  <p:stCondLst>
                                    <p:cond delay="52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par>
                                <p:cTn fill="hold" nodeType="withEffect" presetClass="entr" presetID="10" presetSubtype="0">
                                  <p:stCondLst>
                                    <p:cond delay="52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par>
                                <p:cTn fill="hold" nodeType="withEffect" presetClass="entr" presetID="10" presetSubtype="0">
                                  <p:stCondLst>
                                    <p:cond delay="78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par>
                                <p:cTn fill="hold" nodeType="withEffect" presetClass="entr" presetID="10" presetSubtype="0">
                                  <p:stCondLst>
                                    <p:cond delay="78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par>
                                <p:cTn fill="hold" nodeType="withEffect" presetClass="entr" presetID="10" presetSubtype="0">
                                  <p:stCondLst>
                                    <p:cond delay="78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par>
                                <p:cTn fill="hold" nodeType="withEffect" presetClass="entr" presetID="10" presetSubtype="0">
                                  <p:stCondLst>
                                    <p:cond delay="78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par>
                                <p:cTn fill="hold" nodeType="withEffect" presetClass="entr" presetID="10" presetSubtype="0">
                                  <p:stCondLst>
                                    <p:cond delay="104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par>
                                <p:cTn fill="hold" nodeType="withEffect" presetClass="entr" presetID="10" presetSubtype="0">
                                  <p:stCondLst>
                                    <p:cond delay="104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par>
                                <p:cTn fill="hold" nodeType="withEffect" presetClass="entr" presetID="10" presetSubtype="0">
                                  <p:stCondLst>
                                    <p:cond delay="104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par>
                                <p:cTn fill="hold" nodeType="withEffect" presetClass="entr" presetID="10" presetSubtype="0">
                                  <p:stCondLst>
                                    <p:cond delay="104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par>
                                <p:cTn fill="hold" nodeType="withEffect" presetClass="entr" presetID="10" presetSubtype="0">
                                  <p:stCondLst>
                                    <p:cond delay="130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par>
                                <p:cTn fill="hold" nodeType="withEffect" presetClass="entr" presetID="10" presetSubtype="0">
                                  <p:stCondLst>
                                    <p:cond delay="130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par>
                                <p:cTn fill="hold" nodeType="withEffect" presetClass="entr" presetID="10" presetSubtype="0">
                                  <p:stCondLst>
                                    <p:cond delay="130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par>
                                <p:cTn fill="hold" nodeType="withEffect" presetClass="entr" presetID="10" presetSubtype="0">
                                  <p:stCondLst>
                                    <p:cond delay="130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par>
                                <p:cTn fill="hold" nodeType="withEffect" presetClass="entr" presetID="10" presetSubtype="0">
                                  <p:stCondLst>
                                    <p:cond delay="156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par>
                                <p:cTn fill="hold" nodeType="withEffect" presetClass="entr" presetID="10" presetSubtype="0">
                                  <p:stCondLst>
                                    <p:cond delay="156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par>
                                <p:cTn fill="hold" nodeType="withEffect" presetClass="entr" presetID="10" presetSubtype="0">
                                  <p:stCondLst>
                                    <p:cond delay="156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par>
                                <p:cTn fill="hold" nodeType="withEffect" presetClass="entr" presetID="10" presetSubtype="0">
                                  <p:stCondLst>
                                    <p:cond delay="156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par>
                                <p:cTn fill="hold" nodeType="withEffect" presetClass="entr" presetID="10" presetSubtype="0">
                                  <p:stCondLst>
                                    <p:cond delay="182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par>
                                <p:cTn fill="hold" nodeType="withEffect" presetClass="entr" presetID="10" presetSubtype="0">
                                  <p:stCondLst>
                                    <p:cond delay="182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par>
                                <p:cTn fill="hold" nodeType="withEffect" presetClass="entr" presetID="10" presetSubtype="0">
                                  <p:stCondLst>
                                    <p:cond delay="182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par>
                                <p:cTn fill="hold" nodeType="withEffect" presetClass="entr" presetID="10" presetSubtype="0">
                                  <p:stCondLst>
                                    <p:cond delay="182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par>
                                <p:cTn fill="hold" nodeType="withEffect" presetClass="entr" presetID="10" presetSubtype="0">
                                  <p:stCondLst>
                                    <p:cond delay="208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par>
                                <p:cTn fill="hold" nodeType="withEffect" presetClass="entr" presetID="10" presetSubtype="0">
                                  <p:stCondLst>
                                    <p:cond delay="208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par>
                                <p:cTn fill="hold" nodeType="withEffect" presetClass="entr" presetID="10" presetSubtype="0">
                                  <p:stCondLst>
                                    <p:cond delay="208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par>
                                <p:cTn fill="hold" nodeType="withEffect" presetClass="entr" presetID="10" presetSubtype="0">
                                  <p:stCondLst>
                                    <p:cond delay="2080"/>
                                  </p:stCondLst>
                                  <p:childTnLst>
                                    <p:set>
                                      <p:cBhvr>
                                        <p:cTn dur="1" fill="hold">
                                          <p:stCondLst>
                                            <p:cond delay="0"/>
                                          </p:stCondLst>
                                        </p:cTn>
                                        <p:tgtEl>
                                          <p:spTgt spid="223"/>
                                        </p:tgtEl>
                                        <p:attrNameLst>
                                          <p:attrName>style.visibility</p:attrName>
                                        </p:attrNameLst>
                                      </p:cBhvr>
                                      <p:to>
                                        <p:strVal val="visible"/>
                                      </p:to>
                                    </p:set>
                                    <p:animEffect filter="fade" transition="in">
                                      <p:cBhvr>
                                        <p:cTn dur="500"/>
                                        <p:tgtEl>
                                          <p:spTgt spid="2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9"/>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02  ·  LA SOLUCIÓN</a:t>
            </a:r>
            <a:endParaRPr b="0" i="0" sz="1200" u="none" cap="none" strike="noStrike">
              <a:solidFill>
                <a:schemeClr val="dk1"/>
              </a:solidFill>
              <a:latin typeface="Calibri"/>
              <a:ea typeface="Calibri"/>
              <a:cs typeface="Calibri"/>
              <a:sym typeface="Calibri"/>
            </a:endParaRPr>
          </a:p>
        </p:txBody>
      </p:sp>
      <p:sp>
        <p:nvSpPr>
          <p:cNvPr id="231" name="Google Shape;231;p9"/>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11 roles, cada uno con su propio panel</a:t>
            </a:r>
            <a:endParaRPr sz="3400"/>
          </a:p>
        </p:txBody>
      </p:sp>
      <p:sp>
        <p:nvSpPr>
          <p:cNvPr id="232" name="Google Shape;232;p9"/>
          <p:cNvSpPr/>
          <p:nvPr/>
        </p:nvSpPr>
        <p:spPr>
          <a:xfrm>
            <a:off x="640080" y="1783080"/>
            <a:ext cx="5349240" cy="18288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3" name="Google Shape;233;p9"/>
          <p:cNvPicPr preferRelativeResize="0"/>
          <p:nvPr/>
        </p:nvPicPr>
        <p:blipFill rotWithShape="1">
          <a:blip r:embed="rId3">
            <a:alphaModFix/>
          </a:blip>
          <a:srcRect b="0" l="0" r="0" t="0"/>
          <a:stretch/>
        </p:blipFill>
        <p:spPr>
          <a:xfrm>
            <a:off x="960120" y="2148840"/>
            <a:ext cx="822960" cy="822960"/>
          </a:xfrm>
          <a:prstGeom prst="rect">
            <a:avLst/>
          </a:prstGeom>
          <a:noFill/>
          <a:ln>
            <a:noFill/>
          </a:ln>
        </p:spPr>
      </p:pic>
      <p:sp>
        <p:nvSpPr>
          <p:cNvPr id="234" name="Google Shape;234;p9"/>
          <p:cNvSpPr txBox="1"/>
          <p:nvPr/>
        </p:nvSpPr>
        <p:spPr>
          <a:xfrm>
            <a:off x="2057400" y="2057400"/>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2000" u="none" cap="none" strike="noStrike">
                <a:solidFill>
                  <a:schemeClr val="dk2"/>
                </a:solidFill>
                <a:latin typeface="Georgia"/>
                <a:ea typeface="Georgia"/>
                <a:cs typeface="Georgia"/>
                <a:sym typeface="Georgia"/>
              </a:rPr>
              <a:t>Estudiante y acudiente</a:t>
            </a:r>
            <a:endParaRPr b="0" i="0" sz="2000" u="none" cap="none" strike="noStrike">
              <a:solidFill>
                <a:schemeClr val="dk1"/>
              </a:solidFill>
              <a:latin typeface="Calibri"/>
              <a:ea typeface="Calibri"/>
              <a:cs typeface="Calibri"/>
              <a:sym typeface="Calibri"/>
            </a:endParaRPr>
          </a:p>
        </p:txBody>
      </p:sp>
      <p:sp>
        <p:nvSpPr>
          <p:cNvPr id="235" name="Google Shape;235;p9"/>
          <p:cNvSpPr txBox="1"/>
          <p:nvPr/>
        </p:nvSpPr>
        <p:spPr>
          <a:xfrm>
            <a:off x="2057400" y="2514600"/>
            <a:ext cx="3657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Registra su bienestar y consulta notas y asistencia; el acudiente sigue a sus hijos.</a:t>
            </a:r>
            <a:endParaRPr b="0" i="0" sz="1500" u="none" cap="none" strike="noStrike">
              <a:solidFill>
                <a:schemeClr val="dk1"/>
              </a:solidFill>
              <a:latin typeface="Calibri"/>
              <a:ea typeface="Calibri"/>
              <a:cs typeface="Calibri"/>
              <a:sym typeface="Calibri"/>
            </a:endParaRPr>
          </a:p>
        </p:txBody>
      </p:sp>
      <p:sp>
        <p:nvSpPr>
          <p:cNvPr id="236" name="Google Shape;236;p9"/>
          <p:cNvSpPr/>
          <p:nvPr/>
        </p:nvSpPr>
        <p:spPr>
          <a:xfrm>
            <a:off x="6199632" y="1783080"/>
            <a:ext cx="5349240" cy="18288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7" name="Google Shape;237;p9"/>
          <p:cNvPicPr preferRelativeResize="0"/>
          <p:nvPr/>
        </p:nvPicPr>
        <p:blipFill rotWithShape="1">
          <a:blip r:embed="rId4">
            <a:alphaModFix/>
          </a:blip>
          <a:srcRect b="0" l="0" r="0" t="0"/>
          <a:stretch/>
        </p:blipFill>
        <p:spPr>
          <a:xfrm>
            <a:off x="6519672" y="2148840"/>
            <a:ext cx="822960" cy="822960"/>
          </a:xfrm>
          <a:prstGeom prst="rect">
            <a:avLst/>
          </a:prstGeom>
          <a:noFill/>
          <a:ln>
            <a:noFill/>
          </a:ln>
        </p:spPr>
      </p:pic>
      <p:sp>
        <p:nvSpPr>
          <p:cNvPr id="238" name="Google Shape;238;p9"/>
          <p:cNvSpPr txBox="1"/>
          <p:nvPr/>
        </p:nvSpPr>
        <p:spPr>
          <a:xfrm>
            <a:off x="7616952" y="2057400"/>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2000" u="none" cap="none" strike="noStrike">
                <a:solidFill>
                  <a:schemeClr val="dk2"/>
                </a:solidFill>
                <a:latin typeface="Georgia"/>
                <a:ea typeface="Georgia"/>
                <a:cs typeface="Georgia"/>
                <a:sym typeface="Georgia"/>
              </a:rPr>
              <a:t>Psicología y orientación</a:t>
            </a:r>
            <a:endParaRPr b="0" i="0" sz="2000" u="none" cap="none" strike="noStrike">
              <a:solidFill>
                <a:schemeClr val="dk1"/>
              </a:solidFill>
              <a:latin typeface="Calibri"/>
              <a:ea typeface="Calibri"/>
              <a:cs typeface="Calibri"/>
              <a:sym typeface="Calibri"/>
            </a:endParaRPr>
          </a:p>
        </p:txBody>
      </p:sp>
      <p:sp>
        <p:nvSpPr>
          <p:cNvPr id="239" name="Google Shape;239;p9"/>
          <p:cNvSpPr txBox="1"/>
          <p:nvPr/>
        </p:nvSpPr>
        <p:spPr>
          <a:xfrm>
            <a:off x="7616952" y="2514600"/>
            <a:ext cx="3657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Reciben alertas tempranas y acompañan por chat, citas, encuestas y expediente.</a:t>
            </a:r>
            <a:endParaRPr b="0" i="0" sz="1500" u="none" cap="none" strike="noStrike">
              <a:solidFill>
                <a:schemeClr val="dk1"/>
              </a:solidFill>
              <a:latin typeface="Calibri"/>
              <a:ea typeface="Calibri"/>
              <a:cs typeface="Calibri"/>
              <a:sym typeface="Calibri"/>
            </a:endParaRPr>
          </a:p>
        </p:txBody>
      </p:sp>
      <p:sp>
        <p:nvSpPr>
          <p:cNvPr id="240" name="Google Shape;240;p9"/>
          <p:cNvSpPr/>
          <p:nvPr/>
        </p:nvSpPr>
        <p:spPr>
          <a:xfrm>
            <a:off x="640080" y="3794760"/>
            <a:ext cx="5349240" cy="18288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1" name="Google Shape;241;p9"/>
          <p:cNvPicPr preferRelativeResize="0"/>
          <p:nvPr/>
        </p:nvPicPr>
        <p:blipFill rotWithShape="1">
          <a:blip r:embed="rId5">
            <a:alphaModFix/>
          </a:blip>
          <a:srcRect b="0" l="0" r="0" t="0"/>
          <a:stretch/>
        </p:blipFill>
        <p:spPr>
          <a:xfrm>
            <a:off x="960120" y="4160520"/>
            <a:ext cx="822960" cy="822960"/>
          </a:xfrm>
          <a:prstGeom prst="rect">
            <a:avLst/>
          </a:prstGeom>
          <a:noFill/>
          <a:ln>
            <a:noFill/>
          </a:ln>
        </p:spPr>
      </p:pic>
      <p:sp>
        <p:nvSpPr>
          <p:cNvPr id="242" name="Google Shape;242;p9"/>
          <p:cNvSpPr txBox="1"/>
          <p:nvPr/>
        </p:nvSpPr>
        <p:spPr>
          <a:xfrm>
            <a:off x="2057400" y="4069080"/>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2000" u="none" cap="none" strike="noStrike">
                <a:solidFill>
                  <a:schemeClr val="dk2"/>
                </a:solidFill>
                <a:latin typeface="Georgia"/>
                <a:ea typeface="Georgia"/>
                <a:cs typeface="Georgia"/>
                <a:sym typeface="Georgia"/>
              </a:rPr>
              <a:t>Coordinación y rectoría</a:t>
            </a:r>
            <a:endParaRPr b="0" i="0" sz="2000" u="none" cap="none" strike="noStrike">
              <a:solidFill>
                <a:schemeClr val="dk1"/>
              </a:solidFill>
              <a:latin typeface="Calibri"/>
              <a:ea typeface="Calibri"/>
              <a:cs typeface="Calibri"/>
              <a:sym typeface="Calibri"/>
            </a:endParaRPr>
          </a:p>
        </p:txBody>
      </p:sp>
      <p:sp>
        <p:nvSpPr>
          <p:cNvPr id="243" name="Google Shape;243;p9"/>
          <p:cNvSpPr txBox="1"/>
          <p:nvPr/>
        </p:nvSpPr>
        <p:spPr>
          <a:xfrm>
            <a:off x="2057400" y="4526280"/>
            <a:ext cx="3657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Informes agregados, convivencia y seguimiento académico.</a:t>
            </a:r>
            <a:endParaRPr b="0" i="0" sz="1500" u="none" cap="none" strike="noStrike">
              <a:solidFill>
                <a:schemeClr val="dk1"/>
              </a:solidFill>
              <a:latin typeface="Calibri"/>
              <a:ea typeface="Calibri"/>
              <a:cs typeface="Calibri"/>
              <a:sym typeface="Calibri"/>
            </a:endParaRPr>
          </a:p>
        </p:txBody>
      </p:sp>
      <p:sp>
        <p:nvSpPr>
          <p:cNvPr id="244" name="Google Shape;244;p9"/>
          <p:cNvSpPr/>
          <p:nvPr/>
        </p:nvSpPr>
        <p:spPr>
          <a:xfrm>
            <a:off x="6199632" y="3794760"/>
            <a:ext cx="5349240" cy="18288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5" name="Google Shape;245;p9"/>
          <p:cNvPicPr preferRelativeResize="0"/>
          <p:nvPr/>
        </p:nvPicPr>
        <p:blipFill rotWithShape="1">
          <a:blip r:embed="rId6">
            <a:alphaModFix/>
          </a:blip>
          <a:srcRect b="0" l="0" r="0" t="0"/>
          <a:stretch/>
        </p:blipFill>
        <p:spPr>
          <a:xfrm>
            <a:off x="6519672" y="4160520"/>
            <a:ext cx="822960" cy="822960"/>
          </a:xfrm>
          <a:prstGeom prst="rect">
            <a:avLst/>
          </a:prstGeom>
          <a:noFill/>
          <a:ln>
            <a:noFill/>
          </a:ln>
        </p:spPr>
      </p:pic>
      <p:sp>
        <p:nvSpPr>
          <p:cNvPr id="246" name="Google Shape;246;p9"/>
          <p:cNvSpPr txBox="1"/>
          <p:nvPr/>
        </p:nvSpPr>
        <p:spPr>
          <a:xfrm>
            <a:off x="7616952" y="4069080"/>
            <a:ext cx="3657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2000" u="none" cap="none" strike="noStrike">
                <a:solidFill>
                  <a:schemeClr val="dk2"/>
                </a:solidFill>
                <a:latin typeface="Georgia"/>
                <a:ea typeface="Georgia"/>
                <a:cs typeface="Georgia"/>
                <a:sym typeface="Georgia"/>
              </a:rPr>
              <a:t>Docente y secretaría</a:t>
            </a:r>
            <a:endParaRPr b="0" i="0" sz="2000" u="none" cap="none" strike="noStrike">
              <a:solidFill>
                <a:schemeClr val="dk1"/>
              </a:solidFill>
              <a:latin typeface="Calibri"/>
              <a:ea typeface="Calibri"/>
              <a:cs typeface="Calibri"/>
              <a:sym typeface="Calibri"/>
            </a:endParaRPr>
          </a:p>
        </p:txBody>
      </p:sp>
      <p:sp>
        <p:nvSpPr>
          <p:cNvPr id="247" name="Google Shape;247;p9"/>
          <p:cNvSpPr txBox="1"/>
          <p:nvPr/>
        </p:nvSpPr>
        <p:spPr>
          <a:xfrm>
            <a:off x="7616952" y="4526280"/>
            <a:ext cx="3657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El docente toma lista y califica; la secretaría académica matricula y emite certificados.</a:t>
            </a:r>
            <a:endParaRPr b="0" i="0" sz="1500" u="none" cap="none" strike="noStrike">
              <a:solidFill>
                <a:schemeClr val="dk1"/>
              </a:solidFill>
              <a:latin typeface="Calibri"/>
              <a:ea typeface="Calibri"/>
              <a:cs typeface="Calibri"/>
              <a:sym typeface="Calibri"/>
            </a:endParaRPr>
          </a:p>
        </p:txBody>
      </p:sp>
      <p:sp>
        <p:nvSpPr>
          <p:cNvPr id="248" name="Google Shape;248;p9"/>
          <p:cNvSpPr txBox="1"/>
          <p:nvPr/>
        </p:nvSpPr>
        <p:spPr>
          <a:xfrm>
            <a:off x="640080" y="5800000"/>
            <a:ext cx="10908792" cy="56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Los 11 roles: estudiante, acudiente, docente, psicología, orientación, coordinación, rectoría, secretaría académica, administración, Secretaría de Educación y superadmin.</a:t>
            </a:r>
            <a:endParaRPr b="0" i="0" sz="1400" u="none" cap="none" strike="noStrike">
              <a:solidFill>
                <a:schemeClr val="dk1"/>
              </a:solidFill>
              <a:latin typeface="Calibri"/>
              <a:ea typeface="Calibri"/>
              <a:cs typeface="Calibri"/>
              <a:sym typeface="Calibri"/>
            </a:endParaRPr>
          </a:p>
        </p:txBody>
      </p:sp>
      <p:sp>
        <p:nvSpPr>
          <p:cNvPr id="249" name="Google Shape;249;p9"/>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26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26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26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26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52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52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52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52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78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78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78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78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104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104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104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104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130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0"/>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03  ·  EL PRODUCTO</a:t>
            </a:r>
            <a:endParaRPr b="0" i="0" sz="1200" u="none" cap="none" strike="noStrike">
              <a:solidFill>
                <a:schemeClr val="dk1"/>
              </a:solidFill>
              <a:latin typeface="Calibri"/>
              <a:ea typeface="Calibri"/>
              <a:cs typeface="Calibri"/>
              <a:sym typeface="Calibri"/>
            </a:endParaRPr>
          </a:p>
        </p:txBody>
      </p:sp>
      <p:sp>
        <p:nvSpPr>
          <p:cNvPr id="256" name="Google Shape;256;p10"/>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Así se ve Serena</a:t>
            </a:r>
            <a:endParaRPr sz="3400"/>
          </a:p>
        </p:txBody>
      </p:sp>
      <p:sp>
        <p:nvSpPr>
          <p:cNvPr id="257" name="Google Shape;257;p10"/>
          <p:cNvSpPr/>
          <p:nvPr/>
        </p:nvSpPr>
        <p:spPr>
          <a:xfrm>
            <a:off x="640080" y="1783080"/>
            <a:ext cx="3383280" cy="2103120"/>
          </a:xfrm>
          <a:prstGeom prst="roundRect">
            <a:avLst>
              <a:gd fmla="val 5217" name="adj"/>
            </a:avLst>
          </a:prstGeom>
          <a:solidFill>
            <a:schemeClr val="lt1"/>
          </a:solidFill>
          <a:ln cap="flat" cmpd="sng" w="12700">
            <a:solidFill>
              <a:srgbClr val="CFE3C2"/>
            </a:solidFill>
            <a:prstDash val="solid"/>
            <a:round/>
            <a:headEnd len="sm" w="sm" type="none"/>
            <a:tailEnd len="sm" w="sm" type="none"/>
          </a:ln>
          <a:effectLst>
            <a:outerShdw blurRad="1016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
          <p:cNvSpPr/>
          <p:nvPr/>
        </p:nvSpPr>
        <p:spPr>
          <a:xfrm>
            <a:off x="777240" y="1883664"/>
            <a:ext cx="100584" cy="100584"/>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0"/>
          <p:cNvSpPr/>
          <p:nvPr/>
        </p:nvSpPr>
        <p:spPr>
          <a:xfrm>
            <a:off x="960120" y="1883664"/>
            <a:ext cx="100584" cy="10058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0"/>
          <p:cNvSpPr/>
          <p:nvPr/>
        </p:nvSpPr>
        <p:spPr>
          <a:xfrm>
            <a:off x="1143000" y="1883664"/>
            <a:ext cx="100584" cy="100584"/>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aptura de pantalla de Serena: Inicio" id="261" name="Google Shape;261;p10"/>
          <p:cNvPicPr preferRelativeResize="0"/>
          <p:nvPr/>
        </p:nvPicPr>
        <p:blipFill rotWithShape="1">
          <a:blip r:embed="rId6">
            <a:alphaModFix/>
          </a:blip>
          <a:srcRect b="0" l="0" r="0" t="0"/>
          <a:stretch/>
        </p:blipFill>
        <p:spPr>
          <a:xfrm>
            <a:off x="731520" y="2103120"/>
            <a:ext cx="3200400" cy="1678838"/>
          </a:xfrm>
          <a:prstGeom prst="rect">
            <a:avLst/>
          </a:prstGeom>
          <a:noFill/>
          <a:ln>
            <a:noFill/>
          </a:ln>
        </p:spPr>
      </p:pic>
      <p:sp>
        <p:nvSpPr>
          <p:cNvPr id="262" name="Google Shape;262;p10"/>
          <p:cNvSpPr txBox="1"/>
          <p:nvPr/>
        </p:nvSpPr>
        <p:spPr>
          <a:xfrm>
            <a:off x="640080" y="4069080"/>
            <a:ext cx="3383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Georgia"/>
              <a:buNone/>
            </a:pPr>
            <a:r>
              <a:rPr b="1" i="0" lang="en-US" sz="1800" u="none" cap="none" strike="noStrike">
                <a:solidFill>
                  <a:schemeClr val="dk2"/>
                </a:solidFill>
                <a:latin typeface="Georgia"/>
                <a:ea typeface="Georgia"/>
                <a:cs typeface="Georgia"/>
                <a:sym typeface="Georgia"/>
              </a:rPr>
              <a:t>Inicio</a:t>
            </a:r>
            <a:endParaRPr b="0" i="0" sz="1800" u="none" cap="none" strike="noStrike">
              <a:solidFill>
                <a:schemeClr val="dk1"/>
              </a:solidFill>
              <a:latin typeface="Calibri"/>
              <a:ea typeface="Calibri"/>
              <a:cs typeface="Calibri"/>
              <a:sym typeface="Calibri"/>
            </a:endParaRPr>
          </a:p>
        </p:txBody>
      </p:sp>
      <p:sp>
        <p:nvSpPr>
          <p:cNvPr id="263" name="Google Shape;263;p10"/>
          <p:cNvSpPr txBox="1"/>
          <p:nvPr/>
        </p:nvSpPr>
        <p:spPr>
          <a:xfrm>
            <a:off x="640080" y="4434840"/>
            <a:ext cx="33832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Resumen del día con hábitos, metas y sueño.</a:t>
            </a:r>
            <a:endParaRPr b="0" i="0" sz="1400" u="none" cap="none" strike="noStrike">
              <a:solidFill>
                <a:schemeClr val="dk1"/>
              </a:solidFill>
              <a:latin typeface="Calibri"/>
              <a:ea typeface="Calibri"/>
              <a:cs typeface="Calibri"/>
              <a:sym typeface="Calibri"/>
            </a:endParaRPr>
          </a:p>
        </p:txBody>
      </p:sp>
      <p:sp>
        <p:nvSpPr>
          <p:cNvPr id="264" name="Google Shape;264;p10"/>
          <p:cNvSpPr/>
          <p:nvPr/>
        </p:nvSpPr>
        <p:spPr>
          <a:xfrm>
            <a:off x="4402836" y="1783080"/>
            <a:ext cx="3383280" cy="2103120"/>
          </a:xfrm>
          <a:prstGeom prst="roundRect">
            <a:avLst>
              <a:gd fmla="val 5217" name="adj"/>
            </a:avLst>
          </a:prstGeom>
          <a:solidFill>
            <a:schemeClr val="lt1"/>
          </a:solidFill>
          <a:ln cap="flat" cmpd="sng" w="12700">
            <a:solidFill>
              <a:srgbClr val="CFE3C2"/>
            </a:solidFill>
            <a:prstDash val="solid"/>
            <a:round/>
            <a:headEnd len="sm" w="sm" type="none"/>
            <a:tailEnd len="sm" w="sm" type="none"/>
          </a:ln>
          <a:effectLst>
            <a:outerShdw blurRad="1016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p:nvPr/>
        </p:nvSpPr>
        <p:spPr>
          <a:xfrm>
            <a:off x="4539996" y="1883664"/>
            <a:ext cx="100584" cy="100584"/>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4722876" y="1883664"/>
            <a:ext cx="100584" cy="10058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p:nvPr/>
        </p:nvSpPr>
        <p:spPr>
          <a:xfrm>
            <a:off x="4905756" y="1883664"/>
            <a:ext cx="100584" cy="100584"/>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aptura de pantalla de Serena: Registro emocional" id="268" name="Google Shape;268;p10"/>
          <p:cNvPicPr preferRelativeResize="0"/>
          <p:nvPr/>
        </p:nvPicPr>
        <p:blipFill rotWithShape="1">
          <a:blip r:embed="rId3">
            <a:alphaModFix/>
          </a:blip>
          <a:srcRect b="0" l="0" r="0" t="0"/>
          <a:stretch/>
        </p:blipFill>
        <p:spPr>
          <a:xfrm>
            <a:off x="4494276" y="2103120"/>
            <a:ext cx="3200400" cy="1678838"/>
          </a:xfrm>
          <a:prstGeom prst="rect">
            <a:avLst/>
          </a:prstGeom>
          <a:noFill/>
          <a:ln>
            <a:noFill/>
          </a:ln>
        </p:spPr>
      </p:pic>
      <p:sp>
        <p:nvSpPr>
          <p:cNvPr id="269" name="Google Shape;269;p10"/>
          <p:cNvSpPr txBox="1"/>
          <p:nvPr/>
        </p:nvSpPr>
        <p:spPr>
          <a:xfrm>
            <a:off x="4402836" y="4069080"/>
            <a:ext cx="3383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Georgia"/>
              <a:buNone/>
            </a:pPr>
            <a:r>
              <a:rPr b="1" i="0" lang="en-US" sz="1800" u="none" cap="none" strike="noStrike">
                <a:solidFill>
                  <a:schemeClr val="dk2"/>
                </a:solidFill>
                <a:latin typeface="Georgia"/>
                <a:ea typeface="Georgia"/>
                <a:cs typeface="Georgia"/>
                <a:sym typeface="Georgia"/>
              </a:rPr>
              <a:t>Registro emocional</a:t>
            </a:r>
            <a:endParaRPr b="0" i="0" sz="1800" u="none" cap="none" strike="noStrike">
              <a:solidFill>
                <a:schemeClr val="dk1"/>
              </a:solidFill>
              <a:latin typeface="Calibri"/>
              <a:ea typeface="Calibri"/>
              <a:cs typeface="Calibri"/>
              <a:sym typeface="Calibri"/>
            </a:endParaRPr>
          </a:p>
        </p:txBody>
      </p:sp>
      <p:sp>
        <p:nvSpPr>
          <p:cNvPr id="270" name="Google Shape;270;p10"/>
          <p:cNvSpPr txBox="1"/>
          <p:nvPr/>
        </p:nvSpPr>
        <p:spPr>
          <a:xfrm>
            <a:off x="4402836" y="4434840"/>
            <a:ext cx="33832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Emoción, nota y momento del día.</a:t>
            </a:r>
            <a:endParaRPr b="0" i="0" sz="1400" u="none" cap="none" strike="noStrike">
              <a:solidFill>
                <a:schemeClr val="dk1"/>
              </a:solidFill>
              <a:latin typeface="Calibri"/>
              <a:ea typeface="Calibri"/>
              <a:cs typeface="Calibri"/>
              <a:sym typeface="Calibri"/>
            </a:endParaRPr>
          </a:p>
        </p:txBody>
      </p:sp>
      <p:sp>
        <p:nvSpPr>
          <p:cNvPr id="271" name="Google Shape;271;p10"/>
          <p:cNvSpPr/>
          <p:nvPr/>
        </p:nvSpPr>
        <p:spPr>
          <a:xfrm>
            <a:off x="8165592" y="1783080"/>
            <a:ext cx="3383280" cy="2103120"/>
          </a:xfrm>
          <a:prstGeom prst="roundRect">
            <a:avLst>
              <a:gd fmla="val 5217" name="adj"/>
            </a:avLst>
          </a:prstGeom>
          <a:solidFill>
            <a:schemeClr val="lt1"/>
          </a:solidFill>
          <a:ln cap="flat" cmpd="sng" w="12700">
            <a:solidFill>
              <a:srgbClr val="CFE3C2"/>
            </a:solidFill>
            <a:prstDash val="solid"/>
            <a:round/>
            <a:headEnd len="sm" w="sm" type="none"/>
            <a:tailEnd len="sm" w="sm" type="none"/>
          </a:ln>
          <a:effectLst>
            <a:outerShdw blurRad="1016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
          <p:cNvSpPr/>
          <p:nvPr/>
        </p:nvSpPr>
        <p:spPr>
          <a:xfrm>
            <a:off x="8302752" y="1883664"/>
            <a:ext cx="100584" cy="100584"/>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p:nvPr/>
        </p:nvSpPr>
        <p:spPr>
          <a:xfrm>
            <a:off x="8485632" y="1883664"/>
            <a:ext cx="100584" cy="10058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0"/>
          <p:cNvSpPr/>
          <p:nvPr/>
        </p:nvSpPr>
        <p:spPr>
          <a:xfrm>
            <a:off x="8668512" y="1883664"/>
            <a:ext cx="100584" cy="100584"/>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aptura de pantalla de Serena: Diario personal" id="275" name="Google Shape;275;p10"/>
          <p:cNvPicPr preferRelativeResize="0"/>
          <p:nvPr/>
        </p:nvPicPr>
        <p:blipFill rotWithShape="1">
          <a:blip r:embed="rId5">
            <a:alphaModFix/>
          </a:blip>
          <a:srcRect b="0" l="0" r="0" t="0"/>
          <a:stretch/>
        </p:blipFill>
        <p:spPr>
          <a:xfrm>
            <a:off x="8257032" y="2103120"/>
            <a:ext cx="3200400" cy="1678838"/>
          </a:xfrm>
          <a:prstGeom prst="rect">
            <a:avLst/>
          </a:prstGeom>
          <a:noFill/>
          <a:ln>
            <a:noFill/>
          </a:ln>
        </p:spPr>
      </p:pic>
      <p:sp>
        <p:nvSpPr>
          <p:cNvPr id="276" name="Google Shape;276;p10"/>
          <p:cNvSpPr txBox="1"/>
          <p:nvPr/>
        </p:nvSpPr>
        <p:spPr>
          <a:xfrm>
            <a:off x="8165592" y="4069080"/>
            <a:ext cx="3383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Georgia"/>
              <a:buNone/>
            </a:pPr>
            <a:r>
              <a:rPr b="1" i="0" lang="en-US" sz="1800" u="none" cap="none" strike="noStrike">
                <a:solidFill>
                  <a:schemeClr val="dk2"/>
                </a:solidFill>
                <a:latin typeface="Georgia"/>
                <a:ea typeface="Georgia"/>
                <a:cs typeface="Georgia"/>
                <a:sym typeface="Georgia"/>
              </a:rPr>
              <a:t>Diario personal</a:t>
            </a:r>
            <a:endParaRPr b="0" i="0" sz="1800" u="none" cap="none" strike="noStrike">
              <a:solidFill>
                <a:schemeClr val="dk1"/>
              </a:solidFill>
              <a:latin typeface="Calibri"/>
              <a:ea typeface="Calibri"/>
              <a:cs typeface="Calibri"/>
              <a:sym typeface="Calibri"/>
            </a:endParaRPr>
          </a:p>
        </p:txBody>
      </p:sp>
      <p:sp>
        <p:nvSpPr>
          <p:cNvPr id="277" name="Google Shape;277;p10"/>
          <p:cNvSpPr txBox="1"/>
          <p:nvPr/>
        </p:nvSpPr>
        <p:spPr>
          <a:xfrm>
            <a:off x="8165592" y="4434840"/>
            <a:ext cx="33832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Entradas con etiquetas e imágenes.</a:t>
            </a:r>
            <a:endParaRPr b="0" i="0" sz="1400" u="none" cap="none" strike="noStrike">
              <a:solidFill>
                <a:schemeClr val="dk1"/>
              </a:solidFill>
              <a:latin typeface="Calibri"/>
              <a:ea typeface="Calibri"/>
              <a:cs typeface="Calibri"/>
              <a:sym typeface="Calibri"/>
            </a:endParaRPr>
          </a:p>
        </p:txBody>
      </p:sp>
      <p:sp>
        <p:nvSpPr>
          <p:cNvPr id="278" name="Google Shape;278;p10"/>
          <p:cNvSpPr/>
          <p:nvPr/>
        </p:nvSpPr>
        <p:spPr>
          <a:xfrm>
            <a:off x="640080" y="5074920"/>
            <a:ext cx="5349240" cy="1005840"/>
          </a:xfrm>
          <a:prstGeom prst="roundRect">
            <a:avLst>
              <a:gd fmla="val 1272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txBox="1"/>
          <p:nvPr/>
        </p:nvSpPr>
        <p:spPr>
          <a:xfrm>
            <a:off x="1005840" y="5230368"/>
            <a:ext cx="45720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Georgia"/>
              <a:buNone/>
            </a:pPr>
            <a:r>
              <a:rPr b="1" i="0" lang="en-US" sz="1800" u="none" cap="none" strike="noStrike">
                <a:solidFill>
                  <a:schemeClr val="dk2"/>
                </a:solidFill>
                <a:latin typeface="Georgia"/>
                <a:ea typeface="Georgia"/>
                <a:cs typeface="Georgia"/>
                <a:sym typeface="Georgia"/>
              </a:rPr>
              <a:t>Responsive</a:t>
            </a:r>
            <a:endParaRPr b="0" i="0" sz="1800" u="none" cap="none" strike="noStrike">
              <a:solidFill>
                <a:schemeClr val="dk1"/>
              </a:solidFill>
              <a:latin typeface="Calibri"/>
              <a:ea typeface="Calibri"/>
              <a:cs typeface="Calibri"/>
              <a:sym typeface="Calibri"/>
            </a:endParaRPr>
          </a:p>
        </p:txBody>
      </p:sp>
      <p:sp>
        <p:nvSpPr>
          <p:cNvPr id="280" name="Google Shape;280;p10"/>
          <p:cNvSpPr txBox="1"/>
          <p:nvPr/>
        </p:nvSpPr>
        <p:spPr>
          <a:xfrm>
            <a:off x="1005840" y="5596128"/>
            <a:ext cx="45720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Celular, tablet y computador.</a:t>
            </a:r>
            <a:endParaRPr b="0" i="0" sz="1500" u="none" cap="none" strike="noStrike">
              <a:solidFill>
                <a:schemeClr val="dk1"/>
              </a:solidFill>
              <a:latin typeface="Calibri"/>
              <a:ea typeface="Calibri"/>
              <a:cs typeface="Calibri"/>
              <a:sym typeface="Calibri"/>
            </a:endParaRPr>
          </a:p>
        </p:txBody>
      </p:sp>
      <p:sp>
        <p:nvSpPr>
          <p:cNvPr id="281" name="Google Shape;281;p10"/>
          <p:cNvSpPr/>
          <p:nvPr/>
        </p:nvSpPr>
        <p:spPr>
          <a:xfrm>
            <a:off x="6199632" y="5074920"/>
            <a:ext cx="5349240" cy="1005840"/>
          </a:xfrm>
          <a:prstGeom prst="roundRect">
            <a:avLst>
              <a:gd fmla="val 1272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txBox="1"/>
          <p:nvPr/>
        </p:nvSpPr>
        <p:spPr>
          <a:xfrm>
            <a:off x="6565392" y="5230368"/>
            <a:ext cx="45720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Georgia"/>
              <a:buNone/>
            </a:pPr>
            <a:r>
              <a:rPr b="1" i="0" lang="en-US" sz="1800" u="none" cap="none" strike="noStrike">
                <a:solidFill>
                  <a:schemeClr val="dk2"/>
                </a:solidFill>
                <a:latin typeface="Georgia"/>
                <a:ea typeface="Georgia"/>
                <a:cs typeface="Georgia"/>
                <a:sym typeface="Georgia"/>
              </a:rPr>
              <a:t>Modo oscuro</a:t>
            </a:r>
            <a:endParaRPr b="0" i="0" sz="1800" u="none" cap="none" strike="noStrike">
              <a:solidFill>
                <a:schemeClr val="dk1"/>
              </a:solidFill>
              <a:latin typeface="Calibri"/>
              <a:ea typeface="Calibri"/>
              <a:cs typeface="Calibri"/>
              <a:sym typeface="Calibri"/>
            </a:endParaRPr>
          </a:p>
        </p:txBody>
      </p:sp>
      <p:sp>
        <p:nvSpPr>
          <p:cNvPr id="283" name="Google Shape;283;p10"/>
          <p:cNvSpPr txBox="1"/>
          <p:nvPr/>
        </p:nvSpPr>
        <p:spPr>
          <a:xfrm>
            <a:off x="6565392" y="5596128"/>
            <a:ext cx="45720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Pensado para la accesibilidad visual.</a:t>
            </a:r>
            <a:endParaRPr b="0" i="0" sz="1500" u="none" cap="none" strike="noStrike">
              <a:solidFill>
                <a:schemeClr val="dk1"/>
              </a:solidFill>
              <a:latin typeface="Calibri"/>
              <a:ea typeface="Calibri"/>
              <a:cs typeface="Calibri"/>
              <a:sym typeface="Calibri"/>
            </a:endParaRPr>
          </a:p>
        </p:txBody>
      </p:sp>
      <p:sp>
        <p:nvSpPr>
          <p:cNvPr id="284" name="Google Shape;284;p10"/>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par>
                                <p:cTn fill="hold" nodeType="withEffect" presetClass="entr" presetID="10" presetSubtype="0">
                                  <p:stCondLst>
                                    <p:cond delay="26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par>
                                <p:cTn fill="hold" nodeType="withEffect" presetClass="entr" presetID="10" presetSubtype="0">
                                  <p:stCondLst>
                                    <p:cond delay="26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par>
                                <p:cTn fill="hold" nodeType="withEffect" presetClass="entr" presetID="10" presetSubtype="0">
                                  <p:stCondLst>
                                    <p:cond delay="26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par>
                                <p:cTn fill="hold" nodeType="withEffect" presetClass="entr" presetID="10" presetSubtype="0">
                                  <p:stCondLst>
                                    <p:cond delay="26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par>
                                <p:cTn fill="hold" nodeType="withEffect" presetClass="entr" presetID="10" presetSubtype="0">
                                  <p:stCondLst>
                                    <p:cond delay="26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par>
                                <p:cTn fill="hold" nodeType="withEffect" presetClass="entr" presetID="10" presetSubtype="0">
                                  <p:stCondLst>
                                    <p:cond delay="260"/>
                                  </p:stCondLst>
                                  <p:childTnLst>
                                    <p:set>
                                      <p:cBhvr>
                                        <p:cTn dur="1" fill="hold">
                                          <p:stCondLst>
                                            <p:cond delay="0"/>
                                          </p:stCondLst>
                                        </p:cTn>
                                        <p:tgtEl>
                                          <p:spTgt spid="262"/>
                                        </p:tgtEl>
                                        <p:attrNameLst>
                                          <p:attrName>style.visibility</p:attrName>
                                        </p:attrNameLst>
                                      </p:cBhvr>
                                      <p:to>
                                        <p:strVal val="visible"/>
                                      </p:to>
                                    </p:set>
                                    <p:animEffect filter="fade" transition="in">
                                      <p:cBhvr>
                                        <p:cTn dur="500"/>
                                        <p:tgtEl>
                                          <p:spTgt spid="262"/>
                                        </p:tgtEl>
                                      </p:cBhvr>
                                    </p:animEffect>
                                  </p:childTnLst>
                                </p:cTn>
                              </p:par>
                              <p:par>
                                <p:cTn fill="hold" nodeType="withEffect" presetClass="entr" presetID="10" presetSubtype="0">
                                  <p:stCondLst>
                                    <p:cond delay="26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par>
                                <p:cTn fill="hold" nodeType="withEffect" presetClass="entr" presetID="10" presetSubtype="0">
                                  <p:stCondLst>
                                    <p:cond delay="52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par>
                                <p:cTn fill="hold" nodeType="withEffect" presetClass="entr" presetID="10" presetSubtype="0">
                                  <p:stCondLst>
                                    <p:cond delay="52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par>
                                <p:cTn fill="hold" nodeType="withEffect" presetClass="entr" presetID="10" presetSubtype="0">
                                  <p:stCondLst>
                                    <p:cond delay="52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par>
                                <p:cTn fill="hold" nodeType="withEffect" presetClass="entr" presetID="10" presetSubtype="0">
                                  <p:stCondLst>
                                    <p:cond delay="52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par>
                                <p:cTn fill="hold" nodeType="withEffect" presetClass="entr" presetID="10" presetSubtype="0">
                                  <p:stCondLst>
                                    <p:cond delay="52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par>
                                <p:cTn fill="hold" nodeType="withEffect" presetClass="entr" presetID="10" presetSubtype="0">
                                  <p:stCondLst>
                                    <p:cond delay="52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par>
                                <p:cTn fill="hold" nodeType="withEffect" presetClass="entr" presetID="10" presetSubtype="0">
                                  <p:stCondLst>
                                    <p:cond delay="52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par>
                                <p:cTn fill="hold" nodeType="withEffect" presetClass="entr" presetID="10" presetSubtype="0">
                                  <p:stCondLst>
                                    <p:cond delay="78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par>
                                <p:cTn fill="hold" nodeType="withEffect" presetClass="entr" presetID="10" presetSubtype="0">
                                  <p:stCondLst>
                                    <p:cond delay="78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par>
                                <p:cTn fill="hold" nodeType="withEffect" presetClass="entr" presetID="10" presetSubtype="0">
                                  <p:stCondLst>
                                    <p:cond delay="78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par>
                                <p:cTn fill="hold" nodeType="withEffect" presetClass="entr" presetID="10" presetSubtype="0">
                                  <p:stCondLst>
                                    <p:cond delay="78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par>
                                <p:cTn fill="hold" nodeType="withEffect" presetClass="entr" presetID="10" presetSubtype="0">
                                  <p:stCondLst>
                                    <p:cond delay="78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par>
                                <p:cTn fill="hold" nodeType="withEffect" presetClass="entr" presetID="10" presetSubtype="0">
                                  <p:stCondLst>
                                    <p:cond delay="78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par>
                                <p:cTn fill="hold" nodeType="withEffect" presetClass="entr" presetID="10" presetSubtype="0">
                                  <p:stCondLst>
                                    <p:cond delay="78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par>
                                <p:cTn fill="hold" nodeType="withEffect" presetClass="entr" presetID="10" presetSubtype="0">
                                  <p:stCondLst>
                                    <p:cond delay="104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par>
                                <p:cTn fill="hold" nodeType="withEffect" presetClass="entr" presetID="10" presetSubtype="0">
                                  <p:stCondLst>
                                    <p:cond delay="104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par>
                                <p:cTn fill="hold" nodeType="withEffect" presetClass="entr" presetID="10" presetSubtype="0">
                                  <p:stCondLst>
                                    <p:cond delay="104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par>
                                <p:cTn fill="hold" nodeType="withEffect" presetClass="entr" presetID="10" presetSubtype="0">
                                  <p:stCondLst>
                                    <p:cond delay="130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par>
                                <p:cTn fill="hold" nodeType="withEffect" presetClass="entr" presetID="10" presetSubtype="0">
                                  <p:stCondLst>
                                    <p:cond delay="130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par>
                                <p:cTn fill="hold" nodeType="withEffect" presetClass="entr" presetID="10" presetSubtype="0">
                                  <p:stCondLst>
                                    <p:cond delay="130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55" name="Google Shape;255;p10"/>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03  ·  EL PRODUCTO</a:t>
            </a:r>
            <a:endParaRPr b="0" i="0" sz="1200" u="none" cap="none" strike="noStrike">
              <a:solidFill>
                <a:schemeClr val="dk1"/>
              </a:solidFill>
              <a:latin typeface="Calibri"/>
              <a:ea typeface="Calibri"/>
              <a:cs typeface="Calibri"/>
              <a:sym typeface="Calibri"/>
            </a:endParaRPr>
          </a:p>
        </p:txBody>
      </p:sp>
      <p:sp>
        <p:nvSpPr>
          <p:cNvPr id="256" name="Google Shape;256;p10"/>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Así se ve: gestión académica</a:t>
            </a:r>
            <a:endParaRPr sz="3400"/>
          </a:p>
        </p:txBody>
      </p:sp>
      <p:sp>
        <p:nvSpPr>
          <p:cNvPr id="257" name="Google Shape;257;p10"/>
          <p:cNvSpPr/>
          <p:nvPr/>
        </p:nvSpPr>
        <p:spPr>
          <a:xfrm>
            <a:off x="640080" y="1783080"/>
            <a:ext cx="3383280" cy="2103120"/>
          </a:xfrm>
          <a:prstGeom prst="roundRect">
            <a:avLst>
              <a:gd fmla="val 5217" name="adj"/>
            </a:avLst>
          </a:prstGeom>
          <a:solidFill>
            <a:schemeClr val="lt1"/>
          </a:solidFill>
          <a:ln cap="flat" cmpd="sng" w="12700">
            <a:solidFill>
              <a:srgbClr val="CFE3C2"/>
            </a:solidFill>
            <a:prstDash val="solid"/>
            <a:round/>
            <a:headEnd len="sm" w="sm" type="none"/>
            <a:tailEnd len="sm" w="sm" type="none"/>
          </a:ln>
          <a:effectLst>
            <a:outerShdw blurRad="1016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
          <p:cNvSpPr/>
          <p:nvPr/>
        </p:nvSpPr>
        <p:spPr>
          <a:xfrm>
            <a:off x="777240" y="1883664"/>
            <a:ext cx="100584" cy="100584"/>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0"/>
          <p:cNvSpPr/>
          <p:nvPr/>
        </p:nvSpPr>
        <p:spPr>
          <a:xfrm>
            <a:off x="960120" y="1883664"/>
            <a:ext cx="100584" cy="10058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0"/>
          <p:cNvSpPr/>
          <p:nvPr/>
        </p:nvSpPr>
        <p:spPr>
          <a:xfrm>
            <a:off x="1143000" y="1883664"/>
            <a:ext cx="100584" cy="100584"/>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aptura de pantalla de Serena: Inicio" id="261" name="Google Shape;261;p10"/>
          <p:cNvPicPr preferRelativeResize="0"/>
          <p:nvPr/>
        </p:nvPicPr>
        <p:blipFill rotWithShape="1">
          <a:blip r:embed="rId5">
            <a:alphaModFix/>
          </a:blip>
          <a:srcRect b="0" l="0" r="0" t="0"/>
          <a:stretch/>
        </p:blipFill>
        <p:spPr>
          <a:xfrm>
            <a:off x="731520" y="2103120"/>
            <a:ext cx="3200400" cy="1678838"/>
          </a:xfrm>
          <a:prstGeom prst="rect">
            <a:avLst/>
          </a:prstGeom>
          <a:noFill/>
          <a:ln>
            <a:noFill/>
          </a:ln>
        </p:spPr>
      </p:pic>
      <p:sp>
        <p:nvSpPr>
          <p:cNvPr id="262" name="Google Shape;262;p10"/>
          <p:cNvSpPr txBox="1"/>
          <p:nvPr/>
        </p:nvSpPr>
        <p:spPr>
          <a:xfrm>
            <a:off x="640080" y="4069080"/>
            <a:ext cx="3383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Georgia"/>
              <a:buNone/>
            </a:pPr>
            <a:r>
              <a:rPr b="1" i="0" lang="en-US" sz="1800" u="none" cap="none" strike="noStrike">
                <a:solidFill>
                  <a:schemeClr val="dk2"/>
                </a:solidFill>
                <a:latin typeface="Georgia"/>
                <a:ea typeface="Georgia"/>
                <a:cs typeface="Georgia"/>
                <a:sym typeface="Georgia"/>
              </a:rPr>
              <a:t>Seguimiento del docente</a:t>
            </a:r>
            <a:endParaRPr b="0" i="0" sz="1800" u="none" cap="none" strike="noStrike">
              <a:solidFill>
                <a:schemeClr val="dk1"/>
              </a:solidFill>
              <a:latin typeface="Calibri"/>
              <a:ea typeface="Calibri"/>
              <a:cs typeface="Calibri"/>
              <a:sym typeface="Calibri"/>
            </a:endParaRPr>
          </a:p>
        </p:txBody>
      </p:sp>
      <p:sp>
        <p:nvSpPr>
          <p:cNvPr id="263" name="Google Shape;263;p10"/>
          <p:cNvSpPr txBox="1"/>
          <p:nvPr/>
        </p:nvSpPr>
        <p:spPr>
          <a:xfrm>
            <a:off x="640080" y="4434840"/>
            <a:ext cx="33832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Notas por período, grupo y asignatura.</a:t>
            </a:r>
            <a:endParaRPr b="0" i="0" sz="1400" u="none" cap="none" strike="noStrike">
              <a:solidFill>
                <a:schemeClr val="dk1"/>
              </a:solidFill>
              <a:latin typeface="Calibri"/>
              <a:ea typeface="Calibri"/>
              <a:cs typeface="Calibri"/>
              <a:sym typeface="Calibri"/>
            </a:endParaRPr>
          </a:p>
        </p:txBody>
      </p:sp>
      <p:sp>
        <p:nvSpPr>
          <p:cNvPr id="264" name="Google Shape;264;p10"/>
          <p:cNvSpPr/>
          <p:nvPr/>
        </p:nvSpPr>
        <p:spPr>
          <a:xfrm>
            <a:off x="4402836" y="1783080"/>
            <a:ext cx="3383280" cy="2103120"/>
          </a:xfrm>
          <a:prstGeom prst="roundRect">
            <a:avLst>
              <a:gd fmla="val 5217" name="adj"/>
            </a:avLst>
          </a:prstGeom>
          <a:solidFill>
            <a:schemeClr val="lt1"/>
          </a:solidFill>
          <a:ln cap="flat" cmpd="sng" w="12700">
            <a:solidFill>
              <a:srgbClr val="CFE3C2"/>
            </a:solidFill>
            <a:prstDash val="solid"/>
            <a:round/>
            <a:headEnd len="sm" w="sm" type="none"/>
            <a:tailEnd len="sm" w="sm" type="none"/>
          </a:ln>
          <a:effectLst>
            <a:outerShdw blurRad="1016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p:nvPr/>
        </p:nvSpPr>
        <p:spPr>
          <a:xfrm>
            <a:off x="4539996" y="1883664"/>
            <a:ext cx="100584" cy="100584"/>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4722876" y="1883664"/>
            <a:ext cx="100584" cy="10058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p:nvPr/>
        </p:nvSpPr>
        <p:spPr>
          <a:xfrm>
            <a:off x="4905756" y="1883664"/>
            <a:ext cx="100584" cy="100584"/>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aptura de pantalla de Serena: Registro emocional" id="268" name="Google Shape;268;p10"/>
          <p:cNvPicPr preferRelativeResize="0"/>
          <p:nvPr/>
        </p:nvPicPr>
        <p:blipFill rotWithShape="1">
          <a:blip r:embed="rId2">
            <a:alphaModFix/>
          </a:blip>
          <a:srcRect b="0" l="0" r="0" t="0"/>
          <a:stretch/>
        </p:blipFill>
        <p:spPr>
          <a:xfrm>
            <a:off x="4494276" y="2103120"/>
            <a:ext cx="3200400" cy="1678838"/>
          </a:xfrm>
          <a:prstGeom prst="rect">
            <a:avLst/>
          </a:prstGeom>
          <a:noFill/>
          <a:ln>
            <a:noFill/>
          </a:ln>
        </p:spPr>
      </p:pic>
      <p:sp>
        <p:nvSpPr>
          <p:cNvPr id="269" name="Google Shape;269;p10"/>
          <p:cNvSpPr txBox="1"/>
          <p:nvPr/>
        </p:nvSpPr>
        <p:spPr>
          <a:xfrm>
            <a:off x="4402836" y="4069080"/>
            <a:ext cx="3383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Georgia"/>
              <a:buNone/>
            </a:pPr>
            <a:r>
              <a:rPr b="1" i="0" lang="en-US" sz="1800" u="none" cap="none" strike="noStrike">
                <a:solidFill>
                  <a:schemeClr val="dk2"/>
                </a:solidFill>
                <a:latin typeface="Georgia"/>
                <a:ea typeface="Georgia"/>
                <a:cs typeface="Georgia"/>
                <a:sym typeface="Georgia"/>
              </a:rPr>
              <a:t>Boletín de notas</a:t>
            </a:r>
            <a:endParaRPr b="0" i="0" sz="1800" u="none" cap="none" strike="noStrike">
              <a:solidFill>
                <a:schemeClr val="dk1"/>
              </a:solidFill>
              <a:latin typeface="Calibri"/>
              <a:ea typeface="Calibri"/>
              <a:cs typeface="Calibri"/>
              <a:sym typeface="Calibri"/>
            </a:endParaRPr>
          </a:p>
        </p:txBody>
      </p:sp>
      <p:sp>
        <p:nvSpPr>
          <p:cNvPr id="270" name="Google Shape;270;p10"/>
          <p:cNvSpPr txBox="1"/>
          <p:nvPr/>
        </p:nvSpPr>
        <p:spPr>
          <a:xfrm>
            <a:off x="4402836" y="4434840"/>
            <a:ext cx="33832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Lo que ven estudiantes y acudientes.</a:t>
            </a:r>
            <a:endParaRPr b="0" i="0" sz="1400" u="none" cap="none" strike="noStrike">
              <a:solidFill>
                <a:schemeClr val="dk1"/>
              </a:solidFill>
              <a:latin typeface="Calibri"/>
              <a:ea typeface="Calibri"/>
              <a:cs typeface="Calibri"/>
              <a:sym typeface="Calibri"/>
            </a:endParaRPr>
          </a:p>
        </p:txBody>
      </p:sp>
      <p:sp>
        <p:nvSpPr>
          <p:cNvPr id="271" name="Google Shape;271;p10"/>
          <p:cNvSpPr/>
          <p:nvPr/>
        </p:nvSpPr>
        <p:spPr>
          <a:xfrm>
            <a:off x="8165592" y="1783080"/>
            <a:ext cx="3383280" cy="2103120"/>
          </a:xfrm>
          <a:prstGeom prst="roundRect">
            <a:avLst>
              <a:gd fmla="val 5217" name="adj"/>
            </a:avLst>
          </a:prstGeom>
          <a:solidFill>
            <a:schemeClr val="lt1"/>
          </a:solidFill>
          <a:ln cap="flat" cmpd="sng" w="12700">
            <a:solidFill>
              <a:srgbClr val="CFE3C2"/>
            </a:solidFill>
            <a:prstDash val="solid"/>
            <a:round/>
            <a:headEnd len="sm" w="sm" type="none"/>
            <a:tailEnd len="sm" w="sm" type="none"/>
          </a:ln>
          <a:effectLst>
            <a:outerShdw blurRad="1016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
          <p:cNvSpPr/>
          <p:nvPr/>
        </p:nvSpPr>
        <p:spPr>
          <a:xfrm>
            <a:off x="8302752" y="1883664"/>
            <a:ext cx="100584" cy="100584"/>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p:nvPr/>
        </p:nvSpPr>
        <p:spPr>
          <a:xfrm>
            <a:off x="8485632" y="1883664"/>
            <a:ext cx="100584" cy="10058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0"/>
          <p:cNvSpPr/>
          <p:nvPr/>
        </p:nvSpPr>
        <p:spPr>
          <a:xfrm>
            <a:off x="8668512" y="1883664"/>
            <a:ext cx="100584" cy="100584"/>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aptura de pantalla de Serena: Diario personal" id="275" name="Google Shape;275;p10"/>
          <p:cNvPicPr preferRelativeResize="0"/>
          <p:nvPr/>
        </p:nvPicPr>
        <p:blipFill rotWithShape="1">
          <a:blip r:embed="rId3">
            <a:alphaModFix/>
          </a:blip>
          <a:srcRect b="0" l="0" r="0" t="0"/>
          <a:stretch/>
        </p:blipFill>
        <p:spPr>
          <a:xfrm>
            <a:off x="8257032" y="2103120"/>
            <a:ext cx="3200400" cy="1678838"/>
          </a:xfrm>
          <a:prstGeom prst="rect">
            <a:avLst/>
          </a:prstGeom>
          <a:noFill/>
          <a:ln>
            <a:noFill/>
          </a:ln>
        </p:spPr>
      </p:pic>
      <p:sp>
        <p:nvSpPr>
          <p:cNvPr id="276" name="Google Shape;276;p10"/>
          <p:cNvSpPr txBox="1"/>
          <p:nvPr/>
        </p:nvSpPr>
        <p:spPr>
          <a:xfrm>
            <a:off x="8165592" y="4069080"/>
            <a:ext cx="33832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Georgia"/>
              <a:buNone/>
            </a:pPr>
            <a:r>
              <a:rPr b="1" i="0" lang="en-US" sz="1800" u="none" cap="none" strike="noStrike">
                <a:solidFill>
                  <a:schemeClr val="dk2"/>
                </a:solidFill>
                <a:latin typeface="Georgia"/>
                <a:ea typeface="Georgia"/>
                <a:cs typeface="Georgia"/>
                <a:sym typeface="Georgia"/>
              </a:rPr>
              <a:t>Informes</a:t>
            </a:r>
            <a:endParaRPr b="0" i="0" sz="1800" u="none" cap="none" strike="noStrike">
              <a:solidFill>
                <a:schemeClr val="dk1"/>
              </a:solidFill>
              <a:latin typeface="Calibri"/>
              <a:ea typeface="Calibri"/>
              <a:cs typeface="Calibri"/>
              <a:sym typeface="Calibri"/>
            </a:endParaRPr>
          </a:p>
        </p:txBody>
      </p:sp>
      <p:sp>
        <p:nvSpPr>
          <p:cNvPr id="277" name="Google Shape;277;p10"/>
          <p:cNvSpPr txBox="1"/>
          <p:nvPr/>
        </p:nvSpPr>
        <p:spPr>
          <a:xfrm>
            <a:off x="8165592" y="4434840"/>
            <a:ext cx="33832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69 informes con formato institucional.</a:t>
            </a:r>
            <a:endParaRPr b="0" i="0" sz="1400" u="none" cap="none" strike="noStrike">
              <a:solidFill>
                <a:schemeClr val="dk1"/>
              </a:solidFill>
              <a:latin typeface="Calibri"/>
              <a:ea typeface="Calibri"/>
              <a:cs typeface="Calibri"/>
              <a:sym typeface="Calibri"/>
            </a:endParaRPr>
          </a:p>
        </p:txBody>
      </p:sp>
      <p:sp>
        <p:nvSpPr>
          <p:cNvPr id="278" name="Google Shape;278;p10"/>
          <p:cNvSpPr/>
          <p:nvPr/>
        </p:nvSpPr>
        <p:spPr>
          <a:xfrm>
            <a:off x="640080" y="5074920"/>
            <a:ext cx="5349240" cy="1005840"/>
          </a:xfrm>
          <a:prstGeom prst="roundRect">
            <a:avLst>
              <a:gd fmla="val 1272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txBox="1"/>
          <p:nvPr/>
        </p:nvSpPr>
        <p:spPr>
          <a:xfrm>
            <a:off x="1005840" y="5230368"/>
            <a:ext cx="45720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Georgia"/>
              <a:buNone/>
            </a:pPr>
            <a:r>
              <a:rPr b="1" i="0" lang="en-US" sz="1800" u="none" cap="none" strike="noStrike">
                <a:solidFill>
                  <a:schemeClr val="dk2"/>
                </a:solidFill>
                <a:latin typeface="Georgia"/>
                <a:ea typeface="Georgia"/>
                <a:cs typeface="Georgia"/>
                <a:sym typeface="Georgia"/>
              </a:rPr>
              <a:t>Certificados con QR</a:t>
            </a:r>
            <a:endParaRPr b="0" i="0" sz="1800" u="none" cap="none" strike="noStrike">
              <a:solidFill>
                <a:schemeClr val="dk1"/>
              </a:solidFill>
              <a:latin typeface="Calibri"/>
              <a:ea typeface="Calibri"/>
              <a:cs typeface="Calibri"/>
              <a:sym typeface="Calibri"/>
            </a:endParaRPr>
          </a:p>
        </p:txBody>
      </p:sp>
      <p:sp>
        <p:nvSpPr>
          <p:cNvPr id="280" name="Google Shape;280;p10"/>
          <p:cNvSpPr txBox="1"/>
          <p:nvPr/>
        </p:nvSpPr>
        <p:spPr>
          <a:xfrm>
            <a:off x="1005840" y="5596128"/>
            <a:ext cx="45720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Se verifican en línea, sin iniciar sesión.</a:t>
            </a:r>
            <a:endParaRPr b="0" i="0" sz="1500" u="none" cap="none" strike="noStrike">
              <a:solidFill>
                <a:schemeClr val="dk1"/>
              </a:solidFill>
              <a:latin typeface="Calibri"/>
              <a:ea typeface="Calibri"/>
              <a:cs typeface="Calibri"/>
              <a:sym typeface="Calibri"/>
            </a:endParaRPr>
          </a:p>
        </p:txBody>
      </p:sp>
      <p:sp>
        <p:nvSpPr>
          <p:cNvPr id="281" name="Google Shape;281;p10"/>
          <p:cNvSpPr/>
          <p:nvPr/>
        </p:nvSpPr>
        <p:spPr>
          <a:xfrm>
            <a:off x="6199632" y="5074920"/>
            <a:ext cx="5349240" cy="1005840"/>
          </a:xfrm>
          <a:prstGeom prst="roundRect">
            <a:avLst>
              <a:gd fmla="val 1272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txBox="1"/>
          <p:nvPr/>
        </p:nvSpPr>
        <p:spPr>
          <a:xfrm>
            <a:off x="6565392" y="5230368"/>
            <a:ext cx="45720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Georgia"/>
              <a:buNone/>
            </a:pPr>
            <a:r>
              <a:rPr b="1" i="0" lang="en-US" sz="1800" u="none" cap="none" strike="noStrike">
                <a:solidFill>
                  <a:schemeClr val="dk2"/>
                </a:solidFill>
                <a:latin typeface="Georgia"/>
                <a:ea typeface="Georgia"/>
                <a:cs typeface="Georgia"/>
                <a:sym typeface="Georgia"/>
              </a:rPr>
              <a:t>Informes en PDF y CSV</a:t>
            </a:r>
            <a:endParaRPr b="0" i="0" sz="1800" u="none" cap="none" strike="noStrike">
              <a:solidFill>
                <a:schemeClr val="dk1"/>
              </a:solidFill>
              <a:latin typeface="Calibri"/>
              <a:ea typeface="Calibri"/>
              <a:cs typeface="Calibri"/>
              <a:sym typeface="Calibri"/>
            </a:endParaRPr>
          </a:p>
        </p:txBody>
      </p:sp>
      <p:sp>
        <p:nvSpPr>
          <p:cNvPr id="283" name="Google Shape;283;p10"/>
          <p:cNvSpPr txBox="1"/>
          <p:nvPr/>
        </p:nvSpPr>
        <p:spPr>
          <a:xfrm>
            <a:off x="6565392" y="5596128"/>
            <a:ext cx="45720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Con logo, DANE, resolución y firmas.</a:t>
            </a:r>
            <a:endParaRPr b="0" i="0" sz="1500" u="none" cap="none" strike="noStrike">
              <a:solidFill>
                <a:schemeClr val="dk1"/>
              </a:solidFill>
              <a:latin typeface="Calibri"/>
              <a:ea typeface="Calibri"/>
              <a:cs typeface="Calibri"/>
              <a:sym typeface="Calibri"/>
            </a:endParaRPr>
          </a:p>
        </p:txBody>
      </p:sp>
      <p:sp>
        <p:nvSpPr>
          <p:cNvPr id="284" name="Google Shape;284;p10"/>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par>
                                <p:cTn fill="hold" nodeType="withEffect" presetClass="entr" presetID="10" presetSubtype="0">
                                  <p:stCondLst>
                                    <p:cond delay="26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par>
                                <p:cTn fill="hold" nodeType="withEffect" presetClass="entr" presetID="10" presetSubtype="0">
                                  <p:stCondLst>
                                    <p:cond delay="26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par>
                                <p:cTn fill="hold" nodeType="withEffect" presetClass="entr" presetID="10" presetSubtype="0">
                                  <p:stCondLst>
                                    <p:cond delay="26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par>
                                <p:cTn fill="hold" nodeType="withEffect" presetClass="entr" presetID="10" presetSubtype="0">
                                  <p:stCondLst>
                                    <p:cond delay="26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par>
                                <p:cTn fill="hold" nodeType="withEffect" presetClass="entr" presetID="10" presetSubtype="0">
                                  <p:stCondLst>
                                    <p:cond delay="26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par>
                                <p:cTn fill="hold" nodeType="withEffect" presetClass="entr" presetID="10" presetSubtype="0">
                                  <p:stCondLst>
                                    <p:cond delay="260"/>
                                  </p:stCondLst>
                                  <p:childTnLst>
                                    <p:set>
                                      <p:cBhvr>
                                        <p:cTn dur="1" fill="hold">
                                          <p:stCondLst>
                                            <p:cond delay="0"/>
                                          </p:stCondLst>
                                        </p:cTn>
                                        <p:tgtEl>
                                          <p:spTgt spid="262"/>
                                        </p:tgtEl>
                                        <p:attrNameLst>
                                          <p:attrName>style.visibility</p:attrName>
                                        </p:attrNameLst>
                                      </p:cBhvr>
                                      <p:to>
                                        <p:strVal val="visible"/>
                                      </p:to>
                                    </p:set>
                                    <p:animEffect filter="fade" transition="in">
                                      <p:cBhvr>
                                        <p:cTn dur="500"/>
                                        <p:tgtEl>
                                          <p:spTgt spid="262"/>
                                        </p:tgtEl>
                                      </p:cBhvr>
                                    </p:animEffect>
                                  </p:childTnLst>
                                </p:cTn>
                              </p:par>
                              <p:par>
                                <p:cTn fill="hold" nodeType="withEffect" presetClass="entr" presetID="10" presetSubtype="0">
                                  <p:stCondLst>
                                    <p:cond delay="26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par>
                                <p:cTn fill="hold" nodeType="withEffect" presetClass="entr" presetID="10" presetSubtype="0">
                                  <p:stCondLst>
                                    <p:cond delay="52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par>
                                <p:cTn fill="hold" nodeType="withEffect" presetClass="entr" presetID="10" presetSubtype="0">
                                  <p:stCondLst>
                                    <p:cond delay="52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par>
                                <p:cTn fill="hold" nodeType="withEffect" presetClass="entr" presetID="10" presetSubtype="0">
                                  <p:stCondLst>
                                    <p:cond delay="52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par>
                                <p:cTn fill="hold" nodeType="withEffect" presetClass="entr" presetID="10" presetSubtype="0">
                                  <p:stCondLst>
                                    <p:cond delay="52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par>
                                <p:cTn fill="hold" nodeType="withEffect" presetClass="entr" presetID="10" presetSubtype="0">
                                  <p:stCondLst>
                                    <p:cond delay="52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par>
                                <p:cTn fill="hold" nodeType="withEffect" presetClass="entr" presetID="10" presetSubtype="0">
                                  <p:stCondLst>
                                    <p:cond delay="52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par>
                                <p:cTn fill="hold" nodeType="withEffect" presetClass="entr" presetID="10" presetSubtype="0">
                                  <p:stCondLst>
                                    <p:cond delay="52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par>
                                <p:cTn fill="hold" nodeType="withEffect" presetClass="entr" presetID="10" presetSubtype="0">
                                  <p:stCondLst>
                                    <p:cond delay="78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par>
                                <p:cTn fill="hold" nodeType="withEffect" presetClass="entr" presetID="10" presetSubtype="0">
                                  <p:stCondLst>
                                    <p:cond delay="78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par>
                                <p:cTn fill="hold" nodeType="withEffect" presetClass="entr" presetID="10" presetSubtype="0">
                                  <p:stCondLst>
                                    <p:cond delay="78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par>
                                <p:cTn fill="hold" nodeType="withEffect" presetClass="entr" presetID="10" presetSubtype="0">
                                  <p:stCondLst>
                                    <p:cond delay="78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par>
                                <p:cTn fill="hold" nodeType="withEffect" presetClass="entr" presetID="10" presetSubtype="0">
                                  <p:stCondLst>
                                    <p:cond delay="78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par>
                                <p:cTn fill="hold" nodeType="withEffect" presetClass="entr" presetID="10" presetSubtype="0">
                                  <p:stCondLst>
                                    <p:cond delay="78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par>
                                <p:cTn fill="hold" nodeType="withEffect" presetClass="entr" presetID="10" presetSubtype="0">
                                  <p:stCondLst>
                                    <p:cond delay="78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par>
                                <p:cTn fill="hold" nodeType="withEffect" presetClass="entr" presetID="10" presetSubtype="0">
                                  <p:stCondLst>
                                    <p:cond delay="104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par>
                                <p:cTn fill="hold" nodeType="withEffect" presetClass="entr" presetID="10" presetSubtype="0">
                                  <p:stCondLst>
                                    <p:cond delay="104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par>
                                <p:cTn fill="hold" nodeType="withEffect" presetClass="entr" presetID="10" presetSubtype="0">
                                  <p:stCondLst>
                                    <p:cond delay="104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par>
                                <p:cTn fill="hold" nodeType="withEffect" presetClass="entr" presetID="10" presetSubtype="0">
                                  <p:stCondLst>
                                    <p:cond delay="130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par>
                                <p:cTn fill="hold" nodeType="withEffect" presetClass="entr" presetID="10" presetSubtype="0">
                                  <p:stCondLst>
                                    <p:cond delay="130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par>
                                <p:cTn fill="hold" nodeType="withEffect" presetClass="entr" presetID="10" presetSubtype="0">
                                  <p:stCondLst>
                                    <p:cond delay="130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1"/>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03  ·  EL PRODUCTO</a:t>
            </a:r>
            <a:endParaRPr b="0" i="0" sz="1200" u="none" cap="none" strike="noStrike">
              <a:solidFill>
                <a:schemeClr val="dk1"/>
              </a:solidFill>
              <a:latin typeface="Calibri"/>
              <a:ea typeface="Calibri"/>
              <a:cs typeface="Calibri"/>
              <a:sym typeface="Calibri"/>
            </a:endParaRPr>
          </a:p>
        </p:txBody>
      </p:sp>
      <p:sp>
        <p:nvSpPr>
          <p:cNvPr id="291" name="Google Shape;291;p11"/>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Del registro al acompañamiento</a:t>
            </a:r>
            <a:endParaRPr sz="3400"/>
          </a:p>
        </p:txBody>
      </p:sp>
      <p:sp>
        <p:nvSpPr>
          <p:cNvPr id="292" name="Google Shape;292;p11"/>
          <p:cNvSpPr/>
          <p:nvPr/>
        </p:nvSpPr>
        <p:spPr>
          <a:xfrm>
            <a:off x="640080" y="1783080"/>
            <a:ext cx="2514600" cy="3063240"/>
          </a:xfrm>
          <a:prstGeom prst="roundRect">
            <a:avLst>
              <a:gd fmla="val 509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1"/>
          <p:cNvSpPr/>
          <p:nvPr/>
        </p:nvSpPr>
        <p:spPr>
          <a:xfrm>
            <a:off x="914400" y="2011680"/>
            <a:ext cx="502920" cy="50292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700"/>
              <a:buFont typeface="Georgia"/>
              <a:buNone/>
            </a:pPr>
            <a:r>
              <a:rPr b="1" i="0" lang="en-US" sz="1700" u="none" cap="none" strike="noStrike">
                <a:solidFill>
                  <a:schemeClr val="lt1"/>
                </a:solidFill>
                <a:latin typeface="Georgia"/>
                <a:ea typeface="Georgia"/>
                <a:cs typeface="Georgia"/>
                <a:sym typeface="Georgia"/>
              </a:rPr>
              <a:t>1</a:t>
            </a:r>
            <a:endParaRPr b="0" i="0" sz="1700" u="none" cap="none" strike="noStrike">
              <a:solidFill>
                <a:schemeClr val="dk1"/>
              </a:solidFill>
              <a:latin typeface="Calibri"/>
              <a:ea typeface="Calibri"/>
              <a:cs typeface="Calibri"/>
              <a:sym typeface="Calibri"/>
            </a:endParaRPr>
          </a:p>
        </p:txBody>
      </p:sp>
      <p:pic>
        <p:nvPicPr>
          <p:cNvPr descr="Icono" id="294" name="Google Shape;294;p11"/>
          <p:cNvPicPr preferRelativeResize="0"/>
          <p:nvPr/>
        </p:nvPicPr>
        <p:blipFill rotWithShape="1">
          <a:blip r:embed="rId3">
            <a:alphaModFix/>
          </a:blip>
          <a:srcRect b="0" l="0" r="0" t="0"/>
          <a:stretch/>
        </p:blipFill>
        <p:spPr>
          <a:xfrm>
            <a:off x="2103120" y="1965960"/>
            <a:ext cx="777240" cy="777240"/>
          </a:xfrm>
          <a:prstGeom prst="rect">
            <a:avLst/>
          </a:prstGeom>
          <a:noFill/>
          <a:ln>
            <a:noFill/>
          </a:ln>
        </p:spPr>
      </p:pic>
      <p:sp>
        <p:nvSpPr>
          <p:cNvPr id="295" name="Google Shape;295;p11"/>
          <p:cNvSpPr txBox="1"/>
          <p:nvPr/>
        </p:nvSpPr>
        <p:spPr>
          <a:xfrm>
            <a:off x="914400" y="292608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Georgia"/>
              <a:buNone/>
            </a:pPr>
            <a:r>
              <a:rPr b="1" i="0" lang="en-US" sz="1600" u="none" cap="none" strike="noStrike">
                <a:solidFill>
                  <a:schemeClr val="dk2"/>
                </a:solidFill>
                <a:latin typeface="Georgia"/>
                <a:ea typeface="Georgia"/>
                <a:cs typeface="Georgia"/>
                <a:sym typeface="Georgia"/>
              </a:rPr>
              <a:t>Registro</a:t>
            </a:r>
            <a:endParaRPr b="0" i="0" sz="1600" u="none" cap="none" strike="noStrike">
              <a:solidFill>
                <a:schemeClr val="dk1"/>
              </a:solidFill>
              <a:latin typeface="Calibri"/>
              <a:ea typeface="Calibri"/>
              <a:cs typeface="Calibri"/>
              <a:sym typeface="Calibri"/>
            </a:endParaRPr>
          </a:p>
        </p:txBody>
      </p:sp>
      <p:sp>
        <p:nvSpPr>
          <p:cNvPr id="296" name="Google Shape;296;p11"/>
          <p:cNvSpPr txBox="1"/>
          <p:nvPr/>
        </p:nvSpPr>
        <p:spPr>
          <a:xfrm>
            <a:off x="914400" y="3429000"/>
            <a:ext cx="20574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El estudiante anota cómo se siente, cómo duerme y sus hábitos.</a:t>
            </a:r>
            <a:endParaRPr b="0" i="0" sz="1600" u="none" cap="none" strike="noStrike">
              <a:solidFill>
                <a:schemeClr val="dk1"/>
              </a:solidFill>
              <a:latin typeface="Calibri"/>
              <a:ea typeface="Calibri"/>
              <a:cs typeface="Calibri"/>
              <a:sym typeface="Calibri"/>
            </a:endParaRPr>
          </a:p>
        </p:txBody>
      </p:sp>
      <p:sp>
        <p:nvSpPr>
          <p:cNvPr id="297" name="Google Shape;297;p11"/>
          <p:cNvSpPr/>
          <p:nvPr/>
        </p:nvSpPr>
        <p:spPr>
          <a:xfrm>
            <a:off x="3218688" y="3154680"/>
            <a:ext cx="182880" cy="32004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a:off x="3438144" y="1783080"/>
            <a:ext cx="2514600" cy="3063240"/>
          </a:xfrm>
          <a:prstGeom prst="roundRect">
            <a:avLst>
              <a:gd fmla="val 509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a:off x="3712464" y="2011680"/>
            <a:ext cx="502920" cy="50292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700"/>
              <a:buFont typeface="Georgia"/>
              <a:buNone/>
            </a:pPr>
            <a:r>
              <a:rPr b="1" i="0" lang="en-US" sz="1700" u="none" cap="none" strike="noStrike">
                <a:solidFill>
                  <a:schemeClr val="lt1"/>
                </a:solidFill>
                <a:latin typeface="Georgia"/>
                <a:ea typeface="Georgia"/>
                <a:cs typeface="Georgia"/>
                <a:sym typeface="Georgia"/>
              </a:rPr>
              <a:t>2</a:t>
            </a:r>
            <a:endParaRPr b="0" i="0" sz="1700" u="none" cap="none" strike="noStrike">
              <a:solidFill>
                <a:schemeClr val="dk1"/>
              </a:solidFill>
              <a:latin typeface="Calibri"/>
              <a:ea typeface="Calibri"/>
              <a:cs typeface="Calibri"/>
              <a:sym typeface="Calibri"/>
            </a:endParaRPr>
          </a:p>
        </p:txBody>
      </p:sp>
      <p:pic>
        <p:nvPicPr>
          <p:cNvPr descr="Icono" id="300" name="Google Shape;300;p11"/>
          <p:cNvPicPr preferRelativeResize="0"/>
          <p:nvPr/>
        </p:nvPicPr>
        <p:blipFill rotWithShape="1">
          <a:blip r:embed="rId4">
            <a:alphaModFix/>
          </a:blip>
          <a:srcRect b="0" l="0" r="0" t="0"/>
          <a:stretch/>
        </p:blipFill>
        <p:spPr>
          <a:xfrm>
            <a:off x="4901184" y="1965960"/>
            <a:ext cx="777240" cy="777240"/>
          </a:xfrm>
          <a:prstGeom prst="rect">
            <a:avLst/>
          </a:prstGeom>
          <a:noFill/>
          <a:ln>
            <a:noFill/>
          </a:ln>
        </p:spPr>
      </p:pic>
      <p:sp>
        <p:nvSpPr>
          <p:cNvPr id="301" name="Google Shape;301;p11"/>
          <p:cNvSpPr txBox="1"/>
          <p:nvPr/>
        </p:nvSpPr>
        <p:spPr>
          <a:xfrm>
            <a:off x="3712464" y="292608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Georgia"/>
              <a:buNone/>
            </a:pPr>
            <a:r>
              <a:rPr b="1" i="0" lang="en-US" sz="1600" u="none" cap="none" strike="noStrike">
                <a:solidFill>
                  <a:schemeClr val="dk2"/>
                </a:solidFill>
                <a:latin typeface="Georgia"/>
                <a:ea typeface="Georgia"/>
                <a:cs typeface="Georgia"/>
                <a:sym typeface="Georgia"/>
              </a:rPr>
              <a:t>Alerta temprana</a:t>
            </a:r>
            <a:endParaRPr b="0" i="0" sz="1600" u="none" cap="none" strike="noStrike">
              <a:solidFill>
                <a:schemeClr val="dk1"/>
              </a:solidFill>
              <a:latin typeface="Calibri"/>
              <a:ea typeface="Calibri"/>
              <a:cs typeface="Calibri"/>
              <a:sym typeface="Calibri"/>
            </a:endParaRPr>
          </a:p>
        </p:txBody>
      </p:sp>
      <p:sp>
        <p:nvSpPr>
          <p:cNvPr id="302" name="Google Shape;302;p11"/>
          <p:cNvSpPr txBox="1"/>
          <p:nvPr/>
        </p:nvSpPr>
        <p:spPr>
          <a:xfrm>
            <a:off x="3712464" y="3429000"/>
            <a:ext cx="20574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Aviso tras días de ánimo bajo para actuar a tiempo.</a:t>
            </a:r>
            <a:endParaRPr b="0" i="0" sz="1600" u="none" cap="none" strike="noStrike">
              <a:solidFill>
                <a:schemeClr val="dk1"/>
              </a:solidFill>
              <a:latin typeface="Calibri"/>
              <a:ea typeface="Calibri"/>
              <a:cs typeface="Calibri"/>
              <a:sym typeface="Calibri"/>
            </a:endParaRPr>
          </a:p>
        </p:txBody>
      </p:sp>
      <p:sp>
        <p:nvSpPr>
          <p:cNvPr id="303" name="Google Shape;303;p11"/>
          <p:cNvSpPr/>
          <p:nvPr/>
        </p:nvSpPr>
        <p:spPr>
          <a:xfrm>
            <a:off x="6016752" y="3154680"/>
            <a:ext cx="182880" cy="32004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6236208" y="1783080"/>
            <a:ext cx="2514600" cy="3063240"/>
          </a:xfrm>
          <a:prstGeom prst="roundRect">
            <a:avLst>
              <a:gd fmla="val 509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6510528" y="2011680"/>
            <a:ext cx="502920" cy="50292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700"/>
              <a:buFont typeface="Georgia"/>
              <a:buNone/>
            </a:pPr>
            <a:r>
              <a:rPr b="1" i="0" lang="en-US" sz="1700" u="none" cap="none" strike="noStrike">
                <a:solidFill>
                  <a:schemeClr val="lt1"/>
                </a:solidFill>
                <a:latin typeface="Georgia"/>
                <a:ea typeface="Georgia"/>
                <a:cs typeface="Georgia"/>
                <a:sym typeface="Georgia"/>
              </a:rPr>
              <a:t>3</a:t>
            </a:r>
            <a:endParaRPr b="0" i="0" sz="1700" u="none" cap="none" strike="noStrike">
              <a:solidFill>
                <a:schemeClr val="dk1"/>
              </a:solidFill>
              <a:latin typeface="Calibri"/>
              <a:ea typeface="Calibri"/>
              <a:cs typeface="Calibri"/>
              <a:sym typeface="Calibri"/>
            </a:endParaRPr>
          </a:p>
        </p:txBody>
      </p:sp>
      <p:pic>
        <p:nvPicPr>
          <p:cNvPr descr="Icono" id="306" name="Google Shape;306;p11"/>
          <p:cNvPicPr preferRelativeResize="0"/>
          <p:nvPr/>
        </p:nvPicPr>
        <p:blipFill rotWithShape="1">
          <a:blip r:embed="rId5">
            <a:alphaModFix/>
          </a:blip>
          <a:srcRect b="0" l="0" r="0" t="0"/>
          <a:stretch/>
        </p:blipFill>
        <p:spPr>
          <a:xfrm>
            <a:off x="7699248" y="1965960"/>
            <a:ext cx="777240" cy="777240"/>
          </a:xfrm>
          <a:prstGeom prst="rect">
            <a:avLst/>
          </a:prstGeom>
          <a:noFill/>
          <a:ln>
            <a:noFill/>
          </a:ln>
        </p:spPr>
      </p:pic>
      <p:sp>
        <p:nvSpPr>
          <p:cNvPr id="307" name="Google Shape;307;p11"/>
          <p:cNvSpPr txBox="1"/>
          <p:nvPr/>
        </p:nvSpPr>
        <p:spPr>
          <a:xfrm>
            <a:off x="6510528" y="292608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Georgia"/>
              <a:buNone/>
            </a:pPr>
            <a:r>
              <a:rPr b="1" i="0" lang="en-US" sz="1600" u="none" cap="none" strike="noStrike">
                <a:solidFill>
                  <a:schemeClr val="dk2"/>
                </a:solidFill>
                <a:latin typeface="Georgia"/>
                <a:ea typeface="Georgia"/>
                <a:cs typeface="Georgia"/>
                <a:sym typeface="Georgia"/>
              </a:rPr>
              <a:t>Acompañamiento</a:t>
            </a:r>
            <a:endParaRPr b="0" i="0" sz="1600" u="none" cap="none" strike="noStrike">
              <a:solidFill>
                <a:schemeClr val="dk1"/>
              </a:solidFill>
              <a:latin typeface="Calibri"/>
              <a:ea typeface="Calibri"/>
              <a:cs typeface="Calibri"/>
              <a:sym typeface="Calibri"/>
            </a:endParaRPr>
          </a:p>
        </p:txBody>
      </p:sp>
      <p:sp>
        <p:nvSpPr>
          <p:cNvPr id="308" name="Google Shape;308;p11"/>
          <p:cNvSpPr txBox="1"/>
          <p:nvPr/>
        </p:nvSpPr>
        <p:spPr>
          <a:xfrm>
            <a:off x="6510528" y="3429000"/>
            <a:ext cx="20574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Psicología y orientación atienden por chat y citas.</a:t>
            </a:r>
            <a:endParaRPr b="0" i="0" sz="1600" u="none" cap="none" strike="noStrike">
              <a:solidFill>
                <a:schemeClr val="dk1"/>
              </a:solidFill>
              <a:latin typeface="Calibri"/>
              <a:ea typeface="Calibri"/>
              <a:cs typeface="Calibri"/>
              <a:sym typeface="Calibri"/>
            </a:endParaRPr>
          </a:p>
        </p:txBody>
      </p:sp>
      <p:sp>
        <p:nvSpPr>
          <p:cNvPr id="309" name="Google Shape;309;p11"/>
          <p:cNvSpPr/>
          <p:nvPr/>
        </p:nvSpPr>
        <p:spPr>
          <a:xfrm>
            <a:off x="8814816" y="3154680"/>
            <a:ext cx="182880" cy="32004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9034272" y="1783080"/>
            <a:ext cx="2514600" cy="3063240"/>
          </a:xfrm>
          <a:prstGeom prst="roundRect">
            <a:avLst>
              <a:gd fmla="val 509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1"/>
          <p:cNvSpPr/>
          <p:nvPr/>
        </p:nvSpPr>
        <p:spPr>
          <a:xfrm>
            <a:off x="9308592" y="2011680"/>
            <a:ext cx="502920" cy="50292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700"/>
              <a:buFont typeface="Georgia"/>
              <a:buNone/>
            </a:pPr>
            <a:r>
              <a:rPr b="1" i="0" lang="en-US" sz="1700" u="none" cap="none" strike="noStrike">
                <a:solidFill>
                  <a:schemeClr val="lt1"/>
                </a:solidFill>
                <a:latin typeface="Georgia"/>
                <a:ea typeface="Georgia"/>
                <a:cs typeface="Georgia"/>
                <a:sym typeface="Georgia"/>
              </a:rPr>
              <a:t>4</a:t>
            </a:r>
            <a:endParaRPr b="0" i="0" sz="1700" u="none" cap="none" strike="noStrike">
              <a:solidFill>
                <a:schemeClr val="dk1"/>
              </a:solidFill>
              <a:latin typeface="Calibri"/>
              <a:ea typeface="Calibri"/>
              <a:cs typeface="Calibri"/>
              <a:sym typeface="Calibri"/>
            </a:endParaRPr>
          </a:p>
        </p:txBody>
      </p:sp>
      <p:pic>
        <p:nvPicPr>
          <p:cNvPr descr="Icono" id="312" name="Google Shape;312;p11"/>
          <p:cNvPicPr preferRelativeResize="0"/>
          <p:nvPr/>
        </p:nvPicPr>
        <p:blipFill rotWithShape="1">
          <a:blip r:embed="rId6">
            <a:alphaModFix/>
          </a:blip>
          <a:srcRect b="0" l="0" r="0" t="0"/>
          <a:stretch/>
        </p:blipFill>
        <p:spPr>
          <a:xfrm>
            <a:off x="10497312" y="1965960"/>
            <a:ext cx="777240" cy="777240"/>
          </a:xfrm>
          <a:prstGeom prst="rect">
            <a:avLst/>
          </a:prstGeom>
          <a:noFill/>
          <a:ln>
            <a:noFill/>
          </a:ln>
        </p:spPr>
      </p:pic>
      <p:sp>
        <p:nvSpPr>
          <p:cNvPr id="313" name="Google Shape;313;p11"/>
          <p:cNvSpPr txBox="1"/>
          <p:nvPr/>
        </p:nvSpPr>
        <p:spPr>
          <a:xfrm>
            <a:off x="9308592" y="292608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600"/>
              <a:buFont typeface="Georgia"/>
              <a:buNone/>
            </a:pPr>
            <a:r>
              <a:rPr b="1" i="0" lang="en-US" sz="1600" u="none" cap="none" strike="noStrike">
                <a:solidFill>
                  <a:schemeClr val="dk2"/>
                </a:solidFill>
                <a:latin typeface="Georgia"/>
                <a:ea typeface="Georgia"/>
                <a:cs typeface="Georgia"/>
                <a:sym typeface="Georgia"/>
              </a:rPr>
              <a:t>Apoyo</a:t>
            </a:r>
            <a:endParaRPr b="0" i="0" sz="1600" u="none" cap="none" strike="noStrike">
              <a:solidFill>
                <a:schemeClr val="dk1"/>
              </a:solidFill>
              <a:latin typeface="Calibri"/>
              <a:ea typeface="Calibri"/>
              <a:cs typeface="Calibri"/>
              <a:sym typeface="Calibri"/>
            </a:endParaRPr>
          </a:p>
        </p:txBody>
      </p:sp>
      <p:sp>
        <p:nvSpPr>
          <p:cNvPr id="314" name="Google Shape;314;p11"/>
          <p:cNvSpPr txBox="1"/>
          <p:nvPr/>
        </p:nvSpPr>
        <p:spPr>
          <a:xfrm>
            <a:off x="9308592" y="3429000"/>
            <a:ext cx="205740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Encuestas, respiración y líneas de ayuda.</a:t>
            </a:r>
            <a:endParaRPr b="0" i="0" sz="1600" u="none" cap="none" strike="noStrike">
              <a:solidFill>
                <a:schemeClr val="dk1"/>
              </a:solidFill>
              <a:latin typeface="Calibri"/>
              <a:ea typeface="Calibri"/>
              <a:cs typeface="Calibri"/>
              <a:sym typeface="Calibri"/>
            </a:endParaRPr>
          </a:p>
        </p:txBody>
      </p:sp>
      <p:sp>
        <p:nvSpPr>
          <p:cNvPr id="315" name="Google Shape;315;p11"/>
          <p:cNvSpPr/>
          <p:nvPr/>
        </p:nvSpPr>
        <p:spPr>
          <a:xfrm>
            <a:off x="640080" y="5166360"/>
            <a:ext cx="10908792" cy="914400"/>
          </a:xfrm>
          <a:prstGeom prst="roundRect">
            <a:avLst>
              <a:gd fmla="val 14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1"/>
          <p:cNvSpPr txBox="1"/>
          <p:nvPr/>
        </p:nvSpPr>
        <p:spPr>
          <a:xfrm>
            <a:off x="1005840" y="5166360"/>
            <a:ext cx="1024128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Coordinación y rectoría ven el bienestar solo en cifras agregadas: nunca las emociones ni el diario de un estudiante.</a:t>
            </a:r>
            <a:endParaRPr b="0" i="0" sz="1800" u="none" cap="none" strike="noStrike">
              <a:solidFill>
                <a:schemeClr val="dk1"/>
              </a:solidFill>
              <a:latin typeface="Calibri"/>
              <a:ea typeface="Calibri"/>
              <a:cs typeface="Calibri"/>
              <a:sym typeface="Calibri"/>
            </a:endParaRPr>
          </a:p>
        </p:txBody>
      </p:sp>
      <p:sp>
        <p:nvSpPr>
          <p:cNvPr id="317" name="Google Shape;317;p11"/>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par>
                                <p:cTn fill="hold" nodeType="withEffect" presetClass="entr" presetID="10" presetSubtype="0">
                                  <p:stCondLst>
                                    <p:cond delay="26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par>
                                <p:cTn fill="hold" nodeType="withEffect" presetClass="entr" presetID="10" presetSubtype="0">
                                  <p:stCondLst>
                                    <p:cond delay="26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par>
                                <p:cTn fill="hold" nodeType="withEffect" presetClass="entr" presetID="10" presetSubtype="0">
                                  <p:stCondLst>
                                    <p:cond delay="26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par>
                                <p:cTn fill="hold" nodeType="withEffect" presetClass="entr" presetID="10" presetSubtype="0">
                                  <p:stCondLst>
                                    <p:cond delay="26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par>
                                <p:cTn fill="hold" nodeType="withEffect" presetClass="entr" presetID="10" presetSubtype="0">
                                  <p:stCondLst>
                                    <p:cond delay="26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par>
                                <p:cTn fill="hold" nodeType="withEffect" presetClass="entr" presetID="10" presetSubtype="0">
                                  <p:stCondLst>
                                    <p:cond delay="52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par>
                                <p:cTn fill="hold" nodeType="withEffect" presetClass="entr" presetID="10" presetSubtype="0">
                                  <p:stCondLst>
                                    <p:cond delay="52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par>
                                <p:cTn fill="hold" nodeType="withEffect" presetClass="entr" presetID="10" presetSubtype="0">
                                  <p:stCondLst>
                                    <p:cond delay="52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par>
                                <p:cTn fill="hold" nodeType="withEffect" presetClass="entr" presetID="10" presetSubtype="0">
                                  <p:stCondLst>
                                    <p:cond delay="52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par>
                                <p:cTn fill="hold" nodeType="withEffect" presetClass="entr" presetID="10" presetSubtype="0">
                                  <p:stCondLst>
                                    <p:cond delay="52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par>
                                <p:cTn fill="hold" nodeType="withEffect" presetClass="entr" presetID="10" presetSubtype="0">
                                  <p:stCondLst>
                                    <p:cond delay="52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par>
                                <p:cTn fill="hold" nodeType="withEffect" presetClass="entr" presetID="10" presetSubtype="0">
                                  <p:stCondLst>
                                    <p:cond delay="780"/>
                                  </p:stCondLst>
                                  <p:childTnLst>
                                    <p:set>
                                      <p:cBhvr>
                                        <p:cTn dur="1" fill="hold">
                                          <p:stCondLst>
                                            <p:cond delay="0"/>
                                          </p:stCondLst>
                                        </p:cTn>
                                        <p:tgtEl>
                                          <p:spTgt spid="303"/>
                                        </p:tgtEl>
                                        <p:attrNameLst>
                                          <p:attrName>style.visibility</p:attrName>
                                        </p:attrNameLst>
                                      </p:cBhvr>
                                      <p:to>
                                        <p:strVal val="visible"/>
                                      </p:to>
                                    </p:set>
                                    <p:animEffect filter="fade" transition="in">
                                      <p:cBhvr>
                                        <p:cTn dur="500"/>
                                        <p:tgtEl>
                                          <p:spTgt spid="303"/>
                                        </p:tgtEl>
                                      </p:cBhvr>
                                    </p:animEffect>
                                  </p:childTnLst>
                                </p:cTn>
                              </p:par>
                              <p:par>
                                <p:cTn fill="hold" nodeType="withEffect" presetClass="entr" presetID="10" presetSubtype="0">
                                  <p:stCondLst>
                                    <p:cond delay="78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par>
                                <p:cTn fill="hold" nodeType="withEffect" presetClass="entr" presetID="10" presetSubtype="0">
                                  <p:stCondLst>
                                    <p:cond delay="780"/>
                                  </p:stCondLst>
                                  <p:childTnLst>
                                    <p:set>
                                      <p:cBhvr>
                                        <p:cTn dur="1" fill="hold">
                                          <p:stCondLst>
                                            <p:cond delay="0"/>
                                          </p:stCondLst>
                                        </p:cTn>
                                        <p:tgtEl>
                                          <p:spTgt spid="305"/>
                                        </p:tgtEl>
                                        <p:attrNameLst>
                                          <p:attrName>style.visibility</p:attrName>
                                        </p:attrNameLst>
                                      </p:cBhvr>
                                      <p:to>
                                        <p:strVal val="visible"/>
                                      </p:to>
                                    </p:set>
                                    <p:animEffect filter="fade" transition="in">
                                      <p:cBhvr>
                                        <p:cTn dur="500"/>
                                        <p:tgtEl>
                                          <p:spTgt spid="305"/>
                                        </p:tgtEl>
                                      </p:cBhvr>
                                    </p:animEffect>
                                  </p:childTnLst>
                                </p:cTn>
                              </p:par>
                              <p:par>
                                <p:cTn fill="hold" nodeType="withEffect" presetClass="entr" presetID="10" presetSubtype="0">
                                  <p:stCondLst>
                                    <p:cond delay="780"/>
                                  </p:stCondLst>
                                  <p:childTnLst>
                                    <p:set>
                                      <p:cBhvr>
                                        <p:cTn dur="1" fill="hold">
                                          <p:stCondLst>
                                            <p:cond delay="0"/>
                                          </p:stCondLst>
                                        </p:cTn>
                                        <p:tgtEl>
                                          <p:spTgt spid="306"/>
                                        </p:tgtEl>
                                        <p:attrNameLst>
                                          <p:attrName>style.visibility</p:attrName>
                                        </p:attrNameLst>
                                      </p:cBhvr>
                                      <p:to>
                                        <p:strVal val="visible"/>
                                      </p:to>
                                    </p:set>
                                    <p:animEffect filter="fade" transition="in">
                                      <p:cBhvr>
                                        <p:cTn dur="500"/>
                                        <p:tgtEl>
                                          <p:spTgt spid="306"/>
                                        </p:tgtEl>
                                      </p:cBhvr>
                                    </p:animEffect>
                                  </p:childTnLst>
                                </p:cTn>
                              </p:par>
                              <p:par>
                                <p:cTn fill="hold" nodeType="withEffect" presetClass="entr" presetID="10" presetSubtype="0">
                                  <p:stCondLst>
                                    <p:cond delay="78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par>
                                <p:cTn fill="hold" nodeType="withEffect" presetClass="entr" presetID="10" presetSubtype="0">
                                  <p:stCondLst>
                                    <p:cond delay="78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par>
                                <p:cTn fill="hold" nodeType="withEffect" presetClass="entr" presetID="10" presetSubtype="0">
                                  <p:stCondLst>
                                    <p:cond delay="1040"/>
                                  </p:stCondLst>
                                  <p:childTnLst>
                                    <p:set>
                                      <p:cBhvr>
                                        <p:cTn dur="1" fill="hold">
                                          <p:stCondLst>
                                            <p:cond delay="0"/>
                                          </p:stCondLst>
                                        </p:cTn>
                                        <p:tgtEl>
                                          <p:spTgt spid="309"/>
                                        </p:tgtEl>
                                        <p:attrNameLst>
                                          <p:attrName>style.visibility</p:attrName>
                                        </p:attrNameLst>
                                      </p:cBhvr>
                                      <p:to>
                                        <p:strVal val="visible"/>
                                      </p:to>
                                    </p:set>
                                    <p:animEffect filter="fade" transition="in">
                                      <p:cBhvr>
                                        <p:cTn dur="500"/>
                                        <p:tgtEl>
                                          <p:spTgt spid="309"/>
                                        </p:tgtEl>
                                      </p:cBhvr>
                                    </p:animEffect>
                                  </p:childTnLst>
                                </p:cTn>
                              </p:par>
                              <p:par>
                                <p:cTn fill="hold" nodeType="withEffect" presetClass="entr" presetID="10" presetSubtype="0">
                                  <p:stCondLst>
                                    <p:cond delay="1040"/>
                                  </p:stCondLst>
                                  <p:childTnLst>
                                    <p:set>
                                      <p:cBhvr>
                                        <p:cTn dur="1" fill="hold">
                                          <p:stCondLst>
                                            <p:cond delay="0"/>
                                          </p:stCondLst>
                                        </p:cTn>
                                        <p:tgtEl>
                                          <p:spTgt spid="310"/>
                                        </p:tgtEl>
                                        <p:attrNameLst>
                                          <p:attrName>style.visibility</p:attrName>
                                        </p:attrNameLst>
                                      </p:cBhvr>
                                      <p:to>
                                        <p:strVal val="visible"/>
                                      </p:to>
                                    </p:set>
                                    <p:animEffect filter="fade" transition="in">
                                      <p:cBhvr>
                                        <p:cTn dur="500"/>
                                        <p:tgtEl>
                                          <p:spTgt spid="310"/>
                                        </p:tgtEl>
                                      </p:cBhvr>
                                    </p:animEffect>
                                  </p:childTnLst>
                                </p:cTn>
                              </p:par>
                              <p:par>
                                <p:cTn fill="hold" nodeType="withEffect" presetClass="entr" presetID="10" presetSubtype="0">
                                  <p:stCondLst>
                                    <p:cond delay="104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par>
                                <p:cTn fill="hold" nodeType="withEffect" presetClass="entr" presetID="10" presetSubtype="0">
                                  <p:stCondLst>
                                    <p:cond delay="104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par>
                                <p:cTn fill="hold" nodeType="withEffect" presetClass="entr" presetID="10" presetSubtype="0">
                                  <p:stCondLst>
                                    <p:cond delay="1040"/>
                                  </p:stCondLst>
                                  <p:childTnLst>
                                    <p:set>
                                      <p:cBhvr>
                                        <p:cTn dur="1" fill="hold">
                                          <p:stCondLst>
                                            <p:cond delay="0"/>
                                          </p:stCondLst>
                                        </p:cTn>
                                        <p:tgtEl>
                                          <p:spTgt spid="313"/>
                                        </p:tgtEl>
                                        <p:attrNameLst>
                                          <p:attrName>style.visibility</p:attrName>
                                        </p:attrNameLst>
                                      </p:cBhvr>
                                      <p:to>
                                        <p:strVal val="visible"/>
                                      </p:to>
                                    </p:set>
                                    <p:animEffect filter="fade" transition="in">
                                      <p:cBhvr>
                                        <p:cTn dur="500"/>
                                        <p:tgtEl>
                                          <p:spTgt spid="313"/>
                                        </p:tgtEl>
                                      </p:cBhvr>
                                    </p:animEffect>
                                  </p:childTnLst>
                                </p:cTn>
                              </p:par>
                              <p:par>
                                <p:cTn fill="hold" nodeType="withEffect" presetClass="entr" presetID="10" presetSubtype="0">
                                  <p:stCondLst>
                                    <p:cond delay="1040"/>
                                  </p:stCondLst>
                                  <p:childTnLst>
                                    <p:set>
                                      <p:cBhvr>
                                        <p:cTn dur="1" fill="hold">
                                          <p:stCondLst>
                                            <p:cond delay="0"/>
                                          </p:stCondLst>
                                        </p:cTn>
                                        <p:tgtEl>
                                          <p:spTgt spid="314"/>
                                        </p:tgtEl>
                                        <p:attrNameLst>
                                          <p:attrName>style.visibility</p:attrName>
                                        </p:attrNameLst>
                                      </p:cBhvr>
                                      <p:to>
                                        <p:strVal val="visible"/>
                                      </p:to>
                                    </p:set>
                                    <p:animEffect filter="fade" transition="in">
                                      <p:cBhvr>
                                        <p:cTn dur="500"/>
                                        <p:tgtEl>
                                          <p:spTgt spid="314"/>
                                        </p:tgtEl>
                                      </p:cBhvr>
                                    </p:animEffect>
                                  </p:childTnLst>
                                </p:cTn>
                              </p:par>
                              <p:par>
                                <p:cTn fill="hold" nodeType="withEffect" presetClass="entr" presetID="10" presetSubtype="0">
                                  <p:stCondLst>
                                    <p:cond delay="1300"/>
                                  </p:stCondLst>
                                  <p:childTnLst>
                                    <p:set>
                                      <p:cBhvr>
                                        <p:cTn dur="1" fill="hold">
                                          <p:stCondLst>
                                            <p:cond delay="0"/>
                                          </p:stCondLst>
                                        </p:cTn>
                                        <p:tgtEl>
                                          <p:spTgt spid="315"/>
                                        </p:tgtEl>
                                        <p:attrNameLst>
                                          <p:attrName>style.visibility</p:attrName>
                                        </p:attrNameLst>
                                      </p:cBhvr>
                                      <p:to>
                                        <p:strVal val="visible"/>
                                      </p:to>
                                    </p:set>
                                    <p:animEffect filter="fade" transition="in">
                                      <p:cBhvr>
                                        <p:cTn dur="500"/>
                                        <p:tgtEl>
                                          <p:spTgt spid="315"/>
                                        </p:tgtEl>
                                      </p:cBhvr>
                                    </p:animEffect>
                                  </p:childTnLst>
                                </p:cTn>
                              </p:par>
                              <p:par>
                                <p:cTn fill="hold" nodeType="withEffect" presetClass="entr" presetID="10" presetSubtype="0">
                                  <p:stCondLst>
                                    <p:cond delay="130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2"/>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04  ·  CÓMO LO CONSTRUIMOS</a:t>
            </a:r>
            <a:endParaRPr b="0" i="0" sz="1200" u="none" cap="none" strike="noStrike">
              <a:solidFill>
                <a:schemeClr val="dk1"/>
              </a:solidFill>
              <a:latin typeface="Calibri"/>
              <a:ea typeface="Calibri"/>
              <a:cs typeface="Calibri"/>
              <a:sym typeface="Calibri"/>
            </a:endParaRPr>
          </a:p>
        </p:txBody>
      </p:sp>
      <p:sp>
        <p:nvSpPr>
          <p:cNvPr id="324" name="Google Shape;324;p12"/>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Metodología en cascada</a:t>
            </a:r>
            <a:endParaRPr sz="3400"/>
          </a:p>
        </p:txBody>
      </p:sp>
      <p:sp>
        <p:nvSpPr>
          <p:cNvPr id="325" name="Google Shape;325;p12"/>
          <p:cNvSpPr/>
          <p:nvPr/>
        </p:nvSpPr>
        <p:spPr>
          <a:xfrm>
            <a:off x="640080" y="1783080"/>
            <a:ext cx="2075688" cy="2606040"/>
          </a:xfrm>
          <a:prstGeom prst="roundRect">
            <a:avLst>
              <a:gd fmla="val 61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2"/>
          <p:cNvSpPr/>
          <p:nvPr/>
        </p:nvSpPr>
        <p:spPr>
          <a:xfrm>
            <a:off x="868680" y="2011680"/>
            <a:ext cx="502920" cy="50292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700"/>
              <a:buFont typeface="Georgia"/>
              <a:buNone/>
            </a:pPr>
            <a:r>
              <a:rPr b="1" i="0" lang="en-US" sz="1700" u="none" cap="none" strike="noStrike">
                <a:solidFill>
                  <a:schemeClr val="lt1"/>
                </a:solidFill>
                <a:latin typeface="Georgia"/>
                <a:ea typeface="Georgia"/>
                <a:cs typeface="Georgia"/>
                <a:sym typeface="Georgia"/>
              </a:rPr>
              <a:t>1</a:t>
            </a:r>
            <a:endParaRPr b="0" i="0" sz="1700" u="none" cap="none" strike="noStrike">
              <a:solidFill>
                <a:schemeClr val="dk1"/>
              </a:solidFill>
              <a:latin typeface="Calibri"/>
              <a:ea typeface="Calibri"/>
              <a:cs typeface="Calibri"/>
              <a:sym typeface="Calibri"/>
            </a:endParaRPr>
          </a:p>
        </p:txBody>
      </p:sp>
      <p:sp>
        <p:nvSpPr>
          <p:cNvPr id="327" name="Google Shape;327;p12"/>
          <p:cNvSpPr txBox="1"/>
          <p:nvPr/>
        </p:nvSpPr>
        <p:spPr>
          <a:xfrm>
            <a:off x="868680" y="2651760"/>
            <a:ext cx="181051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Georgia"/>
              <a:buNone/>
            </a:pPr>
            <a:r>
              <a:rPr b="1" i="0" lang="en-US" sz="1500" u="none" cap="none" strike="noStrike">
                <a:solidFill>
                  <a:schemeClr val="dk2"/>
                </a:solidFill>
                <a:latin typeface="Georgia"/>
                <a:ea typeface="Georgia"/>
                <a:cs typeface="Georgia"/>
                <a:sym typeface="Georgia"/>
              </a:rPr>
              <a:t>Análisis</a:t>
            </a:r>
            <a:endParaRPr b="0" i="0" sz="1500" u="none" cap="none" strike="noStrike">
              <a:solidFill>
                <a:schemeClr val="dk1"/>
              </a:solidFill>
              <a:latin typeface="Calibri"/>
              <a:ea typeface="Calibri"/>
              <a:cs typeface="Calibri"/>
              <a:sym typeface="Calibri"/>
            </a:endParaRPr>
          </a:p>
        </p:txBody>
      </p:sp>
      <p:sp>
        <p:nvSpPr>
          <p:cNvPr id="328" name="Google Shape;328;p12"/>
          <p:cNvSpPr txBox="1"/>
          <p:nvPr/>
        </p:nvSpPr>
        <p:spPr>
          <a:xfrm>
            <a:off x="868680" y="3081528"/>
            <a:ext cx="16916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Roles, módulos y marco legal (Ley 1581 de 2012); referentes Daylio, Habitica y Reflectly.</a:t>
            </a:r>
            <a:endParaRPr b="0" i="0" sz="1400" u="none" cap="none" strike="noStrike">
              <a:solidFill>
                <a:schemeClr val="dk1"/>
              </a:solidFill>
              <a:latin typeface="Calibri"/>
              <a:ea typeface="Calibri"/>
              <a:cs typeface="Calibri"/>
              <a:sym typeface="Calibri"/>
            </a:endParaRPr>
          </a:p>
        </p:txBody>
      </p:sp>
      <p:sp>
        <p:nvSpPr>
          <p:cNvPr id="329" name="Google Shape;329;p12"/>
          <p:cNvSpPr/>
          <p:nvPr/>
        </p:nvSpPr>
        <p:spPr>
          <a:xfrm>
            <a:off x="2848356" y="2148840"/>
            <a:ext cx="2075688" cy="2606040"/>
          </a:xfrm>
          <a:prstGeom prst="roundRect">
            <a:avLst>
              <a:gd fmla="val 61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2"/>
          <p:cNvSpPr/>
          <p:nvPr/>
        </p:nvSpPr>
        <p:spPr>
          <a:xfrm>
            <a:off x="3076956" y="2377440"/>
            <a:ext cx="502920" cy="50292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700"/>
              <a:buFont typeface="Georgia"/>
              <a:buNone/>
            </a:pPr>
            <a:r>
              <a:rPr b="1" i="0" lang="en-US" sz="1700" u="none" cap="none" strike="noStrike">
                <a:solidFill>
                  <a:schemeClr val="lt1"/>
                </a:solidFill>
                <a:latin typeface="Georgia"/>
                <a:ea typeface="Georgia"/>
                <a:cs typeface="Georgia"/>
                <a:sym typeface="Georgia"/>
              </a:rPr>
              <a:t>2</a:t>
            </a:r>
            <a:endParaRPr b="0" i="0" sz="1700" u="none" cap="none" strike="noStrike">
              <a:solidFill>
                <a:schemeClr val="dk1"/>
              </a:solidFill>
              <a:latin typeface="Calibri"/>
              <a:ea typeface="Calibri"/>
              <a:cs typeface="Calibri"/>
              <a:sym typeface="Calibri"/>
            </a:endParaRPr>
          </a:p>
        </p:txBody>
      </p:sp>
      <p:sp>
        <p:nvSpPr>
          <p:cNvPr id="331" name="Google Shape;331;p12"/>
          <p:cNvSpPr txBox="1"/>
          <p:nvPr/>
        </p:nvSpPr>
        <p:spPr>
          <a:xfrm>
            <a:off x="3076956" y="3017520"/>
            <a:ext cx="181051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Georgia"/>
              <a:buNone/>
            </a:pPr>
            <a:r>
              <a:rPr b="1" i="0" lang="en-US" sz="1500" u="none" cap="none" strike="noStrike">
                <a:solidFill>
                  <a:schemeClr val="dk2"/>
                </a:solidFill>
                <a:latin typeface="Georgia"/>
                <a:ea typeface="Georgia"/>
                <a:cs typeface="Georgia"/>
                <a:sym typeface="Georgia"/>
              </a:rPr>
              <a:t>Diseño</a:t>
            </a:r>
            <a:endParaRPr b="0" i="0" sz="1500" u="none" cap="none" strike="noStrike">
              <a:solidFill>
                <a:schemeClr val="dk1"/>
              </a:solidFill>
              <a:latin typeface="Calibri"/>
              <a:ea typeface="Calibri"/>
              <a:cs typeface="Calibri"/>
              <a:sym typeface="Calibri"/>
            </a:endParaRPr>
          </a:p>
        </p:txBody>
      </p:sp>
      <p:sp>
        <p:nvSpPr>
          <p:cNvPr id="332" name="Google Shape;332;p12"/>
          <p:cNvSpPr txBox="1"/>
          <p:nvPr/>
        </p:nvSpPr>
        <p:spPr>
          <a:xfrm>
            <a:off x="3076956" y="3447288"/>
            <a:ext cx="16916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Modelo de datos, roles y permisos, y diseño responsive en tonos cálidos.</a:t>
            </a:r>
            <a:endParaRPr b="0" i="0" sz="1400" u="none" cap="none" strike="noStrike">
              <a:solidFill>
                <a:schemeClr val="dk1"/>
              </a:solidFill>
              <a:latin typeface="Calibri"/>
              <a:ea typeface="Calibri"/>
              <a:cs typeface="Calibri"/>
              <a:sym typeface="Calibri"/>
            </a:endParaRPr>
          </a:p>
        </p:txBody>
      </p:sp>
      <p:sp>
        <p:nvSpPr>
          <p:cNvPr id="333" name="Google Shape;333;p12"/>
          <p:cNvSpPr/>
          <p:nvPr/>
        </p:nvSpPr>
        <p:spPr>
          <a:xfrm>
            <a:off x="5056632" y="2514600"/>
            <a:ext cx="2075688" cy="2606040"/>
          </a:xfrm>
          <a:prstGeom prst="roundRect">
            <a:avLst>
              <a:gd fmla="val 61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2"/>
          <p:cNvSpPr/>
          <p:nvPr/>
        </p:nvSpPr>
        <p:spPr>
          <a:xfrm>
            <a:off x="5285232" y="2743200"/>
            <a:ext cx="502920" cy="50292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700"/>
              <a:buFont typeface="Georgia"/>
              <a:buNone/>
            </a:pPr>
            <a:r>
              <a:rPr b="1" i="0" lang="en-US" sz="1700" u="none" cap="none" strike="noStrike">
                <a:solidFill>
                  <a:schemeClr val="lt1"/>
                </a:solidFill>
                <a:latin typeface="Georgia"/>
                <a:ea typeface="Georgia"/>
                <a:cs typeface="Georgia"/>
                <a:sym typeface="Georgia"/>
              </a:rPr>
              <a:t>3</a:t>
            </a:r>
            <a:endParaRPr b="0" i="0" sz="1700" u="none" cap="none" strike="noStrike">
              <a:solidFill>
                <a:schemeClr val="dk1"/>
              </a:solidFill>
              <a:latin typeface="Calibri"/>
              <a:ea typeface="Calibri"/>
              <a:cs typeface="Calibri"/>
              <a:sym typeface="Calibri"/>
            </a:endParaRPr>
          </a:p>
        </p:txBody>
      </p:sp>
      <p:sp>
        <p:nvSpPr>
          <p:cNvPr id="335" name="Google Shape;335;p12"/>
          <p:cNvSpPr txBox="1"/>
          <p:nvPr/>
        </p:nvSpPr>
        <p:spPr>
          <a:xfrm>
            <a:off x="5285232" y="3383280"/>
            <a:ext cx="181051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Georgia"/>
              <a:buNone/>
            </a:pPr>
            <a:r>
              <a:rPr b="1" i="0" lang="en-US" sz="1500" u="none" cap="none" strike="noStrike">
                <a:solidFill>
                  <a:schemeClr val="dk2"/>
                </a:solidFill>
                <a:latin typeface="Georgia"/>
                <a:ea typeface="Georgia"/>
                <a:cs typeface="Georgia"/>
                <a:sym typeface="Georgia"/>
              </a:rPr>
              <a:t>Desarrollo</a:t>
            </a:r>
            <a:endParaRPr b="0" i="0" sz="1500" u="none" cap="none" strike="noStrike">
              <a:solidFill>
                <a:schemeClr val="dk1"/>
              </a:solidFill>
              <a:latin typeface="Calibri"/>
              <a:ea typeface="Calibri"/>
              <a:cs typeface="Calibri"/>
              <a:sym typeface="Calibri"/>
            </a:endParaRPr>
          </a:p>
        </p:txBody>
      </p:sp>
      <p:sp>
        <p:nvSpPr>
          <p:cNvPr id="336" name="Google Shape;336;p12"/>
          <p:cNvSpPr txBox="1"/>
          <p:nvPr/>
        </p:nvSpPr>
        <p:spPr>
          <a:xfrm>
            <a:off x="5285232" y="3813048"/>
            <a:ext cx="16916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PHP, MySQL, HTML, CSS y JavaScript, sin frameworks, trabajando los dos en conjunto.</a:t>
            </a:r>
            <a:endParaRPr b="0" i="0" sz="1400" u="none" cap="none" strike="noStrike">
              <a:solidFill>
                <a:schemeClr val="dk1"/>
              </a:solidFill>
              <a:latin typeface="Calibri"/>
              <a:ea typeface="Calibri"/>
              <a:cs typeface="Calibri"/>
              <a:sym typeface="Calibri"/>
            </a:endParaRPr>
          </a:p>
        </p:txBody>
      </p:sp>
      <p:sp>
        <p:nvSpPr>
          <p:cNvPr id="337" name="Google Shape;337;p12"/>
          <p:cNvSpPr/>
          <p:nvPr/>
        </p:nvSpPr>
        <p:spPr>
          <a:xfrm>
            <a:off x="7264908" y="2880360"/>
            <a:ext cx="2075688" cy="2606040"/>
          </a:xfrm>
          <a:prstGeom prst="roundRect">
            <a:avLst>
              <a:gd fmla="val 61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2"/>
          <p:cNvSpPr/>
          <p:nvPr/>
        </p:nvSpPr>
        <p:spPr>
          <a:xfrm>
            <a:off x="7493508" y="3108960"/>
            <a:ext cx="502920" cy="50292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700"/>
              <a:buFont typeface="Georgia"/>
              <a:buNone/>
            </a:pPr>
            <a:r>
              <a:rPr b="1" i="0" lang="en-US" sz="1700" u="none" cap="none" strike="noStrike">
                <a:solidFill>
                  <a:schemeClr val="lt1"/>
                </a:solidFill>
                <a:latin typeface="Georgia"/>
                <a:ea typeface="Georgia"/>
                <a:cs typeface="Georgia"/>
                <a:sym typeface="Georgia"/>
              </a:rPr>
              <a:t>4</a:t>
            </a:r>
            <a:endParaRPr b="0" i="0" sz="1700" u="none" cap="none" strike="noStrike">
              <a:solidFill>
                <a:schemeClr val="dk1"/>
              </a:solidFill>
              <a:latin typeface="Calibri"/>
              <a:ea typeface="Calibri"/>
              <a:cs typeface="Calibri"/>
              <a:sym typeface="Calibri"/>
            </a:endParaRPr>
          </a:p>
        </p:txBody>
      </p:sp>
      <p:sp>
        <p:nvSpPr>
          <p:cNvPr id="339" name="Google Shape;339;p12"/>
          <p:cNvSpPr txBox="1"/>
          <p:nvPr/>
        </p:nvSpPr>
        <p:spPr>
          <a:xfrm>
            <a:off x="7493508" y="3749040"/>
            <a:ext cx="181051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500"/>
              <a:buFont typeface="Georgia"/>
              <a:buNone/>
            </a:pPr>
            <a:r>
              <a:rPr b="1" i="0" lang="en-US" sz="1500" u="none" cap="none" strike="noStrike">
                <a:solidFill>
                  <a:schemeClr val="dk2"/>
                </a:solidFill>
                <a:latin typeface="Georgia"/>
                <a:ea typeface="Georgia"/>
                <a:cs typeface="Georgia"/>
                <a:sym typeface="Georgia"/>
              </a:rPr>
              <a:t>Pruebas</a:t>
            </a:r>
            <a:endParaRPr b="0" i="0" sz="1500" u="none" cap="none" strike="noStrike">
              <a:solidFill>
                <a:schemeClr val="dk1"/>
              </a:solidFill>
              <a:latin typeface="Calibri"/>
              <a:ea typeface="Calibri"/>
              <a:cs typeface="Calibri"/>
              <a:sym typeface="Calibri"/>
            </a:endParaRPr>
          </a:p>
        </p:txBody>
      </p:sp>
      <p:sp>
        <p:nvSpPr>
          <p:cNvPr id="340" name="Google Shape;340;p12"/>
          <p:cNvSpPr txBox="1"/>
          <p:nvPr/>
        </p:nvSpPr>
        <p:spPr>
          <a:xfrm>
            <a:off x="7493508" y="4178808"/>
            <a:ext cx="16916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Auditoría de seguridad archivo por archivo y correcciones por fases.</a:t>
            </a:r>
            <a:endParaRPr b="0" i="0" sz="1400" u="none" cap="none" strike="noStrike">
              <a:solidFill>
                <a:schemeClr val="dk1"/>
              </a:solidFill>
              <a:latin typeface="Calibri"/>
              <a:ea typeface="Calibri"/>
              <a:cs typeface="Calibri"/>
              <a:sym typeface="Calibri"/>
            </a:endParaRPr>
          </a:p>
        </p:txBody>
      </p:sp>
      <p:sp>
        <p:nvSpPr>
          <p:cNvPr id="341" name="Google Shape;341;p12"/>
          <p:cNvSpPr/>
          <p:nvPr/>
        </p:nvSpPr>
        <p:spPr>
          <a:xfrm>
            <a:off x="9473184" y="3246120"/>
            <a:ext cx="2075688" cy="2606040"/>
          </a:xfrm>
          <a:prstGeom prst="roundRect">
            <a:avLst>
              <a:gd fmla="val 61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2"/>
          <p:cNvSpPr/>
          <p:nvPr/>
        </p:nvSpPr>
        <p:spPr>
          <a:xfrm>
            <a:off x="9701784" y="3474720"/>
            <a:ext cx="502920" cy="50292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700"/>
              <a:buFont typeface="Georgia"/>
              <a:buNone/>
            </a:pPr>
            <a:r>
              <a:rPr b="1" i="0" lang="en-US" sz="1700" u="none" cap="none" strike="noStrike">
                <a:solidFill>
                  <a:schemeClr val="lt1"/>
                </a:solidFill>
                <a:latin typeface="Georgia"/>
                <a:ea typeface="Georgia"/>
                <a:cs typeface="Georgia"/>
                <a:sym typeface="Georgia"/>
              </a:rPr>
              <a:t>5</a:t>
            </a:r>
            <a:endParaRPr b="0" i="0" sz="1700" u="none" cap="none" strike="noStrike">
              <a:solidFill>
                <a:schemeClr val="dk1"/>
              </a:solidFill>
              <a:latin typeface="Calibri"/>
              <a:ea typeface="Calibri"/>
              <a:cs typeface="Calibri"/>
              <a:sym typeface="Calibri"/>
            </a:endParaRPr>
          </a:p>
        </p:txBody>
      </p:sp>
      <p:sp>
        <p:nvSpPr>
          <p:cNvPr id="343" name="Google Shape;343;p12"/>
          <p:cNvSpPr txBox="1"/>
          <p:nvPr/>
        </p:nvSpPr>
        <p:spPr>
          <a:xfrm>
            <a:off x="9701784" y="4114800"/>
            <a:ext cx="181051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Georgia"/>
              <a:buNone/>
            </a:pPr>
            <a:r>
              <a:rPr b="1" i="0" lang="en-US" sz="1500" u="none" cap="none" strike="noStrike">
                <a:solidFill>
                  <a:schemeClr val="lt1"/>
                </a:solidFill>
                <a:latin typeface="Georgia"/>
                <a:ea typeface="Georgia"/>
                <a:cs typeface="Georgia"/>
                <a:sym typeface="Georgia"/>
              </a:rPr>
              <a:t>Implementación</a:t>
            </a:r>
            <a:endParaRPr b="0" i="0" sz="1500" u="none" cap="none" strike="noStrike">
              <a:solidFill>
                <a:schemeClr val="dk1"/>
              </a:solidFill>
              <a:latin typeface="Calibri"/>
              <a:ea typeface="Calibri"/>
              <a:cs typeface="Calibri"/>
              <a:sym typeface="Calibri"/>
            </a:endParaRPr>
          </a:p>
        </p:txBody>
      </p:sp>
      <p:sp>
        <p:nvSpPr>
          <p:cNvPr id="344" name="Google Shape;344;p12"/>
          <p:cNvSpPr txBox="1"/>
          <p:nvPr/>
        </p:nvSpPr>
        <p:spPr>
          <a:xfrm>
            <a:off x="9701784" y="4544568"/>
            <a:ext cx="16916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46 migraciones SQL y publicación en hosting gratuito (InfinityFree).</a:t>
            </a:r>
            <a:endParaRPr b="0" i="0" sz="1400" u="none" cap="none" strike="noStrike">
              <a:solidFill>
                <a:schemeClr val="dk1"/>
              </a:solidFill>
              <a:latin typeface="Calibri"/>
              <a:ea typeface="Calibri"/>
              <a:cs typeface="Calibri"/>
              <a:sym typeface="Calibri"/>
            </a:endParaRPr>
          </a:p>
        </p:txBody>
      </p:sp>
      <p:pic>
        <p:nvPicPr>
          <p:cNvPr descr="Ilustración de trabajo en equipo" id="345" name="Google Shape;345;p12"/>
          <p:cNvPicPr preferRelativeResize="0"/>
          <p:nvPr/>
        </p:nvPicPr>
        <p:blipFill rotWithShape="1">
          <a:blip r:embed="rId3">
            <a:alphaModFix/>
          </a:blip>
          <a:srcRect b="0" l="0" r="0" t="0"/>
          <a:stretch/>
        </p:blipFill>
        <p:spPr>
          <a:xfrm>
            <a:off x="9784080" y="1783080"/>
            <a:ext cx="1371600" cy="1371600"/>
          </a:xfrm>
          <a:prstGeom prst="rect">
            <a:avLst/>
          </a:prstGeom>
          <a:noFill/>
          <a:ln>
            <a:noFill/>
          </a:ln>
        </p:spPr>
      </p:pic>
      <p:sp>
        <p:nvSpPr>
          <p:cNvPr id="346" name="Google Shape;346;p12"/>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par>
                                <p:cTn fill="hold" nodeType="withEffect" presetClass="entr" presetID="10" presetSubtype="0">
                                  <p:stCondLst>
                                    <p:cond delay="26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par>
                                <p:cTn fill="hold" nodeType="withEffect" presetClass="entr" presetID="10" presetSubtype="0">
                                  <p:stCondLst>
                                    <p:cond delay="26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par>
                                <p:cTn fill="hold" nodeType="withEffect" presetClass="entr" presetID="10" presetSubtype="0">
                                  <p:stCondLst>
                                    <p:cond delay="26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par>
                                <p:cTn fill="hold" nodeType="withEffect" presetClass="entr" presetID="10" presetSubtype="0">
                                  <p:stCondLst>
                                    <p:cond delay="26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par>
                                <p:cTn fill="hold" nodeType="withEffect" presetClass="entr" presetID="10" presetSubtype="0">
                                  <p:stCondLst>
                                    <p:cond delay="52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par>
                                <p:cTn fill="hold" nodeType="withEffect" presetClass="entr" presetID="10" presetSubtype="0">
                                  <p:stCondLst>
                                    <p:cond delay="52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par>
                                <p:cTn fill="hold" nodeType="withEffect" presetClass="entr" presetID="10" presetSubtype="0">
                                  <p:stCondLst>
                                    <p:cond delay="520"/>
                                  </p:stCondLst>
                                  <p:childTnLst>
                                    <p:set>
                                      <p:cBhvr>
                                        <p:cTn dur="1" fill="hold">
                                          <p:stCondLst>
                                            <p:cond delay="0"/>
                                          </p:stCondLst>
                                        </p:cTn>
                                        <p:tgtEl>
                                          <p:spTgt spid="331"/>
                                        </p:tgtEl>
                                        <p:attrNameLst>
                                          <p:attrName>style.visibility</p:attrName>
                                        </p:attrNameLst>
                                      </p:cBhvr>
                                      <p:to>
                                        <p:strVal val="visible"/>
                                      </p:to>
                                    </p:set>
                                    <p:animEffect filter="fade" transition="in">
                                      <p:cBhvr>
                                        <p:cTn dur="500"/>
                                        <p:tgtEl>
                                          <p:spTgt spid="331"/>
                                        </p:tgtEl>
                                      </p:cBhvr>
                                    </p:animEffect>
                                  </p:childTnLst>
                                </p:cTn>
                              </p:par>
                              <p:par>
                                <p:cTn fill="hold" nodeType="withEffect" presetClass="entr" presetID="10" presetSubtype="0">
                                  <p:stCondLst>
                                    <p:cond delay="52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par>
                                <p:cTn fill="hold" nodeType="withEffect" presetClass="entr" presetID="10" presetSubtype="0">
                                  <p:stCondLst>
                                    <p:cond delay="780"/>
                                  </p:stCondLst>
                                  <p:childTnLst>
                                    <p:set>
                                      <p:cBhvr>
                                        <p:cTn dur="1" fill="hold">
                                          <p:stCondLst>
                                            <p:cond delay="0"/>
                                          </p:stCondLst>
                                        </p:cTn>
                                        <p:tgtEl>
                                          <p:spTgt spid="333"/>
                                        </p:tgtEl>
                                        <p:attrNameLst>
                                          <p:attrName>style.visibility</p:attrName>
                                        </p:attrNameLst>
                                      </p:cBhvr>
                                      <p:to>
                                        <p:strVal val="visible"/>
                                      </p:to>
                                    </p:set>
                                    <p:animEffect filter="fade" transition="in">
                                      <p:cBhvr>
                                        <p:cTn dur="500"/>
                                        <p:tgtEl>
                                          <p:spTgt spid="333"/>
                                        </p:tgtEl>
                                      </p:cBhvr>
                                    </p:animEffect>
                                  </p:childTnLst>
                                </p:cTn>
                              </p:par>
                              <p:par>
                                <p:cTn fill="hold" nodeType="withEffect" presetClass="entr" presetID="10" presetSubtype="0">
                                  <p:stCondLst>
                                    <p:cond delay="780"/>
                                  </p:stCondLst>
                                  <p:childTnLst>
                                    <p:set>
                                      <p:cBhvr>
                                        <p:cTn dur="1" fill="hold">
                                          <p:stCondLst>
                                            <p:cond delay="0"/>
                                          </p:stCondLst>
                                        </p:cTn>
                                        <p:tgtEl>
                                          <p:spTgt spid="334"/>
                                        </p:tgtEl>
                                        <p:attrNameLst>
                                          <p:attrName>style.visibility</p:attrName>
                                        </p:attrNameLst>
                                      </p:cBhvr>
                                      <p:to>
                                        <p:strVal val="visible"/>
                                      </p:to>
                                    </p:set>
                                    <p:animEffect filter="fade" transition="in">
                                      <p:cBhvr>
                                        <p:cTn dur="500"/>
                                        <p:tgtEl>
                                          <p:spTgt spid="334"/>
                                        </p:tgtEl>
                                      </p:cBhvr>
                                    </p:animEffect>
                                  </p:childTnLst>
                                </p:cTn>
                              </p:par>
                              <p:par>
                                <p:cTn fill="hold" nodeType="withEffect" presetClass="entr" presetID="10" presetSubtype="0">
                                  <p:stCondLst>
                                    <p:cond delay="78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par>
                                <p:cTn fill="hold" nodeType="withEffect" presetClass="entr" presetID="10" presetSubtype="0">
                                  <p:stCondLst>
                                    <p:cond delay="780"/>
                                  </p:stCondLst>
                                  <p:childTnLst>
                                    <p:set>
                                      <p:cBhvr>
                                        <p:cTn dur="1" fill="hold">
                                          <p:stCondLst>
                                            <p:cond delay="0"/>
                                          </p:stCondLst>
                                        </p:cTn>
                                        <p:tgtEl>
                                          <p:spTgt spid="336"/>
                                        </p:tgtEl>
                                        <p:attrNameLst>
                                          <p:attrName>style.visibility</p:attrName>
                                        </p:attrNameLst>
                                      </p:cBhvr>
                                      <p:to>
                                        <p:strVal val="visible"/>
                                      </p:to>
                                    </p:set>
                                    <p:animEffect filter="fade" transition="in">
                                      <p:cBhvr>
                                        <p:cTn dur="500"/>
                                        <p:tgtEl>
                                          <p:spTgt spid="336"/>
                                        </p:tgtEl>
                                      </p:cBhvr>
                                    </p:animEffect>
                                  </p:childTnLst>
                                </p:cTn>
                              </p:par>
                              <p:par>
                                <p:cTn fill="hold" nodeType="withEffect" presetClass="entr" presetID="10" presetSubtype="0">
                                  <p:stCondLst>
                                    <p:cond delay="1040"/>
                                  </p:stCondLst>
                                  <p:childTnLst>
                                    <p:set>
                                      <p:cBhvr>
                                        <p:cTn dur="1" fill="hold">
                                          <p:stCondLst>
                                            <p:cond delay="0"/>
                                          </p:stCondLst>
                                        </p:cTn>
                                        <p:tgtEl>
                                          <p:spTgt spid="337"/>
                                        </p:tgtEl>
                                        <p:attrNameLst>
                                          <p:attrName>style.visibility</p:attrName>
                                        </p:attrNameLst>
                                      </p:cBhvr>
                                      <p:to>
                                        <p:strVal val="visible"/>
                                      </p:to>
                                    </p:set>
                                    <p:animEffect filter="fade" transition="in">
                                      <p:cBhvr>
                                        <p:cTn dur="500"/>
                                        <p:tgtEl>
                                          <p:spTgt spid="337"/>
                                        </p:tgtEl>
                                      </p:cBhvr>
                                    </p:animEffect>
                                  </p:childTnLst>
                                </p:cTn>
                              </p:par>
                              <p:par>
                                <p:cTn fill="hold" nodeType="withEffect" presetClass="entr" presetID="10" presetSubtype="0">
                                  <p:stCondLst>
                                    <p:cond delay="1040"/>
                                  </p:stCondLst>
                                  <p:childTnLst>
                                    <p:set>
                                      <p:cBhvr>
                                        <p:cTn dur="1" fill="hold">
                                          <p:stCondLst>
                                            <p:cond delay="0"/>
                                          </p:stCondLst>
                                        </p:cTn>
                                        <p:tgtEl>
                                          <p:spTgt spid="338"/>
                                        </p:tgtEl>
                                        <p:attrNameLst>
                                          <p:attrName>style.visibility</p:attrName>
                                        </p:attrNameLst>
                                      </p:cBhvr>
                                      <p:to>
                                        <p:strVal val="visible"/>
                                      </p:to>
                                    </p:set>
                                    <p:animEffect filter="fade" transition="in">
                                      <p:cBhvr>
                                        <p:cTn dur="500"/>
                                        <p:tgtEl>
                                          <p:spTgt spid="338"/>
                                        </p:tgtEl>
                                      </p:cBhvr>
                                    </p:animEffect>
                                  </p:childTnLst>
                                </p:cTn>
                              </p:par>
                              <p:par>
                                <p:cTn fill="hold" nodeType="withEffect" presetClass="entr" presetID="10" presetSubtype="0">
                                  <p:stCondLst>
                                    <p:cond delay="104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par>
                                <p:cTn fill="hold" nodeType="withEffect" presetClass="entr" presetID="10" presetSubtype="0">
                                  <p:stCondLst>
                                    <p:cond delay="104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par>
                                <p:cTn fill="hold" nodeType="withEffect" presetClass="entr" presetID="10" presetSubtype="0">
                                  <p:stCondLst>
                                    <p:cond delay="130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par>
                                <p:cTn fill="hold" nodeType="withEffect" presetClass="entr" presetID="10" presetSubtype="0">
                                  <p:stCondLst>
                                    <p:cond delay="130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par>
                                <p:cTn fill="hold" nodeType="withEffect" presetClass="entr" presetID="10" presetSubtype="0">
                                  <p:stCondLst>
                                    <p:cond delay="130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par>
                                <p:cTn fill="hold" nodeType="withEffect" presetClass="entr" presetID="10" presetSubtype="0">
                                  <p:stCondLst>
                                    <p:cond delay="130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par>
                                <p:cTn fill="hold" nodeType="withEffect" presetClass="entr" presetID="23" presetSubtype="16">
                                  <p:stCondLst>
                                    <p:cond delay="1560"/>
                                  </p:stCondLst>
                                  <p:childTnLst>
                                    <p:set>
                                      <p:cBhvr>
                                        <p:cTn dur="1" fill="hold">
                                          <p:stCondLst>
                                            <p:cond delay="0"/>
                                          </p:stCondLst>
                                        </p:cTn>
                                        <p:tgtEl>
                                          <p:spTgt spid="345"/>
                                        </p:tgtEl>
                                        <p:attrNameLst>
                                          <p:attrName>style.visibility</p:attrName>
                                        </p:attrNameLst>
                                      </p:cBhvr>
                                      <p:to>
                                        <p:strVal val="visible"/>
                                      </p:to>
                                    </p:set>
                                    <p:anim calcmode="lin" valueType="num">
                                      <p:cBhvr additive="base">
                                        <p:cTn dur="500"/>
                                        <p:tgtEl>
                                          <p:spTgt spid="345"/>
                                        </p:tgtEl>
                                        <p:attrNameLst>
                                          <p:attrName>ppt_w</p:attrName>
                                        </p:attrNameLst>
                                      </p:cBhvr>
                                      <p:tavLst>
                                        <p:tav fmla="" tm="0">
                                          <p:val>
                                            <p:strVal val="0"/>
                                          </p:val>
                                        </p:tav>
                                        <p:tav fmla="" tm="100000">
                                          <p:val>
                                            <p:strVal val="#ppt_w"/>
                                          </p:val>
                                        </p:tav>
                                      </p:tavLst>
                                    </p:anim>
                                    <p:anim calcmode="lin" valueType="num">
                                      <p:cBhvr additive="base">
                                        <p:cTn dur="500"/>
                                        <p:tgtEl>
                                          <p:spTgt spid="34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3"/>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04  ·  CÓMO LO CONSTRUIMOS</a:t>
            </a:r>
            <a:endParaRPr b="0" i="0" sz="1200" u="none" cap="none" strike="noStrike">
              <a:solidFill>
                <a:schemeClr val="dk1"/>
              </a:solidFill>
              <a:latin typeface="Calibri"/>
              <a:ea typeface="Calibri"/>
              <a:cs typeface="Calibri"/>
              <a:sym typeface="Calibri"/>
            </a:endParaRPr>
          </a:p>
        </p:txBody>
      </p:sp>
      <p:sp>
        <p:nvSpPr>
          <p:cNvPr id="353" name="Google Shape;353;p13"/>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Tecnología y decisiones técnicas</a:t>
            </a:r>
            <a:endParaRPr sz="3400"/>
          </a:p>
        </p:txBody>
      </p:sp>
      <p:sp>
        <p:nvSpPr>
          <p:cNvPr id="354" name="Google Shape;354;p13"/>
          <p:cNvSpPr txBox="1"/>
          <p:nvPr/>
        </p:nvSpPr>
        <p:spPr>
          <a:xfrm>
            <a:off x="640080" y="1737360"/>
            <a:ext cx="45720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PILA TECNOLÓGICA</a:t>
            </a:r>
            <a:endParaRPr b="0" i="0" sz="1200" u="none" cap="none" strike="noStrike">
              <a:solidFill>
                <a:schemeClr val="dk1"/>
              </a:solidFill>
              <a:latin typeface="Calibri"/>
              <a:ea typeface="Calibri"/>
              <a:cs typeface="Calibri"/>
              <a:sym typeface="Calibri"/>
            </a:endParaRPr>
          </a:p>
        </p:txBody>
      </p:sp>
      <p:sp>
        <p:nvSpPr>
          <p:cNvPr id="355" name="Google Shape;355;p13"/>
          <p:cNvSpPr/>
          <p:nvPr/>
        </p:nvSpPr>
        <p:spPr>
          <a:xfrm>
            <a:off x="640080" y="2103120"/>
            <a:ext cx="2011680" cy="731520"/>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Georgia"/>
              <a:buNone/>
            </a:pPr>
            <a:r>
              <a:rPr b="1" i="0" lang="en-US" sz="2000" u="none" cap="none" strike="noStrike">
                <a:solidFill>
                  <a:schemeClr val="lt1"/>
                </a:solidFill>
                <a:latin typeface="Georgia"/>
                <a:ea typeface="Georgia"/>
                <a:cs typeface="Georgia"/>
                <a:sym typeface="Georgia"/>
              </a:rPr>
              <a:t>PHP</a:t>
            </a:r>
            <a:endParaRPr b="0" i="0" sz="2000" u="none" cap="none" strike="noStrike">
              <a:solidFill>
                <a:schemeClr val="dk1"/>
              </a:solidFill>
              <a:latin typeface="Calibri"/>
              <a:ea typeface="Calibri"/>
              <a:cs typeface="Calibri"/>
              <a:sym typeface="Calibri"/>
            </a:endParaRPr>
          </a:p>
        </p:txBody>
      </p:sp>
      <p:sp>
        <p:nvSpPr>
          <p:cNvPr id="356" name="Google Shape;356;p13"/>
          <p:cNvSpPr/>
          <p:nvPr/>
        </p:nvSpPr>
        <p:spPr>
          <a:xfrm>
            <a:off x="2862072" y="2103120"/>
            <a:ext cx="2011680" cy="731520"/>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Georgia"/>
              <a:buNone/>
            </a:pPr>
            <a:r>
              <a:rPr b="1" i="0" lang="en-US" sz="2000" u="none" cap="none" strike="noStrike">
                <a:solidFill>
                  <a:schemeClr val="lt1"/>
                </a:solidFill>
                <a:latin typeface="Georgia"/>
                <a:ea typeface="Georgia"/>
                <a:cs typeface="Georgia"/>
                <a:sym typeface="Georgia"/>
              </a:rPr>
              <a:t>MySQL</a:t>
            </a:r>
            <a:endParaRPr b="0" i="0" sz="2000" u="none" cap="none" strike="noStrike">
              <a:solidFill>
                <a:schemeClr val="dk1"/>
              </a:solidFill>
              <a:latin typeface="Calibri"/>
              <a:ea typeface="Calibri"/>
              <a:cs typeface="Calibri"/>
              <a:sym typeface="Calibri"/>
            </a:endParaRPr>
          </a:p>
        </p:txBody>
      </p:sp>
      <p:sp>
        <p:nvSpPr>
          <p:cNvPr id="357" name="Google Shape;357;p13"/>
          <p:cNvSpPr/>
          <p:nvPr/>
        </p:nvSpPr>
        <p:spPr>
          <a:xfrm>
            <a:off x="5084064" y="2103120"/>
            <a:ext cx="2011680" cy="731520"/>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Georgia"/>
              <a:buNone/>
            </a:pPr>
            <a:r>
              <a:rPr b="1" i="0" lang="en-US" sz="2000" u="none" cap="none" strike="noStrike">
                <a:solidFill>
                  <a:schemeClr val="lt1"/>
                </a:solidFill>
                <a:latin typeface="Georgia"/>
                <a:ea typeface="Georgia"/>
                <a:cs typeface="Georgia"/>
                <a:sym typeface="Georgia"/>
              </a:rPr>
              <a:t>HTML</a:t>
            </a:r>
            <a:endParaRPr b="0" i="0" sz="2000" u="none" cap="none" strike="noStrike">
              <a:solidFill>
                <a:schemeClr val="dk1"/>
              </a:solidFill>
              <a:latin typeface="Calibri"/>
              <a:ea typeface="Calibri"/>
              <a:cs typeface="Calibri"/>
              <a:sym typeface="Calibri"/>
            </a:endParaRPr>
          </a:p>
        </p:txBody>
      </p:sp>
      <p:sp>
        <p:nvSpPr>
          <p:cNvPr id="358" name="Google Shape;358;p13"/>
          <p:cNvSpPr/>
          <p:nvPr/>
        </p:nvSpPr>
        <p:spPr>
          <a:xfrm>
            <a:off x="7306056" y="2103120"/>
            <a:ext cx="2011680" cy="731520"/>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Georgia"/>
              <a:buNone/>
            </a:pPr>
            <a:r>
              <a:rPr b="1" i="0" lang="en-US" sz="2000" u="none" cap="none" strike="noStrike">
                <a:solidFill>
                  <a:schemeClr val="lt1"/>
                </a:solidFill>
                <a:latin typeface="Georgia"/>
                <a:ea typeface="Georgia"/>
                <a:cs typeface="Georgia"/>
                <a:sym typeface="Georgia"/>
              </a:rPr>
              <a:t>CSS</a:t>
            </a:r>
            <a:endParaRPr b="0" i="0" sz="2000" u="none" cap="none" strike="noStrike">
              <a:solidFill>
                <a:schemeClr val="dk1"/>
              </a:solidFill>
              <a:latin typeface="Calibri"/>
              <a:ea typeface="Calibri"/>
              <a:cs typeface="Calibri"/>
              <a:sym typeface="Calibri"/>
            </a:endParaRPr>
          </a:p>
        </p:txBody>
      </p:sp>
      <p:sp>
        <p:nvSpPr>
          <p:cNvPr id="359" name="Google Shape;359;p13"/>
          <p:cNvSpPr/>
          <p:nvPr/>
        </p:nvSpPr>
        <p:spPr>
          <a:xfrm>
            <a:off x="9528048" y="2103120"/>
            <a:ext cx="2011680" cy="731520"/>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000"/>
              <a:buFont typeface="Georgia"/>
              <a:buNone/>
            </a:pPr>
            <a:r>
              <a:rPr b="1" i="0" lang="en-US" sz="2000" u="none" cap="none" strike="noStrike">
                <a:solidFill>
                  <a:schemeClr val="lt1"/>
                </a:solidFill>
                <a:latin typeface="Georgia"/>
                <a:ea typeface="Georgia"/>
                <a:cs typeface="Georgia"/>
                <a:sym typeface="Georgia"/>
              </a:rPr>
              <a:t>JavaScript</a:t>
            </a:r>
            <a:endParaRPr b="0" i="0" sz="2000" u="none" cap="none" strike="noStrike">
              <a:solidFill>
                <a:schemeClr val="dk1"/>
              </a:solidFill>
              <a:latin typeface="Calibri"/>
              <a:ea typeface="Calibri"/>
              <a:cs typeface="Calibri"/>
              <a:sym typeface="Calibri"/>
            </a:endParaRPr>
          </a:p>
        </p:txBody>
      </p:sp>
      <p:sp>
        <p:nvSpPr>
          <p:cNvPr id="360" name="Google Shape;360;p13"/>
          <p:cNvSpPr txBox="1"/>
          <p:nvPr/>
        </p:nvSpPr>
        <p:spPr>
          <a:xfrm>
            <a:off x="640080" y="3200400"/>
            <a:ext cx="45720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DECISIONES TÉCNICAS</a:t>
            </a:r>
            <a:endParaRPr b="0" i="0" sz="1200" u="none" cap="none" strike="noStrike">
              <a:solidFill>
                <a:schemeClr val="dk1"/>
              </a:solidFill>
              <a:latin typeface="Calibri"/>
              <a:ea typeface="Calibri"/>
              <a:cs typeface="Calibri"/>
              <a:sym typeface="Calibri"/>
            </a:endParaRPr>
          </a:p>
        </p:txBody>
      </p:sp>
      <p:sp>
        <p:nvSpPr>
          <p:cNvPr id="361" name="Google Shape;361;p13"/>
          <p:cNvSpPr/>
          <p:nvPr/>
        </p:nvSpPr>
        <p:spPr>
          <a:xfrm>
            <a:off x="640080" y="3566160"/>
            <a:ext cx="3465576" cy="2514600"/>
          </a:xfrm>
          <a:prstGeom prst="roundRect">
            <a:avLst>
              <a:gd fmla="val 5091"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62" name="Google Shape;362;p13"/>
          <p:cNvPicPr preferRelativeResize="0"/>
          <p:nvPr/>
        </p:nvPicPr>
        <p:blipFill rotWithShape="1">
          <a:blip r:embed="rId3">
            <a:alphaModFix/>
          </a:blip>
          <a:srcRect b="0" l="0" r="0" t="0"/>
          <a:stretch/>
        </p:blipFill>
        <p:spPr>
          <a:xfrm>
            <a:off x="960120" y="3794760"/>
            <a:ext cx="685800" cy="685800"/>
          </a:xfrm>
          <a:prstGeom prst="rect">
            <a:avLst/>
          </a:prstGeom>
          <a:noFill/>
          <a:ln>
            <a:noFill/>
          </a:ln>
        </p:spPr>
      </p:pic>
      <p:sp>
        <p:nvSpPr>
          <p:cNvPr id="363" name="Google Shape;363;p13"/>
          <p:cNvSpPr txBox="1"/>
          <p:nvPr/>
        </p:nvSpPr>
        <p:spPr>
          <a:xfrm>
            <a:off x="960120" y="4617720"/>
            <a:ext cx="29260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800"/>
              <a:buFont typeface="Georgia"/>
              <a:buNone/>
            </a:pPr>
            <a:r>
              <a:rPr b="1" i="0" lang="en-US" sz="1800" u="none" cap="none" strike="noStrike">
                <a:solidFill>
                  <a:schemeClr val="lt1"/>
                </a:solidFill>
                <a:latin typeface="Georgia"/>
                <a:ea typeface="Georgia"/>
                <a:cs typeface="Georgia"/>
                <a:sym typeface="Georgia"/>
              </a:rPr>
              <a:t>Software libre</a:t>
            </a:r>
            <a:endParaRPr b="0" i="0" sz="1800" u="none" cap="none" strike="noStrike">
              <a:solidFill>
                <a:schemeClr val="dk1"/>
              </a:solidFill>
              <a:latin typeface="Calibri"/>
              <a:ea typeface="Calibri"/>
              <a:cs typeface="Calibri"/>
              <a:sym typeface="Calibri"/>
            </a:endParaRPr>
          </a:p>
        </p:txBody>
      </p:sp>
      <p:sp>
        <p:nvSpPr>
          <p:cNvPr id="364" name="Google Shape;364;p13"/>
          <p:cNvSpPr txBox="1"/>
          <p:nvPr/>
        </p:nvSpPr>
        <p:spPr>
          <a:xfrm>
            <a:off x="960120" y="5047488"/>
            <a:ext cx="28346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PHP y MySQL sin frameworks y hosting gratuito (InfinityFree): costo cero.</a:t>
            </a:r>
            <a:endParaRPr b="0" i="0" sz="1500" u="none" cap="none" strike="noStrike">
              <a:solidFill>
                <a:schemeClr val="dk1"/>
              </a:solidFill>
              <a:latin typeface="Calibri"/>
              <a:ea typeface="Calibri"/>
              <a:cs typeface="Calibri"/>
              <a:sym typeface="Calibri"/>
            </a:endParaRPr>
          </a:p>
        </p:txBody>
      </p:sp>
      <p:sp>
        <p:nvSpPr>
          <p:cNvPr id="365" name="Google Shape;365;p13"/>
          <p:cNvSpPr/>
          <p:nvPr/>
        </p:nvSpPr>
        <p:spPr>
          <a:xfrm>
            <a:off x="4361688" y="3566160"/>
            <a:ext cx="3465576" cy="2514600"/>
          </a:xfrm>
          <a:prstGeom prst="roundRect">
            <a:avLst>
              <a:gd fmla="val 509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66" name="Google Shape;366;p13"/>
          <p:cNvPicPr preferRelativeResize="0"/>
          <p:nvPr/>
        </p:nvPicPr>
        <p:blipFill rotWithShape="1">
          <a:blip r:embed="rId4">
            <a:alphaModFix/>
          </a:blip>
          <a:srcRect b="0" l="0" r="0" t="0"/>
          <a:stretch/>
        </p:blipFill>
        <p:spPr>
          <a:xfrm>
            <a:off x="4681728" y="3794760"/>
            <a:ext cx="685800" cy="685800"/>
          </a:xfrm>
          <a:prstGeom prst="rect">
            <a:avLst/>
          </a:prstGeom>
          <a:noFill/>
          <a:ln>
            <a:noFill/>
          </a:ln>
        </p:spPr>
      </p:pic>
      <p:sp>
        <p:nvSpPr>
          <p:cNvPr id="367" name="Google Shape;367;p13"/>
          <p:cNvSpPr txBox="1"/>
          <p:nvPr/>
        </p:nvSpPr>
        <p:spPr>
          <a:xfrm>
            <a:off x="4681728" y="4617720"/>
            <a:ext cx="29260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Georgia"/>
              <a:buNone/>
            </a:pPr>
            <a:r>
              <a:rPr b="1" i="0" lang="en-US" sz="1800" u="none" cap="none" strike="noStrike">
                <a:solidFill>
                  <a:schemeClr val="dk2"/>
                </a:solidFill>
                <a:latin typeface="Georgia"/>
                <a:ea typeface="Georgia"/>
                <a:cs typeface="Georgia"/>
                <a:sym typeface="Georgia"/>
              </a:rPr>
              <a:t>Firebase descartado</a:t>
            </a:r>
            <a:endParaRPr b="0" i="0" sz="1800" u="none" cap="none" strike="noStrike">
              <a:solidFill>
                <a:schemeClr val="dk1"/>
              </a:solidFill>
              <a:latin typeface="Calibri"/>
              <a:ea typeface="Calibri"/>
              <a:cs typeface="Calibri"/>
              <a:sym typeface="Calibri"/>
            </a:endParaRPr>
          </a:p>
        </p:txBody>
      </p:sp>
      <p:sp>
        <p:nvSpPr>
          <p:cNvPr id="368" name="Google Shape;368;p13"/>
          <p:cNvSpPr txBox="1"/>
          <p:nvPr/>
        </p:nvSpPr>
        <p:spPr>
          <a:xfrm>
            <a:off x="4681728" y="5047488"/>
            <a:ext cx="28346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Se descartó por su costo a gran escala para toda una institución.</a:t>
            </a:r>
            <a:endParaRPr b="0" i="0" sz="1500" u="none" cap="none" strike="noStrike">
              <a:solidFill>
                <a:schemeClr val="dk1"/>
              </a:solidFill>
              <a:latin typeface="Calibri"/>
              <a:ea typeface="Calibri"/>
              <a:cs typeface="Calibri"/>
              <a:sym typeface="Calibri"/>
            </a:endParaRPr>
          </a:p>
        </p:txBody>
      </p:sp>
      <p:sp>
        <p:nvSpPr>
          <p:cNvPr id="369" name="Google Shape;369;p13"/>
          <p:cNvSpPr/>
          <p:nvPr/>
        </p:nvSpPr>
        <p:spPr>
          <a:xfrm>
            <a:off x="8083296" y="3566160"/>
            <a:ext cx="3465576" cy="2514600"/>
          </a:xfrm>
          <a:prstGeom prst="roundRect">
            <a:avLst>
              <a:gd fmla="val 509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70" name="Google Shape;370;p13"/>
          <p:cNvPicPr preferRelativeResize="0"/>
          <p:nvPr/>
        </p:nvPicPr>
        <p:blipFill rotWithShape="1">
          <a:blip r:embed="rId5">
            <a:alphaModFix/>
          </a:blip>
          <a:srcRect b="0" l="0" r="0" t="0"/>
          <a:stretch/>
        </p:blipFill>
        <p:spPr>
          <a:xfrm>
            <a:off x="8403336" y="3794760"/>
            <a:ext cx="685800" cy="685800"/>
          </a:xfrm>
          <a:prstGeom prst="rect">
            <a:avLst/>
          </a:prstGeom>
          <a:noFill/>
          <a:ln>
            <a:noFill/>
          </a:ln>
        </p:spPr>
      </p:pic>
      <p:sp>
        <p:nvSpPr>
          <p:cNvPr id="371" name="Google Shape;371;p13"/>
          <p:cNvSpPr txBox="1"/>
          <p:nvPr/>
        </p:nvSpPr>
        <p:spPr>
          <a:xfrm>
            <a:off x="8403336" y="4617720"/>
            <a:ext cx="29260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Georgia"/>
              <a:buNone/>
            </a:pPr>
            <a:r>
              <a:rPr b="1" i="0" lang="en-US" sz="1800" u="none" cap="none" strike="noStrike">
                <a:solidFill>
                  <a:schemeClr val="dk2"/>
                </a:solidFill>
                <a:latin typeface="Georgia"/>
                <a:ea typeface="Georgia"/>
                <a:cs typeface="Georgia"/>
                <a:sym typeface="Georgia"/>
              </a:rPr>
              <a:t>Despliegue</a:t>
            </a:r>
            <a:endParaRPr b="0" i="0" sz="1800" u="none" cap="none" strike="noStrike">
              <a:solidFill>
                <a:schemeClr val="dk1"/>
              </a:solidFill>
              <a:latin typeface="Calibri"/>
              <a:ea typeface="Calibri"/>
              <a:cs typeface="Calibri"/>
              <a:sym typeface="Calibri"/>
            </a:endParaRPr>
          </a:p>
        </p:txBody>
      </p:sp>
      <p:sp>
        <p:nvSpPr>
          <p:cNvPr id="372" name="Google Shape;372;p13"/>
          <p:cNvSpPr txBox="1"/>
          <p:nvPr/>
        </p:nvSpPr>
        <p:spPr>
          <a:xfrm>
            <a:off x="8403336" y="5047488"/>
            <a:ext cx="28346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46 migraciones SQL y publicación en hosting gratuito.</a:t>
            </a:r>
            <a:endParaRPr b="0" i="0" sz="1500" u="none" cap="none" strike="noStrike">
              <a:solidFill>
                <a:schemeClr val="dk1"/>
              </a:solidFill>
              <a:latin typeface="Calibri"/>
              <a:ea typeface="Calibri"/>
              <a:cs typeface="Calibri"/>
              <a:sym typeface="Calibri"/>
            </a:endParaRPr>
          </a:p>
        </p:txBody>
      </p:sp>
      <p:sp>
        <p:nvSpPr>
          <p:cNvPr id="373" name="Google Shape;373;p13"/>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500"/>
                                        <p:tgtEl>
                                          <p:spTgt spid="352"/>
                                        </p:tgtEl>
                                      </p:cBhvr>
                                    </p:animEffect>
                                  </p:childTnLst>
                                </p:cTn>
                              </p:par>
                              <p:par>
                                <p:cTn fill="hold" nodeType="withEffect" presetClass="entr" presetID="10" presetSubtype="0">
                                  <p:stCondLst>
                                    <p:cond delay="26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par>
                                <p:cTn fill="hold" nodeType="withEffect" presetClass="entr" presetID="23" presetSubtype="16">
                                  <p:stCondLst>
                                    <p:cond delay="520"/>
                                  </p:stCondLst>
                                  <p:childTnLst>
                                    <p:set>
                                      <p:cBhvr>
                                        <p:cTn dur="1" fill="hold">
                                          <p:stCondLst>
                                            <p:cond delay="0"/>
                                          </p:stCondLst>
                                        </p:cTn>
                                        <p:tgtEl>
                                          <p:spTgt spid="355"/>
                                        </p:tgtEl>
                                        <p:attrNameLst>
                                          <p:attrName>style.visibility</p:attrName>
                                        </p:attrNameLst>
                                      </p:cBhvr>
                                      <p:to>
                                        <p:strVal val="visible"/>
                                      </p:to>
                                    </p:set>
                                    <p:anim calcmode="lin" valueType="num">
                                      <p:cBhvr additive="base">
                                        <p:cTn dur="500"/>
                                        <p:tgtEl>
                                          <p:spTgt spid="355"/>
                                        </p:tgtEl>
                                        <p:attrNameLst>
                                          <p:attrName>ppt_w</p:attrName>
                                        </p:attrNameLst>
                                      </p:cBhvr>
                                      <p:tavLst>
                                        <p:tav fmla="" tm="0">
                                          <p:val>
                                            <p:strVal val="0"/>
                                          </p:val>
                                        </p:tav>
                                        <p:tav fmla="" tm="100000">
                                          <p:val>
                                            <p:strVal val="#ppt_w"/>
                                          </p:val>
                                        </p:tav>
                                      </p:tavLst>
                                    </p:anim>
                                    <p:anim calcmode="lin" valueType="num">
                                      <p:cBhvr additive="base">
                                        <p:cTn dur="500"/>
                                        <p:tgtEl>
                                          <p:spTgt spid="3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780"/>
                                  </p:stCondLst>
                                  <p:childTnLst>
                                    <p:set>
                                      <p:cBhvr>
                                        <p:cTn dur="1" fill="hold">
                                          <p:stCondLst>
                                            <p:cond delay="0"/>
                                          </p:stCondLst>
                                        </p:cTn>
                                        <p:tgtEl>
                                          <p:spTgt spid="356"/>
                                        </p:tgtEl>
                                        <p:attrNameLst>
                                          <p:attrName>style.visibility</p:attrName>
                                        </p:attrNameLst>
                                      </p:cBhvr>
                                      <p:to>
                                        <p:strVal val="visible"/>
                                      </p:to>
                                    </p:set>
                                    <p:anim calcmode="lin" valueType="num">
                                      <p:cBhvr additive="base">
                                        <p:cTn dur="500"/>
                                        <p:tgtEl>
                                          <p:spTgt spid="356"/>
                                        </p:tgtEl>
                                        <p:attrNameLst>
                                          <p:attrName>ppt_w</p:attrName>
                                        </p:attrNameLst>
                                      </p:cBhvr>
                                      <p:tavLst>
                                        <p:tav fmla="" tm="0">
                                          <p:val>
                                            <p:strVal val="0"/>
                                          </p:val>
                                        </p:tav>
                                        <p:tav fmla="" tm="100000">
                                          <p:val>
                                            <p:strVal val="#ppt_w"/>
                                          </p:val>
                                        </p:tav>
                                      </p:tavLst>
                                    </p:anim>
                                    <p:anim calcmode="lin" valueType="num">
                                      <p:cBhvr additive="base">
                                        <p:cTn dur="500"/>
                                        <p:tgtEl>
                                          <p:spTgt spid="35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040"/>
                                  </p:stCondLst>
                                  <p:childTnLst>
                                    <p:set>
                                      <p:cBhvr>
                                        <p:cTn dur="1" fill="hold">
                                          <p:stCondLst>
                                            <p:cond delay="0"/>
                                          </p:stCondLst>
                                        </p:cTn>
                                        <p:tgtEl>
                                          <p:spTgt spid="357"/>
                                        </p:tgtEl>
                                        <p:attrNameLst>
                                          <p:attrName>style.visibility</p:attrName>
                                        </p:attrNameLst>
                                      </p:cBhvr>
                                      <p:to>
                                        <p:strVal val="visible"/>
                                      </p:to>
                                    </p:set>
                                    <p:anim calcmode="lin" valueType="num">
                                      <p:cBhvr additive="base">
                                        <p:cTn dur="500"/>
                                        <p:tgtEl>
                                          <p:spTgt spid="357"/>
                                        </p:tgtEl>
                                        <p:attrNameLst>
                                          <p:attrName>ppt_w</p:attrName>
                                        </p:attrNameLst>
                                      </p:cBhvr>
                                      <p:tavLst>
                                        <p:tav fmla="" tm="0">
                                          <p:val>
                                            <p:strVal val="0"/>
                                          </p:val>
                                        </p:tav>
                                        <p:tav fmla="" tm="100000">
                                          <p:val>
                                            <p:strVal val="#ppt_w"/>
                                          </p:val>
                                        </p:tav>
                                      </p:tavLst>
                                    </p:anim>
                                    <p:anim calcmode="lin" valueType="num">
                                      <p:cBhvr additive="base">
                                        <p:cTn dur="500"/>
                                        <p:tgtEl>
                                          <p:spTgt spid="35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300"/>
                                  </p:stCondLst>
                                  <p:childTnLst>
                                    <p:set>
                                      <p:cBhvr>
                                        <p:cTn dur="1" fill="hold">
                                          <p:stCondLst>
                                            <p:cond delay="0"/>
                                          </p:stCondLst>
                                        </p:cTn>
                                        <p:tgtEl>
                                          <p:spTgt spid="358"/>
                                        </p:tgtEl>
                                        <p:attrNameLst>
                                          <p:attrName>style.visibility</p:attrName>
                                        </p:attrNameLst>
                                      </p:cBhvr>
                                      <p:to>
                                        <p:strVal val="visible"/>
                                      </p:to>
                                    </p:set>
                                    <p:anim calcmode="lin" valueType="num">
                                      <p:cBhvr additive="base">
                                        <p:cTn dur="500"/>
                                        <p:tgtEl>
                                          <p:spTgt spid="358"/>
                                        </p:tgtEl>
                                        <p:attrNameLst>
                                          <p:attrName>ppt_w</p:attrName>
                                        </p:attrNameLst>
                                      </p:cBhvr>
                                      <p:tavLst>
                                        <p:tav fmla="" tm="0">
                                          <p:val>
                                            <p:strVal val="0"/>
                                          </p:val>
                                        </p:tav>
                                        <p:tav fmla="" tm="100000">
                                          <p:val>
                                            <p:strVal val="#ppt_w"/>
                                          </p:val>
                                        </p:tav>
                                      </p:tavLst>
                                    </p:anim>
                                    <p:anim calcmode="lin" valueType="num">
                                      <p:cBhvr additive="base">
                                        <p:cTn dur="500"/>
                                        <p:tgtEl>
                                          <p:spTgt spid="35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560"/>
                                  </p:stCondLst>
                                  <p:childTnLst>
                                    <p:set>
                                      <p:cBhvr>
                                        <p:cTn dur="1" fill="hold">
                                          <p:stCondLst>
                                            <p:cond delay="0"/>
                                          </p:stCondLst>
                                        </p:cTn>
                                        <p:tgtEl>
                                          <p:spTgt spid="359"/>
                                        </p:tgtEl>
                                        <p:attrNameLst>
                                          <p:attrName>style.visibility</p:attrName>
                                        </p:attrNameLst>
                                      </p:cBhvr>
                                      <p:to>
                                        <p:strVal val="visible"/>
                                      </p:to>
                                    </p:set>
                                    <p:anim calcmode="lin" valueType="num">
                                      <p:cBhvr additive="base">
                                        <p:cTn dur="500"/>
                                        <p:tgtEl>
                                          <p:spTgt spid="359"/>
                                        </p:tgtEl>
                                        <p:attrNameLst>
                                          <p:attrName>ppt_w</p:attrName>
                                        </p:attrNameLst>
                                      </p:cBhvr>
                                      <p:tavLst>
                                        <p:tav fmla="" tm="0">
                                          <p:val>
                                            <p:strVal val="0"/>
                                          </p:val>
                                        </p:tav>
                                        <p:tav fmla="" tm="100000">
                                          <p:val>
                                            <p:strVal val="#ppt_w"/>
                                          </p:val>
                                        </p:tav>
                                      </p:tavLst>
                                    </p:anim>
                                    <p:anim calcmode="lin" valueType="num">
                                      <p:cBhvr additive="base">
                                        <p:cTn dur="500"/>
                                        <p:tgtEl>
                                          <p:spTgt spid="35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82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par>
                                <p:cTn fill="hold" nodeType="withEffect" presetClass="entr" presetID="10" presetSubtype="0">
                                  <p:stCondLst>
                                    <p:cond delay="2080"/>
                                  </p:stCondLst>
                                  <p:childTnLst>
                                    <p:set>
                                      <p:cBhvr>
                                        <p:cTn dur="1" fill="hold">
                                          <p:stCondLst>
                                            <p:cond delay="0"/>
                                          </p:stCondLst>
                                        </p:cTn>
                                        <p:tgtEl>
                                          <p:spTgt spid="361"/>
                                        </p:tgtEl>
                                        <p:attrNameLst>
                                          <p:attrName>style.visibility</p:attrName>
                                        </p:attrNameLst>
                                      </p:cBhvr>
                                      <p:to>
                                        <p:strVal val="visible"/>
                                      </p:to>
                                    </p:set>
                                    <p:animEffect filter="fade" transition="in">
                                      <p:cBhvr>
                                        <p:cTn dur="500"/>
                                        <p:tgtEl>
                                          <p:spTgt spid="361"/>
                                        </p:tgtEl>
                                      </p:cBhvr>
                                    </p:animEffect>
                                  </p:childTnLst>
                                </p:cTn>
                              </p:par>
                              <p:par>
                                <p:cTn fill="hold" nodeType="withEffect" presetClass="entr" presetID="10" presetSubtype="0">
                                  <p:stCondLst>
                                    <p:cond delay="2080"/>
                                  </p:stCondLst>
                                  <p:childTnLst>
                                    <p:set>
                                      <p:cBhvr>
                                        <p:cTn dur="1" fill="hold">
                                          <p:stCondLst>
                                            <p:cond delay="0"/>
                                          </p:stCondLst>
                                        </p:cTn>
                                        <p:tgtEl>
                                          <p:spTgt spid="362"/>
                                        </p:tgtEl>
                                        <p:attrNameLst>
                                          <p:attrName>style.visibility</p:attrName>
                                        </p:attrNameLst>
                                      </p:cBhvr>
                                      <p:to>
                                        <p:strVal val="visible"/>
                                      </p:to>
                                    </p:set>
                                    <p:animEffect filter="fade" transition="in">
                                      <p:cBhvr>
                                        <p:cTn dur="500"/>
                                        <p:tgtEl>
                                          <p:spTgt spid="362"/>
                                        </p:tgtEl>
                                      </p:cBhvr>
                                    </p:animEffect>
                                  </p:childTnLst>
                                </p:cTn>
                              </p:par>
                              <p:par>
                                <p:cTn fill="hold" nodeType="withEffect" presetClass="entr" presetID="10" presetSubtype="0">
                                  <p:stCondLst>
                                    <p:cond delay="2080"/>
                                  </p:stCondLst>
                                  <p:childTnLst>
                                    <p:set>
                                      <p:cBhvr>
                                        <p:cTn dur="1" fill="hold">
                                          <p:stCondLst>
                                            <p:cond delay="0"/>
                                          </p:stCondLst>
                                        </p:cTn>
                                        <p:tgtEl>
                                          <p:spTgt spid="363"/>
                                        </p:tgtEl>
                                        <p:attrNameLst>
                                          <p:attrName>style.visibility</p:attrName>
                                        </p:attrNameLst>
                                      </p:cBhvr>
                                      <p:to>
                                        <p:strVal val="visible"/>
                                      </p:to>
                                    </p:set>
                                    <p:animEffect filter="fade" transition="in">
                                      <p:cBhvr>
                                        <p:cTn dur="500"/>
                                        <p:tgtEl>
                                          <p:spTgt spid="363"/>
                                        </p:tgtEl>
                                      </p:cBhvr>
                                    </p:animEffect>
                                  </p:childTnLst>
                                </p:cTn>
                              </p:par>
                              <p:par>
                                <p:cTn fill="hold" nodeType="withEffect" presetClass="entr" presetID="10" presetSubtype="0">
                                  <p:stCondLst>
                                    <p:cond delay="208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par>
                                <p:cTn fill="hold" nodeType="withEffect" presetClass="entr" presetID="10" presetSubtype="0">
                                  <p:stCondLst>
                                    <p:cond delay="234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par>
                                <p:cTn fill="hold" nodeType="withEffect" presetClass="entr" presetID="10" presetSubtype="0">
                                  <p:stCondLst>
                                    <p:cond delay="2340"/>
                                  </p:stCondLst>
                                  <p:childTnLst>
                                    <p:set>
                                      <p:cBhvr>
                                        <p:cTn dur="1" fill="hold">
                                          <p:stCondLst>
                                            <p:cond delay="0"/>
                                          </p:stCondLst>
                                        </p:cTn>
                                        <p:tgtEl>
                                          <p:spTgt spid="366"/>
                                        </p:tgtEl>
                                        <p:attrNameLst>
                                          <p:attrName>style.visibility</p:attrName>
                                        </p:attrNameLst>
                                      </p:cBhvr>
                                      <p:to>
                                        <p:strVal val="visible"/>
                                      </p:to>
                                    </p:set>
                                    <p:animEffect filter="fade" transition="in">
                                      <p:cBhvr>
                                        <p:cTn dur="500"/>
                                        <p:tgtEl>
                                          <p:spTgt spid="366"/>
                                        </p:tgtEl>
                                      </p:cBhvr>
                                    </p:animEffect>
                                  </p:childTnLst>
                                </p:cTn>
                              </p:par>
                              <p:par>
                                <p:cTn fill="hold" nodeType="withEffect" presetClass="entr" presetID="10" presetSubtype="0">
                                  <p:stCondLst>
                                    <p:cond delay="234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par>
                                <p:cTn fill="hold" nodeType="withEffect" presetClass="entr" presetID="10" presetSubtype="0">
                                  <p:stCondLst>
                                    <p:cond delay="234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par>
                                <p:cTn fill="hold" nodeType="withEffect" presetClass="entr" presetID="10" presetSubtype="0">
                                  <p:stCondLst>
                                    <p:cond delay="260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par>
                                <p:cTn fill="hold" nodeType="withEffect" presetClass="entr" presetID="10" presetSubtype="0">
                                  <p:stCondLst>
                                    <p:cond delay="260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par>
                                <p:cTn fill="hold" nodeType="withEffect" presetClass="entr" presetID="10" presetSubtype="0">
                                  <p:stCondLst>
                                    <p:cond delay="260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par>
                                <p:cTn fill="hold" nodeType="withEffect" presetClass="entr" presetID="10" presetSubtype="0">
                                  <p:stCondLst>
                                    <p:cond delay="2600"/>
                                  </p:stCondLst>
                                  <p:childTnLst>
                                    <p:set>
                                      <p:cBhvr>
                                        <p:cTn dur="1" fill="hold">
                                          <p:stCondLst>
                                            <p:cond delay="0"/>
                                          </p:stCondLst>
                                        </p:cTn>
                                        <p:tgtEl>
                                          <p:spTgt spid="372"/>
                                        </p:tgtEl>
                                        <p:attrNameLst>
                                          <p:attrName>style.visibility</p:attrName>
                                        </p:attrNameLst>
                                      </p:cBhvr>
                                      <p:to>
                                        <p:strVal val="visible"/>
                                      </p:to>
                                    </p:set>
                                    <p:animEffect filter="fade" transition="in">
                                      <p:cBhvr>
                                        <p:cTn dur="500"/>
                                        <p:tgtEl>
                                          <p:spTgt spid="3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4"/>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05  ·  SEGURIDAD</a:t>
            </a:r>
            <a:endParaRPr b="0" i="0" sz="1200" u="none" cap="none" strike="noStrike">
              <a:solidFill>
                <a:schemeClr val="dk1"/>
              </a:solidFill>
              <a:latin typeface="Calibri"/>
              <a:ea typeface="Calibri"/>
              <a:cs typeface="Calibri"/>
              <a:sym typeface="Calibri"/>
            </a:endParaRPr>
          </a:p>
        </p:txBody>
      </p:sp>
      <p:sp>
        <p:nvSpPr>
          <p:cNvPr id="380" name="Google Shape;380;p14"/>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Seguridad y privacidad</a:t>
            </a:r>
            <a:endParaRPr sz="3400"/>
          </a:p>
        </p:txBody>
      </p:sp>
      <p:sp>
        <p:nvSpPr>
          <p:cNvPr id="381" name="Google Shape;381;p14"/>
          <p:cNvSpPr/>
          <p:nvPr/>
        </p:nvSpPr>
        <p:spPr>
          <a:xfrm>
            <a:off x="640080" y="1783080"/>
            <a:ext cx="3465576" cy="201168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82" name="Google Shape;382;p14"/>
          <p:cNvPicPr preferRelativeResize="0"/>
          <p:nvPr/>
        </p:nvPicPr>
        <p:blipFill rotWithShape="1">
          <a:blip r:embed="rId3">
            <a:alphaModFix/>
          </a:blip>
          <a:srcRect b="0" l="0" r="0" t="0"/>
          <a:stretch/>
        </p:blipFill>
        <p:spPr>
          <a:xfrm>
            <a:off x="914400" y="2011680"/>
            <a:ext cx="594360" cy="594360"/>
          </a:xfrm>
          <a:prstGeom prst="rect">
            <a:avLst/>
          </a:prstGeom>
          <a:noFill/>
          <a:ln>
            <a:noFill/>
          </a:ln>
        </p:spPr>
      </p:pic>
      <p:sp>
        <p:nvSpPr>
          <p:cNvPr id="383" name="Google Shape;383;p14"/>
          <p:cNvSpPr txBox="1"/>
          <p:nvPr/>
        </p:nvSpPr>
        <p:spPr>
          <a:xfrm>
            <a:off x="1691640" y="205740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Consentimiento</a:t>
            </a:r>
            <a:endParaRPr b="0" i="0" sz="1700" u="none" cap="none" strike="noStrike">
              <a:solidFill>
                <a:schemeClr val="dk1"/>
              </a:solidFill>
              <a:latin typeface="Calibri"/>
              <a:ea typeface="Calibri"/>
              <a:cs typeface="Calibri"/>
              <a:sym typeface="Calibri"/>
            </a:endParaRPr>
          </a:p>
        </p:txBody>
      </p:sp>
      <p:sp>
        <p:nvSpPr>
          <p:cNvPr id="384" name="Google Shape;384;p14"/>
          <p:cNvSpPr txBox="1"/>
          <p:nvPr/>
        </p:nvSpPr>
        <p:spPr>
          <a:xfrm>
            <a:off x="914400" y="2743200"/>
            <a:ext cx="29260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Aceptación explícita al registrarse, según la Ley 1581 de 2012.</a:t>
            </a:r>
            <a:endParaRPr b="0" i="0" sz="1500" u="none" cap="none" strike="noStrike">
              <a:solidFill>
                <a:schemeClr val="dk1"/>
              </a:solidFill>
              <a:latin typeface="Calibri"/>
              <a:ea typeface="Calibri"/>
              <a:cs typeface="Calibri"/>
              <a:sym typeface="Calibri"/>
            </a:endParaRPr>
          </a:p>
        </p:txBody>
      </p:sp>
      <p:sp>
        <p:nvSpPr>
          <p:cNvPr id="385" name="Google Shape;385;p14"/>
          <p:cNvSpPr/>
          <p:nvPr/>
        </p:nvSpPr>
        <p:spPr>
          <a:xfrm>
            <a:off x="4361688" y="1783080"/>
            <a:ext cx="3465576" cy="201168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86" name="Google Shape;386;p14"/>
          <p:cNvPicPr preferRelativeResize="0"/>
          <p:nvPr/>
        </p:nvPicPr>
        <p:blipFill rotWithShape="1">
          <a:blip r:embed="rId4">
            <a:alphaModFix/>
          </a:blip>
          <a:srcRect b="0" l="0" r="0" t="0"/>
          <a:stretch/>
        </p:blipFill>
        <p:spPr>
          <a:xfrm>
            <a:off x="4636008" y="2011680"/>
            <a:ext cx="594360" cy="594360"/>
          </a:xfrm>
          <a:prstGeom prst="rect">
            <a:avLst/>
          </a:prstGeom>
          <a:noFill/>
          <a:ln>
            <a:noFill/>
          </a:ln>
        </p:spPr>
      </p:pic>
      <p:sp>
        <p:nvSpPr>
          <p:cNvPr id="387" name="Google Shape;387;p14"/>
          <p:cNvSpPr txBox="1"/>
          <p:nvPr/>
        </p:nvSpPr>
        <p:spPr>
          <a:xfrm>
            <a:off x="5413248" y="205740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Verificación en 2 pasos</a:t>
            </a:r>
            <a:endParaRPr b="0" i="0" sz="1700" u="none" cap="none" strike="noStrike">
              <a:solidFill>
                <a:schemeClr val="dk1"/>
              </a:solidFill>
              <a:latin typeface="Calibri"/>
              <a:ea typeface="Calibri"/>
              <a:cs typeface="Calibri"/>
              <a:sym typeface="Calibri"/>
            </a:endParaRPr>
          </a:p>
        </p:txBody>
      </p:sp>
      <p:sp>
        <p:nvSpPr>
          <p:cNvPr id="388" name="Google Shape;388;p14"/>
          <p:cNvSpPr txBox="1"/>
          <p:nvPr/>
        </p:nvSpPr>
        <p:spPr>
          <a:xfrm>
            <a:off x="4636008" y="2743200"/>
            <a:ext cx="29260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App autenticadora, correo, WhatsApp o rostro; secretos cifrados con AES-256-GCM.</a:t>
            </a:r>
            <a:endParaRPr b="0" i="0" sz="1500" u="none" cap="none" strike="noStrike">
              <a:solidFill>
                <a:schemeClr val="dk1"/>
              </a:solidFill>
              <a:latin typeface="Calibri"/>
              <a:ea typeface="Calibri"/>
              <a:cs typeface="Calibri"/>
              <a:sym typeface="Calibri"/>
            </a:endParaRPr>
          </a:p>
        </p:txBody>
      </p:sp>
      <p:sp>
        <p:nvSpPr>
          <p:cNvPr id="389" name="Google Shape;389;p14"/>
          <p:cNvSpPr/>
          <p:nvPr/>
        </p:nvSpPr>
        <p:spPr>
          <a:xfrm>
            <a:off x="8083296" y="1783080"/>
            <a:ext cx="3465576" cy="201168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90" name="Google Shape;390;p14"/>
          <p:cNvPicPr preferRelativeResize="0"/>
          <p:nvPr/>
        </p:nvPicPr>
        <p:blipFill rotWithShape="1">
          <a:blip r:embed="rId5">
            <a:alphaModFix/>
          </a:blip>
          <a:srcRect b="0" l="0" r="0" t="0"/>
          <a:stretch/>
        </p:blipFill>
        <p:spPr>
          <a:xfrm>
            <a:off x="8357616" y="2011680"/>
            <a:ext cx="594360" cy="594360"/>
          </a:xfrm>
          <a:prstGeom prst="rect">
            <a:avLst/>
          </a:prstGeom>
          <a:noFill/>
          <a:ln>
            <a:noFill/>
          </a:ln>
        </p:spPr>
      </p:pic>
      <p:sp>
        <p:nvSpPr>
          <p:cNvPr id="391" name="Google Shape;391;p14"/>
          <p:cNvSpPr txBox="1"/>
          <p:nvPr/>
        </p:nvSpPr>
        <p:spPr>
          <a:xfrm>
            <a:off x="9134856" y="205740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Acceso seguro</a:t>
            </a:r>
            <a:endParaRPr b="0" i="0" sz="1700" u="none" cap="none" strike="noStrike">
              <a:solidFill>
                <a:schemeClr val="dk1"/>
              </a:solidFill>
              <a:latin typeface="Calibri"/>
              <a:ea typeface="Calibri"/>
              <a:cs typeface="Calibri"/>
              <a:sym typeface="Calibri"/>
            </a:endParaRPr>
          </a:p>
        </p:txBody>
      </p:sp>
      <p:sp>
        <p:nvSpPr>
          <p:cNvPr id="392" name="Google Shape;392;p14"/>
          <p:cNvSpPr txBox="1"/>
          <p:nvPr/>
        </p:nvSpPr>
        <p:spPr>
          <a:xfrm>
            <a:off x="8357616" y="2743200"/>
            <a:ext cx="29260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Sentencias preparadas, tokens CSRF y control de acceso por rol.</a:t>
            </a:r>
            <a:endParaRPr b="0" i="0" sz="1500" u="none" cap="none" strike="noStrike">
              <a:solidFill>
                <a:schemeClr val="dk1"/>
              </a:solidFill>
              <a:latin typeface="Calibri"/>
              <a:ea typeface="Calibri"/>
              <a:cs typeface="Calibri"/>
              <a:sym typeface="Calibri"/>
            </a:endParaRPr>
          </a:p>
        </p:txBody>
      </p:sp>
      <p:sp>
        <p:nvSpPr>
          <p:cNvPr id="393" name="Google Shape;393;p14"/>
          <p:cNvSpPr/>
          <p:nvPr/>
        </p:nvSpPr>
        <p:spPr>
          <a:xfrm>
            <a:off x="640080" y="3977640"/>
            <a:ext cx="3465576" cy="201168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94" name="Google Shape;394;p14"/>
          <p:cNvPicPr preferRelativeResize="0"/>
          <p:nvPr/>
        </p:nvPicPr>
        <p:blipFill rotWithShape="1">
          <a:blip r:embed="rId6">
            <a:alphaModFix/>
          </a:blip>
          <a:srcRect b="0" l="0" r="0" t="0"/>
          <a:stretch/>
        </p:blipFill>
        <p:spPr>
          <a:xfrm>
            <a:off x="914400" y="4206240"/>
            <a:ext cx="594360" cy="594360"/>
          </a:xfrm>
          <a:prstGeom prst="rect">
            <a:avLst/>
          </a:prstGeom>
          <a:noFill/>
          <a:ln>
            <a:noFill/>
          </a:ln>
        </p:spPr>
      </p:pic>
      <p:sp>
        <p:nvSpPr>
          <p:cNvPr id="395" name="Google Shape;395;p14"/>
          <p:cNvSpPr txBox="1"/>
          <p:nvPr/>
        </p:nvSpPr>
        <p:spPr>
          <a:xfrm>
            <a:off x="1691640" y="425196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Límite de intentos</a:t>
            </a:r>
            <a:endParaRPr b="0" i="0" sz="1700" u="none" cap="none" strike="noStrike">
              <a:solidFill>
                <a:schemeClr val="dk1"/>
              </a:solidFill>
              <a:latin typeface="Calibri"/>
              <a:ea typeface="Calibri"/>
              <a:cs typeface="Calibri"/>
              <a:sym typeface="Calibri"/>
            </a:endParaRPr>
          </a:p>
        </p:txBody>
      </p:sp>
      <p:sp>
        <p:nvSpPr>
          <p:cNvPr id="396" name="Google Shape;396;p14"/>
          <p:cNvSpPr txBox="1"/>
          <p:nvPr/>
        </p:nvSpPr>
        <p:spPr>
          <a:xfrm>
            <a:off x="914400" y="4937760"/>
            <a:ext cx="29260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Cinco intentos fallidos bloquean la cuenta durante 15 minutos.</a:t>
            </a:r>
            <a:endParaRPr b="0" i="0" sz="1500" u="none" cap="none" strike="noStrike">
              <a:solidFill>
                <a:schemeClr val="dk1"/>
              </a:solidFill>
              <a:latin typeface="Calibri"/>
              <a:ea typeface="Calibri"/>
              <a:cs typeface="Calibri"/>
              <a:sym typeface="Calibri"/>
            </a:endParaRPr>
          </a:p>
        </p:txBody>
      </p:sp>
      <p:sp>
        <p:nvSpPr>
          <p:cNvPr id="397" name="Google Shape;397;p14"/>
          <p:cNvSpPr/>
          <p:nvPr/>
        </p:nvSpPr>
        <p:spPr>
          <a:xfrm>
            <a:off x="4361688" y="3977640"/>
            <a:ext cx="3465576" cy="201168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98" name="Google Shape;398;p14"/>
          <p:cNvPicPr preferRelativeResize="0"/>
          <p:nvPr/>
        </p:nvPicPr>
        <p:blipFill rotWithShape="1">
          <a:blip r:embed="rId7">
            <a:alphaModFix/>
          </a:blip>
          <a:srcRect b="0" l="0" r="0" t="0"/>
          <a:stretch/>
        </p:blipFill>
        <p:spPr>
          <a:xfrm>
            <a:off x="4636008" y="4206240"/>
            <a:ext cx="594360" cy="594360"/>
          </a:xfrm>
          <a:prstGeom prst="rect">
            <a:avLst/>
          </a:prstGeom>
          <a:noFill/>
          <a:ln>
            <a:noFill/>
          </a:ln>
        </p:spPr>
      </p:pic>
      <p:sp>
        <p:nvSpPr>
          <p:cNvPr id="399" name="Google Shape;399;p14"/>
          <p:cNvSpPr txBox="1"/>
          <p:nvPr/>
        </p:nvSpPr>
        <p:spPr>
          <a:xfrm>
            <a:off x="5413248" y="425196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Diario con PIN</a:t>
            </a:r>
            <a:endParaRPr b="0" i="0" sz="1700" u="none" cap="none" strike="noStrike">
              <a:solidFill>
                <a:schemeClr val="dk1"/>
              </a:solidFill>
              <a:latin typeface="Calibri"/>
              <a:ea typeface="Calibri"/>
              <a:cs typeface="Calibri"/>
              <a:sym typeface="Calibri"/>
            </a:endParaRPr>
          </a:p>
        </p:txBody>
      </p:sp>
      <p:sp>
        <p:nvSpPr>
          <p:cNvPr id="400" name="Google Shape;400;p14"/>
          <p:cNvSpPr txBox="1"/>
          <p:nvPr/>
        </p:nvSpPr>
        <p:spPr>
          <a:xfrm>
            <a:off x="4636008" y="4937760"/>
            <a:ext cx="29260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Protección adicional para las entradas personales del estudiante.</a:t>
            </a:r>
            <a:endParaRPr b="0" i="0" sz="1500" u="none" cap="none" strike="noStrike">
              <a:solidFill>
                <a:schemeClr val="dk1"/>
              </a:solidFill>
              <a:latin typeface="Calibri"/>
              <a:ea typeface="Calibri"/>
              <a:cs typeface="Calibri"/>
              <a:sym typeface="Calibri"/>
            </a:endParaRPr>
          </a:p>
        </p:txBody>
      </p:sp>
      <p:sp>
        <p:nvSpPr>
          <p:cNvPr id="401" name="Google Shape;401;p14"/>
          <p:cNvSpPr/>
          <p:nvPr/>
        </p:nvSpPr>
        <p:spPr>
          <a:xfrm>
            <a:off x="8083296" y="3977640"/>
            <a:ext cx="3465576" cy="201168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402" name="Google Shape;402;p14"/>
          <p:cNvPicPr preferRelativeResize="0"/>
          <p:nvPr/>
        </p:nvPicPr>
        <p:blipFill rotWithShape="1">
          <a:blip r:embed="rId8">
            <a:alphaModFix/>
          </a:blip>
          <a:srcRect b="0" l="0" r="0" t="0"/>
          <a:stretch/>
        </p:blipFill>
        <p:spPr>
          <a:xfrm>
            <a:off x="8357616" y="4206240"/>
            <a:ext cx="594360" cy="594360"/>
          </a:xfrm>
          <a:prstGeom prst="rect">
            <a:avLst/>
          </a:prstGeom>
          <a:noFill/>
          <a:ln>
            <a:noFill/>
          </a:ln>
        </p:spPr>
      </p:pic>
      <p:sp>
        <p:nvSpPr>
          <p:cNvPr id="403" name="Google Shape;403;p14"/>
          <p:cNvSpPr txBox="1"/>
          <p:nvPr/>
        </p:nvSpPr>
        <p:spPr>
          <a:xfrm>
            <a:off x="9134856" y="4251960"/>
            <a:ext cx="2286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Georgia"/>
              <a:buNone/>
            </a:pPr>
            <a:r>
              <a:rPr b="1" i="0" lang="en-US" sz="1700" u="none" cap="none" strike="noStrike">
                <a:solidFill>
                  <a:schemeClr val="dk2"/>
                </a:solidFill>
                <a:latin typeface="Georgia"/>
                <a:ea typeface="Georgia"/>
                <a:cs typeface="Georgia"/>
                <a:sym typeface="Georgia"/>
              </a:rPr>
              <a:t>Sesiones y auditoría</a:t>
            </a:r>
            <a:endParaRPr b="0" i="0" sz="1700" u="none" cap="none" strike="noStrike">
              <a:solidFill>
                <a:schemeClr val="dk1"/>
              </a:solidFill>
              <a:latin typeface="Calibri"/>
              <a:ea typeface="Calibri"/>
              <a:cs typeface="Calibri"/>
              <a:sym typeface="Calibri"/>
            </a:endParaRPr>
          </a:p>
        </p:txBody>
      </p:sp>
      <p:sp>
        <p:nvSpPr>
          <p:cNvPr id="404" name="Google Shape;404;p14"/>
          <p:cNvSpPr txBox="1"/>
          <p:nvPr/>
        </p:nvSpPr>
        <p:spPr>
          <a:xfrm>
            <a:off x="8357616" y="4937760"/>
            <a:ext cx="29260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Sesiones activas visibles y bitácora de cambios sensibles.</a:t>
            </a:r>
            <a:endParaRPr b="0" i="0" sz="1500" u="none" cap="none" strike="noStrike">
              <a:solidFill>
                <a:schemeClr val="dk1"/>
              </a:solidFill>
              <a:latin typeface="Calibri"/>
              <a:ea typeface="Calibri"/>
              <a:cs typeface="Calibri"/>
              <a:sym typeface="Calibri"/>
            </a:endParaRPr>
          </a:p>
        </p:txBody>
      </p:sp>
      <p:sp>
        <p:nvSpPr>
          <p:cNvPr id="405" name="Google Shape;405;p14"/>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500"/>
                                        <p:tgtEl>
                                          <p:spTgt spid="379"/>
                                        </p:tgtEl>
                                      </p:cBhvr>
                                    </p:animEffect>
                                  </p:childTnLst>
                                </p:cTn>
                              </p:par>
                              <p:par>
                                <p:cTn fill="hold" nodeType="withEffect" presetClass="entr" presetID="10" presetSubtype="0">
                                  <p:stCondLst>
                                    <p:cond delay="26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par>
                                <p:cTn fill="hold" nodeType="withEffect" presetClass="entr" presetID="10" presetSubtype="0">
                                  <p:stCondLst>
                                    <p:cond delay="26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par>
                                <p:cTn fill="hold" nodeType="withEffect" presetClass="entr" presetID="10" presetSubtype="0">
                                  <p:stCondLst>
                                    <p:cond delay="260"/>
                                  </p:stCondLst>
                                  <p:childTnLst>
                                    <p:set>
                                      <p:cBhvr>
                                        <p:cTn dur="1" fill="hold">
                                          <p:stCondLst>
                                            <p:cond delay="0"/>
                                          </p:stCondLst>
                                        </p:cTn>
                                        <p:tgtEl>
                                          <p:spTgt spid="383"/>
                                        </p:tgtEl>
                                        <p:attrNameLst>
                                          <p:attrName>style.visibility</p:attrName>
                                        </p:attrNameLst>
                                      </p:cBhvr>
                                      <p:to>
                                        <p:strVal val="visible"/>
                                      </p:to>
                                    </p:set>
                                    <p:animEffect filter="fade" transition="in">
                                      <p:cBhvr>
                                        <p:cTn dur="500"/>
                                        <p:tgtEl>
                                          <p:spTgt spid="383"/>
                                        </p:tgtEl>
                                      </p:cBhvr>
                                    </p:animEffect>
                                  </p:childTnLst>
                                </p:cTn>
                              </p:par>
                              <p:par>
                                <p:cTn fill="hold" nodeType="withEffect" presetClass="entr" presetID="10" presetSubtype="0">
                                  <p:stCondLst>
                                    <p:cond delay="260"/>
                                  </p:stCondLst>
                                  <p:childTnLst>
                                    <p:set>
                                      <p:cBhvr>
                                        <p:cTn dur="1" fill="hold">
                                          <p:stCondLst>
                                            <p:cond delay="0"/>
                                          </p:stCondLst>
                                        </p:cTn>
                                        <p:tgtEl>
                                          <p:spTgt spid="384"/>
                                        </p:tgtEl>
                                        <p:attrNameLst>
                                          <p:attrName>style.visibility</p:attrName>
                                        </p:attrNameLst>
                                      </p:cBhvr>
                                      <p:to>
                                        <p:strVal val="visible"/>
                                      </p:to>
                                    </p:set>
                                    <p:animEffect filter="fade" transition="in">
                                      <p:cBhvr>
                                        <p:cTn dur="500"/>
                                        <p:tgtEl>
                                          <p:spTgt spid="384"/>
                                        </p:tgtEl>
                                      </p:cBhvr>
                                    </p:animEffect>
                                  </p:childTnLst>
                                </p:cTn>
                              </p:par>
                              <p:par>
                                <p:cTn fill="hold" nodeType="withEffect" presetClass="entr" presetID="10" presetSubtype="0">
                                  <p:stCondLst>
                                    <p:cond delay="520"/>
                                  </p:stCondLst>
                                  <p:childTnLst>
                                    <p:set>
                                      <p:cBhvr>
                                        <p:cTn dur="1" fill="hold">
                                          <p:stCondLst>
                                            <p:cond delay="0"/>
                                          </p:stCondLst>
                                        </p:cTn>
                                        <p:tgtEl>
                                          <p:spTgt spid="385"/>
                                        </p:tgtEl>
                                        <p:attrNameLst>
                                          <p:attrName>style.visibility</p:attrName>
                                        </p:attrNameLst>
                                      </p:cBhvr>
                                      <p:to>
                                        <p:strVal val="visible"/>
                                      </p:to>
                                    </p:set>
                                    <p:animEffect filter="fade" transition="in">
                                      <p:cBhvr>
                                        <p:cTn dur="500"/>
                                        <p:tgtEl>
                                          <p:spTgt spid="385"/>
                                        </p:tgtEl>
                                      </p:cBhvr>
                                    </p:animEffect>
                                  </p:childTnLst>
                                </p:cTn>
                              </p:par>
                              <p:par>
                                <p:cTn fill="hold" nodeType="withEffect" presetClass="entr" presetID="10" presetSubtype="0">
                                  <p:stCondLst>
                                    <p:cond delay="52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par>
                                <p:cTn fill="hold" nodeType="withEffect" presetClass="entr" presetID="10" presetSubtype="0">
                                  <p:stCondLst>
                                    <p:cond delay="52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par>
                                <p:cTn fill="hold" nodeType="withEffect" presetClass="entr" presetID="10" presetSubtype="0">
                                  <p:stCondLst>
                                    <p:cond delay="52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par>
                                <p:cTn fill="hold" nodeType="withEffect" presetClass="entr" presetID="10" presetSubtype="0">
                                  <p:stCondLst>
                                    <p:cond delay="78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par>
                                <p:cTn fill="hold" nodeType="withEffect" presetClass="entr" presetID="10" presetSubtype="0">
                                  <p:stCondLst>
                                    <p:cond delay="78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par>
                                <p:cTn fill="hold" nodeType="withEffect" presetClass="entr" presetID="10" presetSubtype="0">
                                  <p:stCondLst>
                                    <p:cond delay="78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par>
                                <p:cTn fill="hold" nodeType="withEffect" presetClass="entr" presetID="10" presetSubtype="0">
                                  <p:stCondLst>
                                    <p:cond delay="78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par>
                                <p:cTn fill="hold" nodeType="withEffect" presetClass="entr" presetID="10" presetSubtype="0">
                                  <p:stCondLst>
                                    <p:cond delay="104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par>
                                <p:cTn fill="hold" nodeType="withEffect" presetClass="entr" presetID="10" presetSubtype="0">
                                  <p:stCondLst>
                                    <p:cond delay="104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par>
                                <p:cTn fill="hold" nodeType="withEffect" presetClass="entr" presetID="10" presetSubtype="0">
                                  <p:stCondLst>
                                    <p:cond delay="104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par>
                                <p:cTn fill="hold" nodeType="withEffect" presetClass="entr" presetID="10" presetSubtype="0">
                                  <p:stCondLst>
                                    <p:cond delay="104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par>
                                <p:cTn fill="hold" nodeType="withEffect" presetClass="entr" presetID="10" presetSubtype="0">
                                  <p:stCondLst>
                                    <p:cond delay="130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par>
                                <p:cTn fill="hold" nodeType="withEffect" presetClass="entr" presetID="10" presetSubtype="0">
                                  <p:stCondLst>
                                    <p:cond delay="130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par>
                                <p:cTn fill="hold" nodeType="withEffect" presetClass="entr" presetID="10" presetSubtype="0">
                                  <p:stCondLst>
                                    <p:cond delay="1300"/>
                                  </p:stCondLst>
                                  <p:childTnLst>
                                    <p:set>
                                      <p:cBhvr>
                                        <p:cTn dur="1" fill="hold">
                                          <p:stCondLst>
                                            <p:cond delay="0"/>
                                          </p:stCondLst>
                                        </p:cTn>
                                        <p:tgtEl>
                                          <p:spTgt spid="399"/>
                                        </p:tgtEl>
                                        <p:attrNameLst>
                                          <p:attrName>style.visibility</p:attrName>
                                        </p:attrNameLst>
                                      </p:cBhvr>
                                      <p:to>
                                        <p:strVal val="visible"/>
                                      </p:to>
                                    </p:set>
                                    <p:animEffect filter="fade" transition="in">
                                      <p:cBhvr>
                                        <p:cTn dur="500"/>
                                        <p:tgtEl>
                                          <p:spTgt spid="399"/>
                                        </p:tgtEl>
                                      </p:cBhvr>
                                    </p:animEffect>
                                  </p:childTnLst>
                                </p:cTn>
                              </p:par>
                              <p:par>
                                <p:cTn fill="hold" nodeType="withEffect" presetClass="entr" presetID="10" presetSubtype="0">
                                  <p:stCondLst>
                                    <p:cond delay="1300"/>
                                  </p:stCondLst>
                                  <p:childTnLst>
                                    <p:set>
                                      <p:cBhvr>
                                        <p:cTn dur="1" fill="hold">
                                          <p:stCondLst>
                                            <p:cond delay="0"/>
                                          </p:stCondLst>
                                        </p:cTn>
                                        <p:tgtEl>
                                          <p:spTgt spid="400"/>
                                        </p:tgtEl>
                                        <p:attrNameLst>
                                          <p:attrName>style.visibility</p:attrName>
                                        </p:attrNameLst>
                                      </p:cBhvr>
                                      <p:to>
                                        <p:strVal val="visible"/>
                                      </p:to>
                                    </p:set>
                                    <p:animEffect filter="fade" transition="in">
                                      <p:cBhvr>
                                        <p:cTn dur="500"/>
                                        <p:tgtEl>
                                          <p:spTgt spid="400"/>
                                        </p:tgtEl>
                                      </p:cBhvr>
                                    </p:animEffect>
                                  </p:childTnLst>
                                </p:cTn>
                              </p:par>
                              <p:par>
                                <p:cTn fill="hold" nodeType="withEffect" presetClass="entr" presetID="10" presetSubtype="0">
                                  <p:stCondLst>
                                    <p:cond delay="1560"/>
                                  </p:stCondLst>
                                  <p:childTnLst>
                                    <p:set>
                                      <p:cBhvr>
                                        <p:cTn dur="1" fill="hold">
                                          <p:stCondLst>
                                            <p:cond delay="0"/>
                                          </p:stCondLst>
                                        </p:cTn>
                                        <p:tgtEl>
                                          <p:spTgt spid="401"/>
                                        </p:tgtEl>
                                        <p:attrNameLst>
                                          <p:attrName>style.visibility</p:attrName>
                                        </p:attrNameLst>
                                      </p:cBhvr>
                                      <p:to>
                                        <p:strVal val="visible"/>
                                      </p:to>
                                    </p:set>
                                    <p:animEffect filter="fade" transition="in">
                                      <p:cBhvr>
                                        <p:cTn dur="500"/>
                                        <p:tgtEl>
                                          <p:spTgt spid="401"/>
                                        </p:tgtEl>
                                      </p:cBhvr>
                                    </p:animEffect>
                                  </p:childTnLst>
                                </p:cTn>
                              </p:par>
                              <p:par>
                                <p:cTn fill="hold" nodeType="withEffect" presetClass="entr" presetID="10" presetSubtype="0">
                                  <p:stCondLst>
                                    <p:cond delay="156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par>
                                <p:cTn fill="hold" nodeType="withEffect" presetClass="entr" presetID="10" presetSubtype="0">
                                  <p:stCondLst>
                                    <p:cond delay="1560"/>
                                  </p:stCondLst>
                                  <p:childTnLst>
                                    <p:set>
                                      <p:cBhvr>
                                        <p:cTn dur="1" fill="hold">
                                          <p:stCondLst>
                                            <p:cond delay="0"/>
                                          </p:stCondLst>
                                        </p:cTn>
                                        <p:tgtEl>
                                          <p:spTgt spid="403"/>
                                        </p:tgtEl>
                                        <p:attrNameLst>
                                          <p:attrName>style.visibility</p:attrName>
                                        </p:attrNameLst>
                                      </p:cBhvr>
                                      <p:to>
                                        <p:strVal val="visible"/>
                                      </p:to>
                                    </p:set>
                                    <p:animEffect filter="fade" transition="in">
                                      <p:cBhvr>
                                        <p:cTn dur="500"/>
                                        <p:tgtEl>
                                          <p:spTgt spid="403"/>
                                        </p:tgtEl>
                                      </p:cBhvr>
                                    </p:animEffect>
                                  </p:childTnLst>
                                </p:cTn>
                              </p:par>
                              <p:par>
                                <p:cTn fill="hold" nodeType="withEffect" presetClass="entr" presetID="10" presetSubtype="0">
                                  <p:stCondLst>
                                    <p:cond delay="156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15"/>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06  ·  IMPACTO</a:t>
            </a:r>
            <a:endParaRPr b="0" i="0" sz="1200" u="none" cap="none" strike="noStrike">
              <a:solidFill>
                <a:schemeClr val="dk1"/>
              </a:solidFill>
              <a:latin typeface="Calibri"/>
              <a:ea typeface="Calibri"/>
              <a:cs typeface="Calibri"/>
              <a:sym typeface="Calibri"/>
            </a:endParaRPr>
          </a:p>
        </p:txBody>
      </p:sp>
      <p:sp>
        <p:nvSpPr>
          <p:cNvPr id="412" name="Google Shape;412;p15"/>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Impactos</a:t>
            </a:r>
            <a:endParaRPr sz="3400"/>
          </a:p>
        </p:txBody>
      </p:sp>
      <p:sp>
        <p:nvSpPr>
          <p:cNvPr id="413" name="Google Shape;413;p15"/>
          <p:cNvSpPr/>
          <p:nvPr/>
        </p:nvSpPr>
        <p:spPr>
          <a:xfrm>
            <a:off x="640080" y="1783080"/>
            <a:ext cx="3657600" cy="2057400"/>
          </a:xfrm>
          <a:prstGeom prst="roundRect">
            <a:avLst>
              <a:gd fmla="val 6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5"/>
          <p:cNvSpPr/>
          <p:nvPr/>
        </p:nvSpPr>
        <p:spPr>
          <a:xfrm>
            <a:off x="914400" y="2039112"/>
            <a:ext cx="457200" cy="45720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500"/>
              <a:buFont typeface="Georgia"/>
              <a:buNone/>
            </a:pPr>
            <a:r>
              <a:rPr b="1" i="0" lang="en-US" sz="1500" u="none" cap="none" strike="noStrike">
                <a:solidFill>
                  <a:schemeClr val="lt1"/>
                </a:solidFill>
                <a:latin typeface="Georgia"/>
                <a:ea typeface="Georgia"/>
                <a:cs typeface="Georgia"/>
                <a:sym typeface="Georgia"/>
              </a:rPr>
              <a:t>1</a:t>
            </a:r>
            <a:endParaRPr b="0" i="0" sz="1500" u="none" cap="none" strike="noStrike">
              <a:solidFill>
                <a:schemeClr val="dk1"/>
              </a:solidFill>
              <a:latin typeface="Calibri"/>
              <a:ea typeface="Calibri"/>
              <a:cs typeface="Calibri"/>
              <a:sym typeface="Calibri"/>
            </a:endParaRPr>
          </a:p>
        </p:txBody>
      </p:sp>
      <p:sp>
        <p:nvSpPr>
          <p:cNvPr id="415" name="Google Shape;415;p15"/>
          <p:cNvSpPr txBox="1"/>
          <p:nvPr/>
        </p:nvSpPr>
        <p:spPr>
          <a:xfrm>
            <a:off x="1554480" y="2039112"/>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2000" u="none" cap="none" strike="noStrike">
                <a:solidFill>
                  <a:schemeClr val="dk2"/>
                </a:solidFill>
                <a:latin typeface="Georgia"/>
                <a:ea typeface="Georgia"/>
                <a:cs typeface="Georgia"/>
                <a:sym typeface="Georgia"/>
              </a:rPr>
              <a:t>Social</a:t>
            </a:r>
            <a:endParaRPr b="0" i="0" sz="2000" u="none" cap="none" strike="noStrike">
              <a:solidFill>
                <a:schemeClr val="dk1"/>
              </a:solidFill>
              <a:latin typeface="Calibri"/>
              <a:ea typeface="Calibri"/>
              <a:cs typeface="Calibri"/>
              <a:sym typeface="Calibri"/>
            </a:endParaRPr>
          </a:p>
        </p:txBody>
      </p:sp>
      <p:sp>
        <p:nvSpPr>
          <p:cNvPr id="416" name="Google Shape;416;p15"/>
          <p:cNvSpPr txBox="1"/>
          <p:nvPr/>
        </p:nvSpPr>
        <p:spPr>
          <a:xfrm>
            <a:off x="914400" y="2651760"/>
            <a:ext cx="32004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Acompañamiento temprano y seguimiento académico desde grado sexto; psicología y orientación ven las señales a tiempo.</a:t>
            </a:r>
            <a:endParaRPr b="0" i="0" sz="1500" u="none" cap="none" strike="noStrike">
              <a:solidFill>
                <a:schemeClr val="dk1"/>
              </a:solidFill>
              <a:latin typeface="Calibri"/>
              <a:ea typeface="Calibri"/>
              <a:cs typeface="Calibri"/>
              <a:sym typeface="Calibri"/>
            </a:endParaRPr>
          </a:p>
        </p:txBody>
      </p:sp>
      <p:sp>
        <p:nvSpPr>
          <p:cNvPr id="417" name="Google Shape;417;p15"/>
          <p:cNvSpPr/>
          <p:nvPr/>
        </p:nvSpPr>
        <p:spPr>
          <a:xfrm>
            <a:off x="4480560" y="1783080"/>
            <a:ext cx="3657600" cy="2057400"/>
          </a:xfrm>
          <a:prstGeom prst="roundRect">
            <a:avLst>
              <a:gd fmla="val 6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5"/>
          <p:cNvSpPr/>
          <p:nvPr/>
        </p:nvSpPr>
        <p:spPr>
          <a:xfrm>
            <a:off x="4754880" y="2039112"/>
            <a:ext cx="457200" cy="45720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500"/>
              <a:buFont typeface="Georgia"/>
              <a:buNone/>
            </a:pPr>
            <a:r>
              <a:rPr b="1" i="0" lang="en-US" sz="1500" u="none" cap="none" strike="noStrike">
                <a:solidFill>
                  <a:schemeClr val="lt1"/>
                </a:solidFill>
                <a:latin typeface="Georgia"/>
                <a:ea typeface="Georgia"/>
                <a:cs typeface="Georgia"/>
                <a:sym typeface="Georgia"/>
              </a:rPr>
              <a:t>2</a:t>
            </a:r>
            <a:endParaRPr b="0" i="0" sz="1500" u="none" cap="none" strike="noStrike">
              <a:solidFill>
                <a:schemeClr val="dk1"/>
              </a:solidFill>
              <a:latin typeface="Calibri"/>
              <a:ea typeface="Calibri"/>
              <a:cs typeface="Calibri"/>
              <a:sym typeface="Calibri"/>
            </a:endParaRPr>
          </a:p>
        </p:txBody>
      </p:sp>
      <p:sp>
        <p:nvSpPr>
          <p:cNvPr id="419" name="Google Shape;419;p15"/>
          <p:cNvSpPr txBox="1"/>
          <p:nvPr/>
        </p:nvSpPr>
        <p:spPr>
          <a:xfrm>
            <a:off x="5394960" y="2039112"/>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2000" u="none" cap="none" strike="noStrike">
                <a:solidFill>
                  <a:schemeClr val="dk2"/>
                </a:solidFill>
                <a:latin typeface="Georgia"/>
                <a:ea typeface="Georgia"/>
                <a:cs typeface="Georgia"/>
                <a:sym typeface="Georgia"/>
              </a:rPr>
              <a:t>Ambiental</a:t>
            </a:r>
            <a:endParaRPr b="0" i="0" sz="2000" u="none" cap="none" strike="noStrike">
              <a:solidFill>
                <a:schemeClr val="dk1"/>
              </a:solidFill>
              <a:latin typeface="Calibri"/>
              <a:ea typeface="Calibri"/>
              <a:cs typeface="Calibri"/>
              <a:sym typeface="Calibri"/>
            </a:endParaRPr>
          </a:p>
        </p:txBody>
      </p:sp>
      <p:sp>
        <p:nvSpPr>
          <p:cNvPr id="420" name="Google Shape;420;p15"/>
          <p:cNvSpPr txBox="1"/>
          <p:nvPr/>
        </p:nvSpPr>
        <p:spPr>
          <a:xfrm>
            <a:off x="4754880" y="2651760"/>
            <a:ext cx="32004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Registros, encuestas, informes y certificados digitales: menos papel en la gestión institucional.</a:t>
            </a:r>
            <a:endParaRPr b="0" i="0" sz="1500" u="none" cap="none" strike="noStrike">
              <a:solidFill>
                <a:schemeClr val="dk1"/>
              </a:solidFill>
              <a:latin typeface="Calibri"/>
              <a:ea typeface="Calibri"/>
              <a:cs typeface="Calibri"/>
              <a:sym typeface="Calibri"/>
            </a:endParaRPr>
          </a:p>
        </p:txBody>
      </p:sp>
      <p:sp>
        <p:nvSpPr>
          <p:cNvPr id="421" name="Google Shape;421;p15"/>
          <p:cNvSpPr/>
          <p:nvPr/>
        </p:nvSpPr>
        <p:spPr>
          <a:xfrm>
            <a:off x="640080" y="4023360"/>
            <a:ext cx="3657600" cy="2057400"/>
          </a:xfrm>
          <a:prstGeom prst="roundRect">
            <a:avLst>
              <a:gd fmla="val 6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5"/>
          <p:cNvSpPr/>
          <p:nvPr/>
        </p:nvSpPr>
        <p:spPr>
          <a:xfrm>
            <a:off x="914400" y="4279392"/>
            <a:ext cx="457200" cy="45720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500"/>
              <a:buFont typeface="Georgia"/>
              <a:buNone/>
            </a:pPr>
            <a:r>
              <a:rPr b="1" i="0" lang="en-US" sz="1500" u="none" cap="none" strike="noStrike">
                <a:solidFill>
                  <a:schemeClr val="lt1"/>
                </a:solidFill>
                <a:latin typeface="Georgia"/>
                <a:ea typeface="Georgia"/>
                <a:cs typeface="Georgia"/>
                <a:sym typeface="Georgia"/>
              </a:rPr>
              <a:t>3</a:t>
            </a:r>
            <a:endParaRPr b="0" i="0" sz="1500" u="none" cap="none" strike="noStrike">
              <a:solidFill>
                <a:schemeClr val="dk1"/>
              </a:solidFill>
              <a:latin typeface="Calibri"/>
              <a:ea typeface="Calibri"/>
              <a:cs typeface="Calibri"/>
              <a:sym typeface="Calibri"/>
            </a:endParaRPr>
          </a:p>
        </p:txBody>
      </p:sp>
      <p:sp>
        <p:nvSpPr>
          <p:cNvPr id="423" name="Google Shape;423;p15"/>
          <p:cNvSpPr txBox="1"/>
          <p:nvPr/>
        </p:nvSpPr>
        <p:spPr>
          <a:xfrm>
            <a:off x="1554480" y="4279392"/>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2000" u="none" cap="none" strike="noStrike">
                <a:solidFill>
                  <a:schemeClr val="dk2"/>
                </a:solidFill>
                <a:latin typeface="Georgia"/>
                <a:ea typeface="Georgia"/>
                <a:cs typeface="Georgia"/>
                <a:sym typeface="Georgia"/>
              </a:rPr>
              <a:t>Tecnológico</a:t>
            </a:r>
            <a:endParaRPr b="0" i="0" sz="2000" u="none" cap="none" strike="noStrike">
              <a:solidFill>
                <a:schemeClr val="dk1"/>
              </a:solidFill>
              <a:latin typeface="Calibri"/>
              <a:ea typeface="Calibri"/>
              <a:cs typeface="Calibri"/>
              <a:sym typeface="Calibri"/>
            </a:endParaRPr>
          </a:p>
        </p:txBody>
      </p:sp>
      <p:sp>
        <p:nvSpPr>
          <p:cNvPr id="424" name="Google Shape;424;p15"/>
          <p:cNvSpPr txBox="1"/>
          <p:nvPr/>
        </p:nvSpPr>
        <p:spPr>
          <a:xfrm>
            <a:off x="914400" y="4892040"/>
            <a:ext cx="32004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Aplicación web responsive con verificación en 2 pasos, certificados con QR verificable y asistente de IA opcional.</a:t>
            </a:r>
            <a:endParaRPr b="0" i="0" sz="1500" u="none" cap="none" strike="noStrike">
              <a:solidFill>
                <a:schemeClr val="dk1"/>
              </a:solidFill>
              <a:latin typeface="Calibri"/>
              <a:ea typeface="Calibri"/>
              <a:cs typeface="Calibri"/>
              <a:sym typeface="Calibri"/>
            </a:endParaRPr>
          </a:p>
        </p:txBody>
      </p:sp>
      <p:sp>
        <p:nvSpPr>
          <p:cNvPr id="425" name="Google Shape;425;p15"/>
          <p:cNvSpPr/>
          <p:nvPr/>
        </p:nvSpPr>
        <p:spPr>
          <a:xfrm>
            <a:off x="4480560" y="4023360"/>
            <a:ext cx="3657600" cy="2057400"/>
          </a:xfrm>
          <a:prstGeom prst="roundRect">
            <a:avLst>
              <a:gd fmla="val 6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5"/>
          <p:cNvSpPr/>
          <p:nvPr/>
        </p:nvSpPr>
        <p:spPr>
          <a:xfrm>
            <a:off x="4754880" y="4279392"/>
            <a:ext cx="457200" cy="45720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500"/>
              <a:buFont typeface="Georgia"/>
              <a:buNone/>
            </a:pPr>
            <a:r>
              <a:rPr b="1" i="0" lang="en-US" sz="1500" u="none" cap="none" strike="noStrike">
                <a:solidFill>
                  <a:schemeClr val="lt1"/>
                </a:solidFill>
                <a:latin typeface="Georgia"/>
                <a:ea typeface="Georgia"/>
                <a:cs typeface="Georgia"/>
                <a:sym typeface="Georgia"/>
              </a:rPr>
              <a:t>4</a:t>
            </a:r>
            <a:endParaRPr b="0" i="0" sz="1500" u="none" cap="none" strike="noStrike">
              <a:solidFill>
                <a:schemeClr val="dk1"/>
              </a:solidFill>
              <a:latin typeface="Calibri"/>
              <a:ea typeface="Calibri"/>
              <a:cs typeface="Calibri"/>
              <a:sym typeface="Calibri"/>
            </a:endParaRPr>
          </a:p>
        </p:txBody>
      </p:sp>
      <p:sp>
        <p:nvSpPr>
          <p:cNvPr id="427" name="Google Shape;427;p15"/>
          <p:cNvSpPr txBox="1"/>
          <p:nvPr/>
        </p:nvSpPr>
        <p:spPr>
          <a:xfrm>
            <a:off x="5394960" y="4279392"/>
            <a:ext cx="25603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2000" u="none" cap="none" strike="noStrike">
                <a:solidFill>
                  <a:schemeClr val="dk2"/>
                </a:solidFill>
                <a:latin typeface="Georgia"/>
                <a:ea typeface="Georgia"/>
                <a:cs typeface="Georgia"/>
                <a:sym typeface="Georgia"/>
              </a:rPr>
              <a:t>Económico</a:t>
            </a:r>
            <a:endParaRPr b="0" i="0" sz="2000" u="none" cap="none" strike="noStrike">
              <a:solidFill>
                <a:schemeClr val="dk1"/>
              </a:solidFill>
              <a:latin typeface="Calibri"/>
              <a:ea typeface="Calibri"/>
              <a:cs typeface="Calibri"/>
              <a:sym typeface="Calibri"/>
            </a:endParaRPr>
          </a:p>
        </p:txBody>
      </p:sp>
      <p:sp>
        <p:nvSpPr>
          <p:cNvPr id="428" name="Google Shape;428;p15"/>
          <p:cNvSpPr txBox="1"/>
          <p:nvPr/>
        </p:nvSpPr>
        <p:spPr>
          <a:xfrm>
            <a:off x="4754880" y="4892040"/>
            <a:ext cx="32004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Costo cero: PHP y MySQL libres y hosting gratuito; se descartó Firebase por su costo a gran escala.</a:t>
            </a:r>
            <a:endParaRPr b="0" i="0" sz="1500" u="none" cap="none" strike="noStrike">
              <a:solidFill>
                <a:schemeClr val="dk1"/>
              </a:solidFill>
              <a:latin typeface="Calibri"/>
              <a:ea typeface="Calibri"/>
              <a:cs typeface="Calibri"/>
              <a:sym typeface="Calibri"/>
            </a:endParaRPr>
          </a:p>
        </p:txBody>
      </p:sp>
      <p:pic>
        <p:nvPicPr>
          <p:cNvPr descr="Ilustración de crecimiento e ideas" id="429" name="Google Shape;429;p15"/>
          <p:cNvPicPr preferRelativeResize="0"/>
          <p:nvPr/>
        </p:nvPicPr>
        <p:blipFill rotWithShape="1">
          <a:blip r:embed="rId3">
            <a:alphaModFix/>
          </a:blip>
          <a:srcRect b="0" l="0" r="0" t="0"/>
          <a:stretch/>
        </p:blipFill>
        <p:spPr>
          <a:xfrm>
            <a:off x="8321040" y="1783080"/>
            <a:ext cx="3227832" cy="1773936"/>
          </a:xfrm>
          <a:prstGeom prst="rect">
            <a:avLst/>
          </a:prstGeom>
          <a:noFill/>
          <a:ln>
            <a:noFill/>
          </a:ln>
        </p:spPr>
      </p:pic>
      <p:sp>
        <p:nvSpPr>
          <p:cNvPr id="430" name="Google Shape;430;p15"/>
          <p:cNvSpPr/>
          <p:nvPr/>
        </p:nvSpPr>
        <p:spPr>
          <a:xfrm>
            <a:off x="8321040" y="3794760"/>
            <a:ext cx="3227832" cy="2286000"/>
          </a:xfrm>
          <a:prstGeom prst="roundRect">
            <a:avLst>
              <a:gd fmla="val 56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5"/>
          <p:cNvSpPr txBox="1"/>
          <p:nvPr/>
        </p:nvSpPr>
        <p:spPr>
          <a:xfrm>
            <a:off x="8641080" y="3931920"/>
            <a:ext cx="265176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6000"/>
              <a:buFont typeface="Georgia"/>
              <a:buNone/>
            </a:pPr>
            <a:r>
              <a:rPr b="1" i="0" lang="en-US" sz="6000" u="none" cap="none" strike="noStrike">
                <a:solidFill>
                  <a:schemeClr val="accent3"/>
                </a:solidFill>
                <a:latin typeface="Georgia"/>
                <a:ea typeface="Georgia"/>
                <a:cs typeface="Georgia"/>
                <a:sym typeface="Georgia"/>
              </a:rPr>
              <a:t>6°</a:t>
            </a:r>
            <a:endParaRPr b="0" i="0" sz="6000" u="none" cap="none" strike="noStrike">
              <a:solidFill>
                <a:schemeClr val="dk1"/>
              </a:solidFill>
              <a:latin typeface="Calibri"/>
              <a:ea typeface="Calibri"/>
              <a:cs typeface="Calibri"/>
              <a:sym typeface="Calibri"/>
            </a:endParaRPr>
          </a:p>
        </p:txBody>
      </p:sp>
      <p:sp>
        <p:nvSpPr>
          <p:cNvPr id="432" name="Google Shape;432;p15"/>
          <p:cNvSpPr txBox="1"/>
          <p:nvPr/>
        </p:nvSpPr>
        <p:spPr>
          <a:xfrm>
            <a:off x="8641080" y="5029200"/>
            <a:ext cx="26517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Desde grado sexto, Serena acompaña a toda la institución.</a:t>
            </a:r>
            <a:endParaRPr b="0" i="0" sz="1500" u="none" cap="none" strike="noStrike">
              <a:solidFill>
                <a:schemeClr val="dk1"/>
              </a:solidFill>
              <a:latin typeface="Calibri"/>
              <a:ea typeface="Calibri"/>
              <a:cs typeface="Calibri"/>
              <a:sym typeface="Calibri"/>
            </a:endParaRPr>
          </a:p>
        </p:txBody>
      </p:sp>
      <p:sp>
        <p:nvSpPr>
          <p:cNvPr id="433" name="Google Shape;433;p15"/>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par>
                                <p:cTn fill="hold" nodeType="withEffect" presetClass="entr" presetID="10" presetSubtype="0">
                                  <p:stCondLst>
                                    <p:cond delay="26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par>
                                <p:cTn fill="hold" nodeType="withEffect" presetClass="entr" presetID="10" presetSubtype="0">
                                  <p:stCondLst>
                                    <p:cond delay="260"/>
                                  </p:stCondLst>
                                  <p:childTnLst>
                                    <p:set>
                                      <p:cBhvr>
                                        <p:cTn dur="1" fill="hold">
                                          <p:stCondLst>
                                            <p:cond delay="0"/>
                                          </p:stCondLst>
                                        </p:cTn>
                                        <p:tgtEl>
                                          <p:spTgt spid="414"/>
                                        </p:tgtEl>
                                        <p:attrNameLst>
                                          <p:attrName>style.visibility</p:attrName>
                                        </p:attrNameLst>
                                      </p:cBhvr>
                                      <p:to>
                                        <p:strVal val="visible"/>
                                      </p:to>
                                    </p:set>
                                    <p:animEffect filter="fade" transition="in">
                                      <p:cBhvr>
                                        <p:cTn dur="500"/>
                                        <p:tgtEl>
                                          <p:spTgt spid="414"/>
                                        </p:tgtEl>
                                      </p:cBhvr>
                                    </p:animEffect>
                                  </p:childTnLst>
                                </p:cTn>
                              </p:par>
                              <p:par>
                                <p:cTn fill="hold" nodeType="withEffect" presetClass="entr" presetID="10" presetSubtype="0">
                                  <p:stCondLst>
                                    <p:cond delay="260"/>
                                  </p:stCondLst>
                                  <p:childTnLst>
                                    <p:set>
                                      <p:cBhvr>
                                        <p:cTn dur="1" fill="hold">
                                          <p:stCondLst>
                                            <p:cond delay="0"/>
                                          </p:stCondLst>
                                        </p:cTn>
                                        <p:tgtEl>
                                          <p:spTgt spid="415"/>
                                        </p:tgtEl>
                                        <p:attrNameLst>
                                          <p:attrName>style.visibility</p:attrName>
                                        </p:attrNameLst>
                                      </p:cBhvr>
                                      <p:to>
                                        <p:strVal val="visible"/>
                                      </p:to>
                                    </p:set>
                                    <p:animEffect filter="fade" transition="in">
                                      <p:cBhvr>
                                        <p:cTn dur="500"/>
                                        <p:tgtEl>
                                          <p:spTgt spid="415"/>
                                        </p:tgtEl>
                                      </p:cBhvr>
                                    </p:animEffect>
                                  </p:childTnLst>
                                </p:cTn>
                              </p:par>
                              <p:par>
                                <p:cTn fill="hold" nodeType="withEffect" presetClass="entr" presetID="10" presetSubtype="0">
                                  <p:stCondLst>
                                    <p:cond delay="26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par>
                                <p:cTn fill="hold" nodeType="withEffect" presetClass="entr" presetID="10" presetSubtype="0">
                                  <p:stCondLst>
                                    <p:cond delay="52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par>
                                <p:cTn fill="hold" nodeType="withEffect" presetClass="entr" presetID="10" presetSubtype="0">
                                  <p:stCondLst>
                                    <p:cond delay="52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par>
                                <p:cTn fill="hold" nodeType="withEffect" presetClass="entr" presetID="10" presetSubtype="0">
                                  <p:stCondLst>
                                    <p:cond delay="520"/>
                                  </p:stCondLst>
                                  <p:childTnLst>
                                    <p:set>
                                      <p:cBhvr>
                                        <p:cTn dur="1" fill="hold">
                                          <p:stCondLst>
                                            <p:cond delay="0"/>
                                          </p:stCondLst>
                                        </p:cTn>
                                        <p:tgtEl>
                                          <p:spTgt spid="419"/>
                                        </p:tgtEl>
                                        <p:attrNameLst>
                                          <p:attrName>style.visibility</p:attrName>
                                        </p:attrNameLst>
                                      </p:cBhvr>
                                      <p:to>
                                        <p:strVal val="visible"/>
                                      </p:to>
                                    </p:set>
                                    <p:animEffect filter="fade" transition="in">
                                      <p:cBhvr>
                                        <p:cTn dur="500"/>
                                        <p:tgtEl>
                                          <p:spTgt spid="419"/>
                                        </p:tgtEl>
                                      </p:cBhvr>
                                    </p:animEffect>
                                  </p:childTnLst>
                                </p:cTn>
                              </p:par>
                              <p:par>
                                <p:cTn fill="hold" nodeType="withEffect" presetClass="entr" presetID="10" presetSubtype="0">
                                  <p:stCondLst>
                                    <p:cond delay="52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par>
                                <p:cTn fill="hold" nodeType="withEffect" presetClass="entr" presetID="10" presetSubtype="0">
                                  <p:stCondLst>
                                    <p:cond delay="780"/>
                                  </p:stCondLst>
                                  <p:childTnLst>
                                    <p:set>
                                      <p:cBhvr>
                                        <p:cTn dur="1" fill="hold">
                                          <p:stCondLst>
                                            <p:cond delay="0"/>
                                          </p:stCondLst>
                                        </p:cTn>
                                        <p:tgtEl>
                                          <p:spTgt spid="421"/>
                                        </p:tgtEl>
                                        <p:attrNameLst>
                                          <p:attrName>style.visibility</p:attrName>
                                        </p:attrNameLst>
                                      </p:cBhvr>
                                      <p:to>
                                        <p:strVal val="visible"/>
                                      </p:to>
                                    </p:set>
                                    <p:animEffect filter="fade" transition="in">
                                      <p:cBhvr>
                                        <p:cTn dur="500"/>
                                        <p:tgtEl>
                                          <p:spTgt spid="421"/>
                                        </p:tgtEl>
                                      </p:cBhvr>
                                    </p:animEffect>
                                  </p:childTnLst>
                                </p:cTn>
                              </p:par>
                              <p:par>
                                <p:cTn fill="hold" nodeType="withEffect" presetClass="entr" presetID="10" presetSubtype="0">
                                  <p:stCondLst>
                                    <p:cond delay="780"/>
                                  </p:stCondLst>
                                  <p:childTnLst>
                                    <p:set>
                                      <p:cBhvr>
                                        <p:cTn dur="1" fill="hold">
                                          <p:stCondLst>
                                            <p:cond delay="0"/>
                                          </p:stCondLst>
                                        </p:cTn>
                                        <p:tgtEl>
                                          <p:spTgt spid="422"/>
                                        </p:tgtEl>
                                        <p:attrNameLst>
                                          <p:attrName>style.visibility</p:attrName>
                                        </p:attrNameLst>
                                      </p:cBhvr>
                                      <p:to>
                                        <p:strVal val="visible"/>
                                      </p:to>
                                    </p:set>
                                    <p:animEffect filter="fade" transition="in">
                                      <p:cBhvr>
                                        <p:cTn dur="500"/>
                                        <p:tgtEl>
                                          <p:spTgt spid="422"/>
                                        </p:tgtEl>
                                      </p:cBhvr>
                                    </p:animEffect>
                                  </p:childTnLst>
                                </p:cTn>
                              </p:par>
                              <p:par>
                                <p:cTn fill="hold" nodeType="withEffect" presetClass="entr" presetID="10" presetSubtype="0">
                                  <p:stCondLst>
                                    <p:cond delay="780"/>
                                  </p:stCondLst>
                                  <p:childTnLst>
                                    <p:set>
                                      <p:cBhvr>
                                        <p:cTn dur="1" fill="hold">
                                          <p:stCondLst>
                                            <p:cond delay="0"/>
                                          </p:stCondLst>
                                        </p:cTn>
                                        <p:tgtEl>
                                          <p:spTgt spid="423"/>
                                        </p:tgtEl>
                                        <p:attrNameLst>
                                          <p:attrName>style.visibility</p:attrName>
                                        </p:attrNameLst>
                                      </p:cBhvr>
                                      <p:to>
                                        <p:strVal val="visible"/>
                                      </p:to>
                                    </p:set>
                                    <p:animEffect filter="fade" transition="in">
                                      <p:cBhvr>
                                        <p:cTn dur="500"/>
                                        <p:tgtEl>
                                          <p:spTgt spid="423"/>
                                        </p:tgtEl>
                                      </p:cBhvr>
                                    </p:animEffect>
                                  </p:childTnLst>
                                </p:cTn>
                              </p:par>
                              <p:par>
                                <p:cTn fill="hold" nodeType="withEffect" presetClass="entr" presetID="10" presetSubtype="0">
                                  <p:stCondLst>
                                    <p:cond delay="780"/>
                                  </p:stCondLst>
                                  <p:childTnLst>
                                    <p:set>
                                      <p:cBhvr>
                                        <p:cTn dur="1" fill="hold">
                                          <p:stCondLst>
                                            <p:cond delay="0"/>
                                          </p:stCondLst>
                                        </p:cTn>
                                        <p:tgtEl>
                                          <p:spTgt spid="424"/>
                                        </p:tgtEl>
                                        <p:attrNameLst>
                                          <p:attrName>style.visibility</p:attrName>
                                        </p:attrNameLst>
                                      </p:cBhvr>
                                      <p:to>
                                        <p:strVal val="visible"/>
                                      </p:to>
                                    </p:set>
                                    <p:animEffect filter="fade" transition="in">
                                      <p:cBhvr>
                                        <p:cTn dur="500"/>
                                        <p:tgtEl>
                                          <p:spTgt spid="424"/>
                                        </p:tgtEl>
                                      </p:cBhvr>
                                    </p:animEffect>
                                  </p:childTnLst>
                                </p:cTn>
                              </p:par>
                              <p:par>
                                <p:cTn fill="hold" nodeType="withEffect" presetClass="entr" presetID="10" presetSubtype="0">
                                  <p:stCondLst>
                                    <p:cond delay="1040"/>
                                  </p:stCondLst>
                                  <p:childTnLst>
                                    <p:set>
                                      <p:cBhvr>
                                        <p:cTn dur="1" fill="hold">
                                          <p:stCondLst>
                                            <p:cond delay="0"/>
                                          </p:stCondLst>
                                        </p:cTn>
                                        <p:tgtEl>
                                          <p:spTgt spid="425"/>
                                        </p:tgtEl>
                                        <p:attrNameLst>
                                          <p:attrName>style.visibility</p:attrName>
                                        </p:attrNameLst>
                                      </p:cBhvr>
                                      <p:to>
                                        <p:strVal val="visible"/>
                                      </p:to>
                                    </p:set>
                                    <p:animEffect filter="fade" transition="in">
                                      <p:cBhvr>
                                        <p:cTn dur="500"/>
                                        <p:tgtEl>
                                          <p:spTgt spid="425"/>
                                        </p:tgtEl>
                                      </p:cBhvr>
                                    </p:animEffect>
                                  </p:childTnLst>
                                </p:cTn>
                              </p:par>
                              <p:par>
                                <p:cTn fill="hold" nodeType="withEffect" presetClass="entr" presetID="10" presetSubtype="0">
                                  <p:stCondLst>
                                    <p:cond delay="1040"/>
                                  </p:stCondLst>
                                  <p:childTnLst>
                                    <p:set>
                                      <p:cBhvr>
                                        <p:cTn dur="1" fill="hold">
                                          <p:stCondLst>
                                            <p:cond delay="0"/>
                                          </p:stCondLst>
                                        </p:cTn>
                                        <p:tgtEl>
                                          <p:spTgt spid="426"/>
                                        </p:tgtEl>
                                        <p:attrNameLst>
                                          <p:attrName>style.visibility</p:attrName>
                                        </p:attrNameLst>
                                      </p:cBhvr>
                                      <p:to>
                                        <p:strVal val="visible"/>
                                      </p:to>
                                    </p:set>
                                    <p:animEffect filter="fade" transition="in">
                                      <p:cBhvr>
                                        <p:cTn dur="500"/>
                                        <p:tgtEl>
                                          <p:spTgt spid="426"/>
                                        </p:tgtEl>
                                      </p:cBhvr>
                                    </p:animEffect>
                                  </p:childTnLst>
                                </p:cTn>
                              </p:par>
                              <p:par>
                                <p:cTn fill="hold" nodeType="withEffect" presetClass="entr" presetID="10" presetSubtype="0">
                                  <p:stCondLst>
                                    <p:cond delay="1040"/>
                                  </p:stCondLst>
                                  <p:childTnLst>
                                    <p:set>
                                      <p:cBhvr>
                                        <p:cTn dur="1" fill="hold">
                                          <p:stCondLst>
                                            <p:cond delay="0"/>
                                          </p:stCondLst>
                                        </p:cTn>
                                        <p:tgtEl>
                                          <p:spTgt spid="427"/>
                                        </p:tgtEl>
                                        <p:attrNameLst>
                                          <p:attrName>style.visibility</p:attrName>
                                        </p:attrNameLst>
                                      </p:cBhvr>
                                      <p:to>
                                        <p:strVal val="visible"/>
                                      </p:to>
                                    </p:set>
                                    <p:animEffect filter="fade" transition="in">
                                      <p:cBhvr>
                                        <p:cTn dur="500"/>
                                        <p:tgtEl>
                                          <p:spTgt spid="427"/>
                                        </p:tgtEl>
                                      </p:cBhvr>
                                    </p:animEffect>
                                  </p:childTnLst>
                                </p:cTn>
                              </p:par>
                              <p:par>
                                <p:cTn fill="hold" nodeType="withEffect" presetClass="entr" presetID="10" presetSubtype="0">
                                  <p:stCondLst>
                                    <p:cond delay="1040"/>
                                  </p:stCondLst>
                                  <p:childTnLst>
                                    <p:set>
                                      <p:cBhvr>
                                        <p:cTn dur="1" fill="hold">
                                          <p:stCondLst>
                                            <p:cond delay="0"/>
                                          </p:stCondLst>
                                        </p:cTn>
                                        <p:tgtEl>
                                          <p:spTgt spid="428"/>
                                        </p:tgtEl>
                                        <p:attrNameLst>
                                          <p:attrName>style.visibility</p:attrName>
                                        </p:attrNameLst>
                                      </p:cBhvr>
                                      <p:to>
                                        <p:strVal val="visible"/>
                                      </p:to>
                                    </p:set>
                                    <p:animEffect filter="fade" transition="in">
                                      <p:cBhvr>
                                        <p:cTn dur="500"/>
                                        <p:tgtEl>
                                          <p:spTgt spid="428"/>
                                        </p:tgtEl>
                                      </p:cBhvr>
                                    </p:animEffect>
                                  </p:childTnLst>
                                </p:cTn>
                              </p:par>
                              <p:par>
                                <p:cTn fill="hold" nodeType="withEffect" presetClass="entr" presetID="10" presetSubtype="0">
                                  <p:stCondLst>
                                    <p:cond delay="1300"/>
                                  </p:stCondLst>
                                  <p:childTnLst>
                                    <p:set>
                                      <p:cBhvr>
                                        <p:cTn dur="1" fill="hold">
                                          <p:stCondLst>
                                            <p:cond delay="0"/>
                                          </p:stCondLst>
                                        </p:cTn>
                                        <p:tgtEl>
                                          <p:spTgt spid="429"/>
                                        </p:tgtEl>
                                        <p:attrNameLst>
                                          <p:attrName>style.visibility</p:attrName>
                                        </p:attrNameLst>
                                      </p:cBhvr>
                                      <p:to>
                                        <p:strVal val="visible"/>
                                      </p:to>
                                    </p:set>
                                    <p:animEffect filter="fade" transition="in">
                                      <p:cBhvr>
                                        <p:cTn dur="500"/>
                                        <p:tgtEl>
                                          <p:spTgt spid="429"/>
                                        </p:tgtEl>
                                      </p:cBhvr>
                                    </p:animEffect>
                                  </p:childTnLst>
                                </p:cTn>
                              </p:par>
                              <p:par>
                                <p:cTn fill="hold" nodeType="withEffect" presetClass="entr" presetID="10" presetSubtype="0">
                                  <p:stCondLst>
                                    <p:cond delay="1560"/>
                                  </p:stCondLst>
                                  <p:childTnLst>
                                    <p:set>
                                      <p:cBhvr>
                                        <p:cTn dur="1" fill="hold">
                                          <p:stCondLst>
                                            <p:cond delay="0"/>
                                          </p:stCondLst>
                                        </p:cTn>
                                        <p:tgtEl>
                                          <p:spTgt spid="430"/>
                                        </p:tgtEl>
                                        <p:attrNameLst>
                                          <p:attrName>style.visibility</p:attrName>
                                        </p:attrNameLst>
                                      </p:cBhvr>
                                      <p:to>
                                        <p:strVal val="visible"/>
                                      </p:to>
                                    </p:set>
                                    <p:animEffect filter="fade" transition="in">
                                      <p:cBhvr>
                                        <p:cTn dur="500"/>
                                        <p:tgtEl>
                                          <p:spTgt spid="430"/>
                                        </p:tgtEl>
                                      </p:cBhvr>
                                    </p:animEffect>
                                  </p:childTnLst>
                                </p:cTn>
                              </p:par>
                              <p:par>
                                <p:cTn fill="hold" nodeType="withEffect" presetClass="entr" presetID="10" presetSubtype="0">
                                  <p:stCondLst>
                                    <p:cond delay="156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par>
                                <p:cTn fill="hold" nodeType="withEffect" presetClass="entr" presetID="10" presetSubtype="0">
                                  <p:stCondLst>
                                    <p:cond delay="156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16"/>
          <p:cNvSpPr/>
          <p:nvPr/>
        </p:nvSpPr>
        <p:spPr>
          <a:xfrm>
            <a:off x="640080" y="365760"/>
            <a:ext cx="3566160" cy="310896"/>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CONCLUSIONES</a:t>
            </a:r>
            <a:endParaRPr b="0" i="0" sz="1100" u="none" cap="none" strike="noStrike">
              <a:solidFill>
                <a:schemeClr val="dk1"/>
              </a:solidFill>
              <a:latin typeface="Calibri"/>
              <a:ea typeface="Calibri"/>
              <a:cs typeface="Calibri"/>
              <a:sym typeface="Calibri"/>
            </a:endParaRPr>
          </a:p>
        </p:txBody>
      </p:sp>
      <p:sp>
        <p:nvSpPr>
          <p:cNvPr id="440" name="Google Shape;440;p16"/>
          <p:cNvSpPr txBox="1"/>
          <p:nvPr>
            <p:ph type="title"/>
          </p:nvPr>
        </p:nvSpPr>
        <p:spPr>
          <a:xfrm>
            <a:off x="640080" y="777240"/>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400"/>
              <a:buFont typeface="Georgia"/>
              <a:buNone/>
            </a:pPr>
            <a:r>
              <a:rPr b="1" lang="en-US" sz="3400">
                <a:solidFill>
                  <a:schemeClr val="lt1"/>
                </a:solidFill>
              </a:rPr>
              <a:t>En resumen</a:t>
            </a:r>
            <a:endParaRPr sz="3400"/>
          </a:p>
        </p:txBody>
      </p:sp>
      <p:sp>
        <p:nvSpPr>
          <p:cNvPr id="441" name="Google Shape;441;p16"/>
          <p:cNvSpPr/>
          <p:nvPr/>
        </p:nvSpPr>
        <p:spPr>
          <a:xfrm>
            <a:off x="640080" y="1920240"/>
            <a:ext cx="3465576" cy="3200400"/>
          </a:xfrm>
          <a:prstGeom prst="roundRect">
            <a:avLst>
              <a:gd fmla="val 4000" name="adj"/>
            </a:avLst>
          </a:prstGeom>
          <a:solidFill>
            <a:schemeClr val="dk2">
              <a:alpha val="7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6"/>
          <p:cNvSpPr/>
          <p:nvPr/>
        </p:nvSpPr>
        <p:spPr>
          <a:xfrm>
            <a:off x="960120" y="2240280"/>
            <a:ext cx="1097280" cy="109728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443" name="Google Shape;443;p16"/>
          <p:cNvPicPr preferRelativeResize="0"/>
          <p:nvPr/>
        </p:nvPicPr>
        <p:blipFill rotWithShape="1">
          <a:blip r:embed="rId3">
            <a:alphaModFix/>
          </a:blip>
          <a:srcRect b="0" l="0" r="0" t="0"/>
          <a:stretch/>
        </p:blipFill>
        <p:spPr>
          <a:xfrm>
            <a:off x="1170432" y="2450592"/>
            <a:ext cx="685800" cy="685800"/>
          </a:xfrm>
          <a:prstGeom prst="rect">
            <a:avLst/>
          </a:prstGeom>
          <a:noFill/>
          <a:ln>
            <a:noFill/>
          </a:ln>
        </p:spPr>
      </p:pic>
      <p:sp>
        <p:nvSpPr>
          <p:cNvPr id="444" name="Google Shape;444;p16"/>
          <p:cNvSpPr txBox="1"/>
          <p:nvPr/>
        </p:nvSpPr>
        <p:spPr>
          <a:xfrm>
            <a:off x="960120" y="3566160"/>
            <a:ext cx="29260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900"/>
              <a:buFont typeface="Georgia"/>
              <a:buNone/>
            </a:pPr>
            <a:r>
              <a:rPr b="1" i="0" lang="en-US" sz="1900" u="none" cap="none" strike="noStrike">
                <a:solidFill>
                  <a:schemeClr val="lt1"/>
                </a:solidFill>
                <a:latin typeface="Georgia"/>
                <a:ea typeface="Georgia"/>
                <a:cs typeface="Georgia"/>
                <a:sym typeface="Georgia"/>
              </a:rPr>
              <a:t>Un solo lugar</a:t>
            </a:r>
            <a:endParaRPr b="0" i="0" sz="1900" u="none" cap="none" strike="noStrike">
              <a:solidFill>
                <a:schemeClr val="dk1"/>
              </a:solidFill>
              <a:latin typeface="Calibri"/>
              <a:ea typeface="Calibri"/>
              <a:cs typeface="Calibri"/>
              <a:sym typeface="Calibri"/>
            </a:endParaRPr>
          </a:p>
        </p:txBody>
      </p:sp>
      <p:sp>
        <p:nvSpPr>
          <p:cNvPr id="445" name="Google Shape;445;p16"/>
          <p:cNvSpPr txBox="1"/>
          <p:nvPr/>
        </p:nvSpPr>
        <p:spPr>
          <a:xfrm>
            <a:off x="960120" y="4023360"/>
            <a:ext cx="28346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Bienestar emocional y gestión académica reunidos en una sola plataforma.</a:t>
            </a:r>
            <a:endParaRPr b="0" i="0" sz="1600" u="none" cap="none" strike="noStrike">
              <a:solidFill>
                <a:schemeClr val="dk1"/>
              </a:solidFill>
              <a:latin typeface="Calibri"/>
              <a:ea typeface="Calibri"/>
              <a:cs typeface="Calibri"/>
              <a:sym typeface="Calibri"/>
            </a:endParaRPr>
          </a:p>
        </p:txBody>
      </p:sp>
      <p:sp>
        <p:nvSpPr>
          <p:cNvPr id="446" name="Google Shape;446;p16"/>
          <p:cNvSpPr/>
          <p:nvPr/>
        </p:nvSpPr>
        <p:spPr>
          <a:xfrm>
            <a:off x="4361688" y="1920240"/>
            <a:ext cx="3465576" cy="3200400"/>
          </a:xfrm>
          <a:prstGeom prst="roundRect">
            <a:avLst>
              <a:gd fmla="val 4000" name="adj"/>
            </a:avLst>
          </a:prstGeom>
          <a:solidFill>
            <a:schemeClr val="dk2">
              <a:alpha val="7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6"/>
          <p:cNvSpPr/>
          <p:nvPr/>
        </p:nvSpPr>
        <p:spPr>
          <a:xfrm>
            <a:off x="4681728" y="2240280"/>
            <a:ext cx="1097280" cy="109728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448" name="Google Shape;448;p16"/>
          <p:cNvPicPr preferRelativeResize="0"/>
          <p:nvPr/>
        </p:nvPicPr>
        <p:blipFill rotWithShape="1">
          <a:blip r:embed="rId4">
            <a:alphaModFix/>
          </a:blip>
          <a:srcRect b="0" l="0" r="0" t="0"/>
          <a:stretch/>
        </p:blipFill>
        <p:spPr>
          <a:xfrm>
            <a:off x="4892040" y="2450592"/>
            <a:ext cx="685800" cy="685800"/>
          </a:xfrm>
          <a:prstGeom prst="rect">
            <a:avLst/>
          </a:prstGeom>
          <a:noFill/>
          <a:ln>
            <a:noFill/>
          </a:ln>
        </p:spPr>
      </p:pic>
      <p:sp>
        <p:nvSpPr>
          <p:cNvPr id="449" name="Google Shape;449;p16"/>
          <p:cNvSpPr txBox="1"/>
          <p:nvPr/>
        </p:nvSpPr>
        <p:spPr>
          <a:xfrm>
            <a:off x="4681728" y="3566160"/>
            <a:ext cx="29260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900"/>
              <a:buFont typeface="Georgia"/>
              <a:buNone/>
            </a:pPr>
            <a:r>
              <a:rPr b="1" i="0" lang="en-US" sz="1900" u="none" cap="none" strike="noStrike">
                <a:solidFill>
                  <a:schemeClr val="lt1"/>
                </a:solidFill>
                <a:latin typeface="Georgia"/>
                <a:ea typeface="Georgia"/>
                <a:cs typeface="Georgia"/>
                <a:sym typeface="Georgia"/>
              </a:rPr>
              <a:t>Detección a tiempo</a:t>
            </a:r>
            <a:endParaRPr b="0" i="0" sz="1900" u="none" cap="none" strike="noStrike">
              <a:solidFill>
                <a:schemeClr val="dk1"/>
              </a:solidFill>
              <a:latin typeface="Calibri"/>
              <a:ea typeface="Calibri"/>
              <a:cs typeface="Calibri"/>
              <a:sym typeface="Calibri"/>
            </a:endParaRPr>
          </a:p>
        </p:txBody>
      </p:sp>
      <p:sp>
        <p:nvSpPr>
          <p:cNvPr id="450" name="Google Shape;450;p16"/>
          <p:cNvSpPr txBox="1"/>
          <p:nvPr/>
        </p:nvSpPr>
        <p:spPr>
          <a:xfrm>
            <a:off x="4681728" y="4023360"/>
            <a:ext cx="28346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Alertas tempranas que conectan al estudiante con psicología y orientación.</a:t>
            </a:r>
            <a:endParaRPr b="0" i="0" sz="1600" u="none" cap="none" strike="noStrike">
              <a:solidFill>
                <a:schemeClr val="dk1"/>
              </a:solidFill>
              <a:latin typeface="Calibri"/>
              <a:ea typeface="Calibri"/>
              <a:cs typeface="Calibri"/>
              <a:sym typeface="Calibri"/>
            </a:endParaRPr>
          </a:p>
        </p:txBody>
      </p:sp>
      <p:sp>
        <p:nvSpPr>
          <p:cNvPr id="451" name="Google Shape;451;p16"/>
          <p:cNvSpPr/>
          <p:nvPr/>
        </p:nvSpPr>
        <p:spPr>
          <a:xfrm>
            <a:off x="8083296" y="1920240"/>
            <a:ext cx="3465576" cy="3200400"/>
          </a:xfrm>
          <a:prstGeom prst="roundRect">
            <a:avLst>
              <a:gd fmla="val 4000" name="adj"/>
            </a:avLst>
          </a:prstGeom>
          <a:solidFill>
            <a:schemeClr val="dk2">
              <a:alpha val="7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6"/>
          <p:cNvSpPr/>
          <p:nvPr/>
        </p:nvSpPr>
        <p:spPr>
          <a:xfrm>
            <a:off x="8403336" y="2240280"/>
            <a:ext cx="1097280" cy="109728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453" name="Google Shape;453;p16"/>
          <p:cNvPicPr preferRelativeResize="0"/>
          <p:nvPr/>
        </p:nvPicPr>
        <p:blipFill rotWithShape="1">
          <a:blip r:embed="rId5">
            <a:alphaModFix/>
          </a:blip>
          <a:srcRect b="0" l="0" r="0" t="0"/>
          <a:stretch/>
        </p:blipFill>
        <p:spPr>
          <a:xfrm>
            <a:off x="8613648" y="2450592"/>
            <a:ext cx="685800" cy="685800"/>
          </a:xfrm>
          <a:prstGeom prst="rect">
            <a:avLst/>
          </a:prstGeom>
          <a:noFill/>
          <a:ln>
            <a:noFill/>
          </a:ln>
        </p:spPr>
      </p:pic>
      <p:sp>
        <p:nvSpPr>
          <p:cNvPr id="454" name="Google Shape;454;p16"/>
          <p:cNvSpPr txBox="1"/>
          <p:nvPr/>
        </p:nvSpPr>
        <p:spPr>
          <a:xfrm>
            <a:off x="8403336" y="3566160"/>
            <a:ext cx="29260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900"/>
              <a:buFont typeface="Georgia"/>
              <a:buNone/>
            </a:pPr>
            <a:r>
              <a:rPr b="1" i="0" lang="en-US" sz="1900" u="none" cap="none" strike="noStrike">
                <a:solidFill>
                  <a:schemeClr val="lt1"/>
                </a:solidFill>
                <a:latin typeface="Georgia"/>
                <a:ea typeface="Georgia"/>
                <a:cs typeface="Georgia"/>
                <a:sym typeface="Georgia"/>
              </a:rPr>
              <a:t>Segura y gratuita</a:t>
            </a:r>
            <a:endParaRPr b="0" i="0" sz="1900" u="none" cap="none" strike="noStrike">
              <a:solidFill>
                <a:schemeClr val="dk1"/>
              </a:solidFill>
              <a:latin typeface="Calibri"/>
              <a:ea typeface="Calibri"/>
              <a:cs typeface="Calibri"/>
              <a:sym typeface="Calibri"/>
            </a:endParaRPr>
          </a:p>
        </p:txBody>
      </p:sp>
      <p:sp>
        <p:nvSpPr>
          <p:cNvPr id="455" name="Google Shape;455;p16"/>
          <p:cNvSpPr txBox="1"/>
          <p:nvPr/>
        </p:nvSpPr>
        <p:spPr>
          <a:xfrm>
            <a:off x="8403336" y="4023360"/>
            <a:ext cx="283464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Datos protegidos con consentimiento y verificación en 2 pasos, a costo cero.</a:t>
            </a:r>
            <a:endParaRPr b="0" i="0" sz="1600" u="none" cap="none" strike="noStrike">
              <a:solidFill>
                <a:schemeClr val="dk1"/>
              </a:solidFill>
              <a:latin typeface="Calibri"/>
              <a:ea typeface="Calibri"/>
              <a:cs typeface="Calibri"/>
              <a:sym typeface="Calibri"/>
            </a:endParaRPr>
          </a:p>
        </p:txBody>
      </p:sp>
      <p:sp>
        <p:nvSpPr>
          <p:cNvPr id="456" name="Google Shape;456;p16"/>
          <p:cNvSpPr txBox="1"/>
          <p:nvPr/>
        </p:nvSpPr>
        <p:spPr>
          <a:xfrm>
            <a:off x="640080" y="5486400"/>
            <a:ext cx="10908792"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400"/>
              <a:buFont typeface="Georgia"/>
              <a:buNone/>
            </a:pPr>
            <a:r>
              <a:rPr b="0" i="1" lang="en-US" sz="2000" u="none" cap="none" strike="noStrike">
                <a:solidFill>
                  <a:schemeClr val="lt1"/>
                </a:solidFill>
                <a:latin typeface="Georgia"/>
                <a:ea typeface="Georgia"/>
                <a:cs typeface="Georgia"/>
                <a:sym typeface="Georgia"/>
              </a:rPr>
              <a:t>Serena: bienestar emocional y gestión académica al alcance de toda la institución.</a:t>
            </a:r>
            <a:endParaRPr b="0" i="0" sz="2000" u="none" cap="none" strike="noStrike">
              <a:solidFill>
                <a:schemeClr val="dk1"/>
              </a:solidFill>
              <a:latin typeface="Calibri"/>
              <a:ea typeface="Calibri"/>
              <a:cs typeface="Calibri"/>
              <a:sym typeface="Calibri"/>
            </a:endParaRPr>
          </a:p>
        </p:txBody>
      </p:sp>
      <p:sp>
        <p:nvSpPr>
          <p:cNvPr id="457" name="Google Shape;457;p16"/>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500"/>
                                        <p:tgtEl>
                                          <p:spTgt spid="439"/>
                                        </p:tgtEl>
                                      </p:cBhvr>
                                    </p:animEffect>
                                  </p:childTnLst>
                                </p:cTn>
                              </p:par>
                              <p:par>
                                <p:cTn fill="hold" nodeType="withEffect" presetClass="entr" presetID="10" presetSubtype="0">
                                  <p:stCondLst>
                                    <p:cond delay="26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par>
                                <p:cTn fill="hold" nodeType="withEffect" presetClass="entr" presetID="23" presetSubtype="16">
                                  <p:stCondLst>
                                    <p:cond delay="260"/>
                                  </p:stCondLst>
                                  <p:childTnLst>
                                    <p:set>
                                      <p:cBhvr>
                                        <p:cTn dur="1" fill="hold">
                                          <p:stCondLst>
                                            <p:cond delay="0"/>
                                          </p:stCondLst>
                                        </p:cTn>
                                        <p:tgtEl>
                                          <p:spTgt spid="442"/>
                                        </p:tgtEl>
                                        <p:attrNameLst>
                                          <p:attrName>style.visibility</p:attrName>
                                        </p:attrNameLst>
                                      </p:cBhvr>
                                      <p:to>
                                        <p:strVal val="visible"/>
                                      </p:to>
                                    </p:set>
                                    <p:anim calcmode="lin" valueType="num">
                                      <p:cBhvr additive="base">
                                        <p:cTn dur="500"/>
                                        <p:tgtEl>
                                          <p:spTgt spid="442"/>
                                        </p:tgtEl>
                                        <p:attrNameLst>
                                          <p:attrName>ppt_w</p:attrName>
                                        </p:attrNameLst>
                                      </p:cBhvr>
                                      <p:tavLst>
                                        <p:tav fmla="" tm="0">
                                          <p:val>
                                            <p:strVal val="0"/>
                                          </p:val>
                                        </p:tav>
                                        <p:tav fmla="" tm="100000">
                                          <p:val>
                                            <p:strVal val="#ppt_w"/>
                                          </p:val>
                                        </p:tav>
                                      </p:tavLst>
                                    </p:anim>
                                    <p:anim calcmode="lin" valueType="num">
                                      <p:cBhvr additive="base">
                                        <p:cTn dur="500"/>
                                        <p:tgtEl>
                                          <p:spTgt spid="44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60"/>
                                  </p:stCondLst>
                                  <p:childTnLst>
                                    <p:set>
                                      <p:cBhvr>
                                        <p:cTn dur="1" fill="hold">
                                          <p:stCondLst>
                                            <p:cond delay="0"/>
                                          </p:stCondLst>
                                        </p:cTn>
                                        <p:tgtEl>
                                          <p:spTgt spid="443"/>
                                        </p:tgtEl>
                                        <p:attrNameLst>
                                          <p:attrName>style.visibility</p:attrName>
                                        </p:attrNameLst>
                                      </p:cBhvr>
                                      <p:to>
                                        <p:strVal val="visible"/>
                                      </p:to>
                                    </p:set>
                                    <p:anim calcmode="lin" valueType="num">
                                      <p:cBhvr additive="base">
                                        <p:cTn dur="500"/>
                                        <p:tgtEl>
                                          <p:spTgt spid="443"/>
                                        </p:tgtEl>
                                        <p:attrNameLst>
                                          <p:attrName>ppt_w</p:attrName>
                                        </p:attrNameLst>
                                      </p:cBhvr>
                                      <p:tavLst>
                                        <p:tav fmla="" tm="0">
                                          <p:val>
                                            <p:strVal val="0"/>
                                          </p:val>
                                        </p:tav>
                                        <p:tav fmla="" tm="100000">
                                          <p:val>
                                            <p:strVal val="#ppt_w"/>
                                          </p:val>
                                        </p:tav>
                                      </p:tavLst>
                                    </p:anim>
                                    <p:anim calcmode="lin" valueType="num">
                                      <p:cBhvr additive="base">
                                        <p:cTn dur="500"/>
                                        <p:tgtEl>
                                          <p:spTgt spid="44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60"/>
                                  </p:stCondLst>
                                  <p:childTnLst>
                                    <p:set>
                                      <p:cBhvr>
                                        <p:cTn dur="1" fill="hold">
                                          <p:stCondLst>
                                            <p:cond delay="0"/>
                                          </p:stCondLst>
                                        </p:cTn>
                                        <p:tgtEl>
                                          <p:spTgt spid="444"/>
                                        </p:tgtEl>
                                        <p:attrNameLst>
                                          <p:attrName>style.visibility</p:attrName>
                                        </p:attrNameLst>
                                      </p:cBhvr>
                                      <p:to>
                                        <p:strVal val="visible"/>
                                      </p:to>
                                    </p:set>
                                    <p:animEffect filter="fade" transition="in">
                                      <p:cBhvr>
                                        <p:cTn dur="500"/>
                                        <p:tgtEl>
                                          <p:spTgt spid="444"/>
                                        </p:tgtEl>
                                      </p:cBhvr>
                                    </p:animEffect>
                                  </p:childTnLst>
                                </p:cTn>
                              </p:par>
                              <p:par>
                                <p:cTn fill="hold" nodeType="withEffect" presetClass="entr" presetID="10" presetSubtype="0">
                                  <p:stCondLst>
                                    <p:cond delay="260"/>
                                  </p:stCondLst>
                                  <p:childTnLst>
                                    <p:set>
                                      <p:cBhvr>
                                        <p:cTn dur="1" fill="hold">
                                          <p:stCondLst>
                                            <p:cond delay="0"/>
                                          </p:stCondLst>
                                        </p:cTn>
                                        <p:tgtEl>
                                          <p:spTgt spid="445"/>
                                        </p:tgtEl>
                                        <p:attrNameLst>
                                          <p:attrName>style.visibility</p:attrName>
                                        </p:attrNameLst>
                                      </p:cBhvr>
                                      <p:to>
                                        <p:strVal val="visible"/>
                                      </p:to>
                                    </p:set>
                                    <p:animEffect filter="fade" transition="in">
                                      <p:cBhvr>
                                        <p:cTn dur="500"/>
                                        <p:tgtEl>
                                          <p:spTgt spid="445"/>
                                        </p:tgtEl>
                                      </p:cBhvr>
                                    </p:animEffect>
                                  </p:childTnLst>
                                </p:cTn>
                              </p:par>
                              <p:par>
                                <p:cTn fill="hold" nodeType="withEffect" presetClass="entr" presetID="10" presetSubtype="0">
                                  <p:stCondLst>
                                    <p:cond delay="52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par>
                                <p:cTn fill="hold" nodeType="withEffect" presetClass="entr" presetID="23" presetSubtype="16">
                                  <p:stCondLst>
                                    <p:cond delay="520"/>
                                  </p:stCondLst>
                                  <p:childTnLst>
                                    <p:set>
                                      <p:cBhvr>
                                        <p:cTn dur="1" fill="hold">
                                          <p:stCondLst>
                                            <p:cond delay="0"/>
                                          </p:stCondLst>
                                        </p:cTn>
                                        <p:tgtEl>
                                          <p:spTgt spid="447"/>
                                        </p:tgtEl>
                                        <p:attrNameLst>
                                          <p:attrName>style.visibility</p:attrName>
                                        </p:attrNameLst>
                                      </p:cBhvr>
                                      <p:to>
                                        <p:strVal val="visible"/>
                                      </p:to>
                                    </p:set>
                                    <p:anim calcmode="lin" valueType="num">
                                      <p:cBhvr additive="base">
                                        <p:cTn dur="500"/>
                                        <p:tgtEl>
                                          <p:spTgt spid="447"/>
                                        </p:tgtEl>
                                        <p:attrNameLst>
                                          <p:attrName>ppt_w</p:attrName>
                                        </p:attrNameLst>
                                      </p:cBhvr>
                                      <p:tavLst>
                                        <p:tav fmla="" tm="0">
                                          <p:val>
                                            <p:strVal val="0"/>
                                          </p:val>
                                        </p:tav>
                                        <p:tav fmla="" tm="100000">
                                          <p:val>
                                            <p:strVal val="#ppt_w"/>
                                          </p:val>
                                        </p:tav>
                                      </p:tavLst>
                                    </p:anim>
                                    <p:anim calcmode="lin" valueType="num">
                                      <p:cBhvr additive="base">
                                        <p:cTn dur="500"/>
                                        <p:tgtEl>
                                          <p:spTgt spid="44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20"/>
                                  </p:stCondLst>
                                  <p:childTnLst>
                                    <p:set>
                                      <p:cBhvr>
                                        <p:cTn dur="1" fill="hold">
                                          <p:stCondLst>
                                            <p:cond delay="0"/>
                                          </p:stCondLst>
                                        </p:cTn>
                                        <p:tgtEl>
                                          <p:spTgt spid="448"/>
                                        </p:tgtEl>
                                        <p:attrNameLst>
                                          <p:attrName>style.visibility</p:attrName>
                                        </p:attrNameLst>
                                      </p:cBhvr>
                                      <p:to>
                                        <p:strVal val="visible"/>
                                      </p:to>
                                    </p:set>
                                    <p:anim calcmode="lin" valueType="num">
                                      <p:cBhvr additive="base">
                                        <p:cTn dur="500"/>
                                        <p:tgtEl>
                                          <p:spTgt spid="448"/>
                                        </p:tgtEl>
                                        <p:attrNameLst>
                                          <p:attrName>ppt_w</p:attrName>
                                        </p:attrNameLst>
                                      </p:cBhvr>
                                      <p:tavLst>
                                        <p:tav fmla="" tm="0">
                                          <p:val>
                                            <p:strVal val="0"/>
                                          </p:val>
                                        </p:tav>
                                        <p:tav fmla="" tm="100000">
                                          <p:val>
                                            <p:strVal val="#ppt_w"/>
                                          </p:val>
                                        </p:tav>
                                      </p:tavLst>
                                    </p:anim>
                                    <p:anim calcmode="lin" valueType="num">
                                      <p:cBhvr additive="base">
                                        <p:cTn dur="500"/>
                                        <p:tgtEl>
                                          <p:spTgt spid="44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20"/>
                                  </p:stCondLst>
                                  <p:childTnLst>
                                    <p:set>
                                      <p:cBhvr>
                                        <p:cTn dur="1" fill="hold">
                                          <p:stCondLst>
                                            <p:cond delay="0"/>
                                          </p:stCondLst>
                                        </p:cTn>
                                        <p:tgtEl>
                                          <p:spTgt spid="449"/>
                                        </p:tgtEl>
                                        <p:attrNameLst>
                                          <p:attrName>style.visibility</p:attrName>
                                        </p:attrNameLst>
                                      </p:cBhvr>
                                      <p:to>
                                        <p:strVal val="visible"/>
                                      </p:to>
                                    </p:set>
                                    <p:animEffect filter="fade" transition="in">
                                      <p:cBhvr>
                                        <p:cTn dur="500"/>
                                        <p:tgtEl>
                                          <p:spTgt spid="449"/>
                                        </p:tgtEl>
                                      </p:cBhvr>
                                    </p:animEffect>
                                  </p:childTnLst>
                                </p:cTn>
                              </p:par>
                              <p:par>
                                <p:cTn fill="hold" nodeType="withEffect" presetClass="entr" presetID="10" presetSubtype="0">
                                  <p:stCondLst>
                                    <p:cond delay="520"/>
                                  </p:stCondLst>
                                  <p:childTnLst>
                                    <p:set>
                                      <p:cBhvr>
                                        <p:cTn dur="1" fill="hold">
                                          <p:stCondLst>
                                            <p:cond delay="0"/>
                                          </p:stCondLst>
                                        </p:cTn>
                                        <p:tgtEl>
                                          <p:spTgt spid="450"/>
                                        </p:tgtEl>
                                        <p:attrNameLst>
                                          <p:attrName>style.visibility</p:attrName>
                                        </p:attrNameLst>
                                      </p:cBhvr>
                                      <p:to>
                                        <p:strVal val="visible"/>
                                      </p:to>
                                    </p:set>
                                    <p:animEffect filter="fade" transition="in">
                                      <p:cBhvr>
                                        <p:cTn dur="500"/>
                                        <p:tgtEl>
                                          <p:spTgt spid="450"/>
                                        </p:tgtEl>
                                      </p:cBhvr>
                                    </p:animEffect>
                                  </p:childTnLst>
                                </p:cTn>
                              </p:par>
                              <p:par>
                                <p:cTn fill="hold" nodeType="withEffect" presetClass="entr" presetID="10" presetSubtype="0">
                                  <p:stCondLst>
                                    <p:cond delay="780"/>
                                  </p:stCondLst>
                                  <p:childTnLst>
                                    <p:set>
                                      <p:cBhvr>
                                        <p:cTn dur="1" fill="hold">
                                          <p:stCondLst>
                                            <p:cond delay="0"/>
                                          </p:stCondLst>
                                        </p:cTn>
                                        <p:tgtEl>
                                          <p:spTgt spid="451"/>
                                        </p:tgtEl>
                                        <p:attrNameLst>
                                          <p:attrName>style.visibility</p:attrName>
                                        </p:attrNameLst>
                                      </p:cBhvr>
                                      <p:to>
                                        <p:strVal val="visible"/>
                                      </p:to>
                                    </p:set>
                                    <p:animEffect filter="fade" transition="in">
                                      <p:cBhvr>
                                        <p:cTn dur="500"/>
                                        <p:tgtEl>
                                          <p:spTgt spid="451"/>
                                        </p:tgtEl>
                                      </p:cBhvr>
                                    </p:animEffect>
                                  </p:childTnLst>
                                </p:cTn>
                              </p:par>
                              <p:par>
                                <p:cTn fill="hold" nodeType="withEffect" presetClass="entr" presetID="23" presetSubtype="16">
                                  <p:stCondLst>
                                    <p:cond delay="780"/>
                                  </p:stCondLst>
                                  <p:childTnLst>
                                    <p:set>
                                      <p:cBhvr>
                                        <p:cTn dur="1" fill="hold">
                                          <p:stCondLst>
                                            <p:cond delay="0"/>
                                          </p:stCondLst>
                                        </p:cTn>
                                        <p:tgtEl>
                                          <p:spTgt spid="452"/>
                                        </p:tgtEl>
                                        <p:attrNameLst>
                                          <p:attrName>style.visibility</p:attrName>
                                        </p:attrNameLst>
                                      </p:cBhvr>
                                      <p:to>
                                        <p:strVal val="visible"/>
                                      </p:to>
                                    </p:set>
                                    <p:anim calcmode="lin" valueType="num">
                                      <p:cBhvr additive="base">
                                        <p:cTn dur="500"/>
                                        <p:tgtEl>
                                          <p:spTgt spid="452"/>
                                        </p:tgtEl>
                                        <p:attrNameLst>
                                          <p:attrName>ppt_w</p:attrName>
                                        </p:attrNameLst>
                                      </p:cBhvr>
                                      <p:tavLst>
                                        <p:tav fmla="" tm="0">
                                          <p:val>
                                            <p:strVal val="0"/>
                                          </p:val>
                                        </p:tav>
                                        <p:tav fmla="" tm="100000">
                                          <p:val>
                                            <p:strVal val="#ppt_w"/>
                                          </p:val>
                                        </p:tav>
                                      </p:tavLst>
                                    </p:anim>
                                    <p:anim calcmode="lin" valueType="num">
                                      <p:cBhvr additive="base">
                                        <p:cTn dur="500"/>
                                        <p:tgtEl>
                                          <p:spTgt spid="45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780"/>
                                  </p:stCondLst>
                                  <p:childTnLst>
                                    <p:set>
                                      <p:cBhvr>
                                        <p:cTn dur="1" fill="hold">
                                          <p:stCondLst>
                                            <p:cond delay="0"/>
                                          </p:stCondLst>
                                        </p:cTn>
                                        <p:tgtEl>
                                          <p:spTgt spid="453"/>
                                        </p:tgtEl>
                                        <p:attrNameLst>
                                          <p:attrName>style.visibility</p:attrName>
                                        </p:attrNameLst>
                                      </p:cBhvr>
                                      <p:to>
                                        <p:strVal val="visible"/>
                                      </p:to>
                                    </p:set>
                                    <p:anim calcmode="lin" valueType="num">
                                      <p:cBhvr additive="base">
                                        <p:cTn dur="500"/>
                                        <p:tgtEl>
                                          <p:spTgt spid="453"/>
                                        </p:tgtEl>
                                        <p:attrNameLst>
                                          <p:attrName>ppt_w</p:attrName>
                                        </p:attrNameLst>
                                      </p:cBhvr>
                                      <p:tavLst>
                                        <p:tav fmla="" tm="0">
                                          <p:val>
                                            <p:strVal val="0"/>
                                          </p:val>
                                        </p:tav>
                                        <p:tav fmla="" tm="100000">
                                          <p:val>
                                            <p:strVal val="#ppt_w"/>
                                          </p:val>
                                        </p:tav>
                                      </p:tavLst>
                                    </p:anim>
                                    <p:anim calcmode="lin" valueType="num">
                                      <p:cBhvr additive="base">
                                        <p:cTn dur="500"/>
                                        <p:tgtEl>
                                          <p:spTgt spid="45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78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par>
                                <p:cTn fill="hold" nodeType="withEffect" presetClass="entr" presetID="10" presetSubtype="0">
                                  <p:stCondLst>
                                    <p:cond delay="780"/>
                                  </p:stCondLst>
                                  <p:childTnLst>
                                    <p:set>
                                      <p:cBhvr>
                                        <p:cTn dur="1" fill="hold">
                                          <p:stCondLst>
                                            <p:cond delay="0"/>
                                          </p:stCondLst>
                                        </p:cTn>
                                        <p:tgtEl>
                                          <p:spTgt spid="455"/>
                                        </p:tgtEl>
                                        <p:attrNameLst>
                                          <p:attrName>style.visibility</p:attrName>
                                        </p:attrNameLst>
                                      </p:cBhvr>
                                      <p:to>
                                        <p:strVal val="visible"/>
                                      </p:to>
                                    </p:set>
                                    <p:animEffect filter="fade" transition="in">
                                      <p:cBhvr>
                                        <p:cTn dur="500"/>
                                        <p:tgtEl>
                                          <p:spTgt spid="455"/>
                                        </p:tgtEl>
                                      </p:cBhvr>
                                    </p:animEffect>
                                  </p:childTnLst>
                                </p:cTn>
                              </p:par>
                              <p:par>
                                <p:cTn fill="hold" nodeType="withEffect" presetClass="entr" presetID="10" presetSubtype="0">
                                  <p:stCondLst>
                                    <p:cond delay="104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7"/>
          <p:cNvSpPr/>
          <p:nvPr/>
        </p:nvSpPr>
        <p:spPr>
          <a:xfrm>
            <a:off x="640080" y="365760"/>
            <a:ext cx="3566160" cy="310896"/>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DEMOSTRACIÓN</a:t>
            </a:r>
            <a:endParaRPr b="0" i="0" sz="1100" u="none" cap="none" strike="noStrike">
              <a:solidFill>
                <a:schemeClr val="dk1"/>
              </a:solidFill>
              <a:latin typeface="Calibri"/>
              <a:ea typeface="Calibri"/>
              <a:cs typeface="Calibri"/>
              <a:sym typeface="Calibri"/>
            </a:endParaRPr>
          </a:p>
        </p:txBody>
      </p:sp>
      <p:sp>
        <p:nvSpPr>
          <p:cNvPr id="464" name="Google Shape;464;p17"/>
          <p:cNvSpPr txBox="1"/>
          <p:nvPr>
            <p:ph type="title"/>
          </p:nvPr>
        </p:nvSpPr>
        <p:spPr>
          <a:xfrm>
            <a:off x="640080" y="777240"/>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400"/>
              <a:buFont typeface="Georgia"/>
              <a:buNone/>
            </a:pPr>
            <a:r>
              <a:rPr b="1" lang="en-US" sz="3400">
                <a:solidFill>
                  <a:schemeClr val="lt1"/>
                </a:solidFill>
              </a:rPr>
              <a:t>Demostración en vivo</a:t>
            </a:r>
            <a:endParaRPr sz="3400"/>
          </a:p>
        </p:txBody>
      </p:sp>
      <p:sp>
        <p:nvSpPr>
          <p:cNvPr id="465" name="Google Shape;465;p17"/>
          <p:cNvSpPr txBox="1"/>
          <p:nvPr/>
        </p:nvSpPr>
        <p:spPr>
          <a:xfrm>
            <a:off x="640080" y="2103120"/>
            <a:ext cx="630936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3200"/>
              <a:buFont typeface="Georgia"/>
              <a:buNone/>
            </a:pPr>
            <a:r>
              <a:rPr b="1" i="0" lang="en-US" sz="3200" u="none" cap="none" strike="noStrike">
                <a:solidFill>
                  <a:schemeClr val="lt1"/>
                </a:solidFill>
                <a:latin typeface="Georgia"/>
                <a:ea typeface="Georgia"/>
                <a:cs typeface="Georgia"/>
                <a:sym typeface="Georgia"/>
              </a:rPr>
              <a:t>Serena funcionando en servidor real</a:t>
            </a:r>
            <a:endParaRPr b="0" i="0" sz="3200" u="none" cap="none" strike="noStrike">
              <a:solidFill>
                <a:schemeClr val="dk1"/>
              </a:solidFill>
              <a:latin typeface="Calibri"/>
              <a:ea typeface="Calibri"/>
              <a:cs typeface="Calibri"/>
              <a:sym typeface="Calibri"/>
            </a:endParaRPr>
          </a:p>
        </p:txBody>
      </p:sp>
      <p:sp>
        <p:nvSpPr>
          <p:cNvPr id="466" name="Google Shape;466;p17"/>
          <p:cNvSpPr/>
          <p:nvPr/>
        </p:nvSpPr>
        <p:spPr>
          <a:xfrm>
            <a:off x="640080" y="3566160"/>
            <a:ext cx="6035040" cy="731520"/>
          </a:xfrm>
          <a:prstGeom prst="roundRect">
            <a:avLst>
              <a:gd fmla="val 50000" name="adj"/>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2400"/>
              <a:buFont typeface="Calibri"/>
              <a:buNone/>
            </a:pPr>
            <a:r>
              <a:rPr b="1" i="0" lang="en-US" sz="2400" u="none" cap="none" strike="noStrike">
                <a:solidFill>
                  <a:schemeClr val="accent2"/>
                </a:solidFill>
                <a:latin typeface="Calibri"/>
                <a:ea typeface="Calibri"/>
                <a:cs typeface="Calibri"/>
                <a:sym typeface="Calibri"/>
              </a:rPr>
              <a:t>serena.infinityfreeapp.com</a:t>
            </a:r>
            <a:endParaRPr b="0" i="0" sz="2400" u="none" cap="none" strike="noStrike">
              <a:solidFill>
                <a:schemeClr val="dk1"/>
              </a:solidFill>
              <a:latin typeface="Calibri"/>
              <a:ea typeface="Calibri"/>
              <a:cs typeface="Calibri"/>
              <a:sym typeface="Calibri"/>
            </a:endParaRPr>
          </a:p>
        </p:txBody>
      </p:sp>
      <p:sp>
        <p:nvSpPr>
          <p:cNvPr id="467" name="Google Shape;467;p17"/>
          <p:cNvSpPr/>
          <p:nvPr/>
        </p:nvSpPr>
        <p:spPr>
          <a:xfrm>
            <a:off x="640080" y="4617720"/>
            <a:ext cx="6035040" cy="685800"/>
          </a:xfrm>
          <a:prstGeom prst="roundRect">
            <a:avLst>
              <a:gd fmla="val 18667" name="adj"/>
            </a:avLst>
          </a:prstGeom>
          <a:solidFill>
            <a:schemeClr val="dk2">
              <a:alpha val="7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7"/>
          <p:cNvSpPr txBox="1"/>
          <p:nvPr/>
        </p:nvSpPr>
        <p:spPr>
          <a:xfrm>
            <a:off x="960120" y="4617720"/>
            <a:ext cx="54864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Entra desde el celular o el computador</a:t>
            </a:r>
            <a:endParaRPr b="0" i="0" sz="1800" u="none" cap="none" strike="noStrike">
              <a:solidFill>
                <a:schemeClr val="dk1"/>
              </a:solidFill>
              <a:latin typeface="Calibri"/>
              <a:ea typeface="Calibri"/>
              <a:cs typeface="Calibri"/>
              <a:sym typeface="Calibri"/>
            </a:endParaRPr>
          </a:p>
        </p:txBody>
      </p:sp>
      <p:sp>
        <p:nvSpPr>
          <p:cNvPr id="469" name="Google Shape;469;p17"/>
          <p:cNvSpPr/>
          <p:nvPr/>
        </p:nvSpPr>
        <p:spPr>
          <a:xfrm>
            <a:off x="7818120" y="1783080"/>
            <a:ext cx="3730752" cy="4297680"/>
          </a:xfrm>
          <a:prstGeom prst="roundRect">
            <a:avLst>
              <a:gd fmla="val 4902" name="adj"/>
            </a:avLst>
          </a:prstGeom>
          <a:solidFill>
            <a:schemeClr val="lt1"/>
          </a:solidFill>
          <a:ln>
            <a:noFill/>
          </a:ln>
          <a:effectLst>
            <a:outerShdw blurRad="1016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ódigo QR para abrir Serena en línea" id="470" name="Google Shape;470;p17"/>
          <p:cNvPicPr preferRelativeResize="0"/>
          <p:nvPr/>
        </p:nvPicPr>
        <p:blipFill rotWithShape="1">
          <a:blip r:embed="rId3">
            <a:alphaModFix/>
          </a:blip>
          <a:srcRect b="0" l="0" r="0" t="0"/>
          <a:stretch/>
        </p:blipFill>
        <p:spPr>
          <a:xfrm>
            <a:off x="8138160" y="2103120"/>
            <a:ext cx="3090672" cy="3090672"/>
          </a:xfrm>
          <a:prstGeom prst="rect">
            <a:avLst/>
          </a:prstGeom>
          <a:noFill/>
          <a:ln>
            <a:noFill/>
          </a:ln>
        </p:spPr>
      </p:pic>
      <p:sp>
        <p:nvSpPr>
          <p:cNvPr id="471" name="Google Shape;471;p17"/>
          <p:cNvSpPr txBox="1"/>
          <p:nvPr/>
        </p:nvSpPr>
        <p:spPr>
          <a:xfrm>
            <a:off x="7818120" y="5349240"/>
            <a:ext cx="3730752"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1800"/>
              <a:buFont typeface="Georgia"/>
              <a:buNone/>
            </a:pPr>
            <a:r>
              <a:rPr b="1" i="0" lang="en-US" sz="1800" u="none" cap="none" strike="noStrike">
                <a:solidFill>
                  <a:schemeClr val="accent2"/>
                </a:solidFill>
                <a:latin typeface="Georgia"/>
                <a:ea typeface="Georgia"/>
                <a:cs typeface="Georgia"/>
                <a:sym typeface="Georgia"/>
              </a:rPr>
              <a:t>Escanea para entrar</a:t>
            </a:r>
            <a:endParaRPr b="0" i="0" sz="1800" u="none" cap="none" strike="noStrike">
              <a:solidFill>
                <a:schemeClr val="dk1"/>
              </a:solidFill>
              <a:latin typeface="Calibri"/>
              <a:ea typeface="Calibri"/>
              <a:cs typeface="Calibri"/>
              <a:sym typeface="Calibri"/>
            </a:endParaRPr>
          </a:p>
        </p:txBody>
      </p:sp>
      <p:sp>
        <p:nvSpPr>
          <p:cNvPr id="472" name="Google Shape;472;p17"/>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transition spd="med">
    <p:wipe dir="l"/>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500"/>
                                        <p:tgtEl>
                                          <p:spTgt spid="463"/>
                                        </p:tgtEl>
                                      </p:cBhvr>
                                    </p:animEffect>
                                  </p:childTnLst>
                                </p:cTn>
                              </p:par>
                              <p:par>
                                <p:cTn fill="hold" nodeType="withEffect" presetClass="entr" presetID="10" presetSubtype="0">
                                  <p:stCondLst>
                                    <p:cond delay="260"/>
                                  </p:stCondLst>
                                  <p:childTnLst>
                                    <p:set>
                                      <p:cBhvr>
                                        <p:cTn dur="1" fill="hold">
                                          <p:stCondLst>
                                            <p:cond delay="0"/>
                                          </p:stCondLst>
                                        </p:cTn>
                                        <p:tgtEl>
                                          <p:spTgt spid="465"/>
                                        </p:tgtEl>
                                        <p:attrNameLst>
                                          <p:attrName>style.visibility</p:attrName>
                                        </p:attrNameLst>
                                      </p:cBhvr>
                                      <p:to>
                                        <p:strVal val="visible"/>
                                      </p:to>
                                    </p:set>
                                    <p:animEffect filter="fade" transition="in">
                                      <p:cBhvr>
                                        <p:cTn dur="500"/>
                                        <p:tgtEl>
                                          <p:spTgt spid="465"/>
                                        </p:tgtEl>
                                      </p:cBhvr>
                                    </p:animEffect>
                                  </p:childTnLst>
                                </p:cTn>
                              </p:par>
                              <p:par>
                                <p:cTn fill="hold" nodeType="withEffect" presetClass="entr" presetID="10" presetSubtype="0">
                                  <p:stCondLst>
                                    <p:cond delay="520"/>
                                  </p:stCondLst>
                                  <p:childTnLst>
                                    <p:set>
                                      <p:cBhvr>
                                        <p:cTn dur="1" fill="hold">
                                          <p:stCondLst>
                                            <p:cond delay="0"/>
                                          </p:stCondLst>
                                        </p:cTn>
                                        <p:tgtEl>
                                          <p:spTgt spid="466"/>
                                        </p:tgtEl>
                                        <p:attrNameLst>
                                          <p:attrName>style.visibility</p:attrName>
                                        </p:attrNameLst>
                                      </p:cBhvr>
                                      <p:to>
                                        <p:strVal val="visible"/>
                                      </p:to>
                                    </p:set>
                                    <p:animEffect filter="fade" transition="in">
                                      <p:cBhvr>
                                        <p:cTn dur="500"/>
                                        <p:tgtEl>
                                          <p:spTgt spid="466"/>
                                        </p:tgtEl>
                                      </p:cBhvr>
                                    </p:animEffect>
                                  </p:childTnLst>
                                </p:cTn>
                              </p:par>
                              <p:par>
                                <p:cTn fill="hold" nodeType="withEffect" presetClass="entr" presetID="10" presetSubtype="0">
                                  <p:stCondLst>
                                    <p:cond delay="780"/>
                                  </p:stCondLst>
                                  <p:childTnLst>
                                    <p:set>
                                      <p:cBhvr>
                                        <p:cTn dur="1" fill="hold">
                                          <p:stCondLst>
                                            <p:cond delay="0"/>
                                          </p:stCondLst>
                                        </p:cTn>
                                        <p:tgtEl>
                                          <p:spTgt spid="467"/>
                                        </p:tgtEl>
                                        <p:attrNameLst>
                                          <p:attrName>style.visibility</p:attrName>
                                        </p:attrNameLst>
                                      </p:cBhvr>
                                      <p:to>
                                        <p:strVal val="visible"/>
                                      </p:to>
                                    </p:set>
                                    <p:animEffect filter="fade" transition="in">
                                      <p:cBhvr>
                                        <p:cTn dur="500"/>
                                        <p:tgtEl>
                                          <p:spTgt spid="467"/>
                                        </p:tgtEl>
                                      </p:cBhvr>
                                    </p:animEffect>
                                  </p:childTnLst>
                                </p:cTn>
                              </p:par>
                              <p:par>
                                <p:cTn fill="hold" nodeType="withEffect" presetClass="entr" presetID="10" presetSubtype="0">
                                  <p:stCondLst>
                                    <p:cond delay="78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par>
                                <p:cTn fill="hold" nodeType="withEffect" presetClass="entr" presetID="23" presetSubtype="16">
                                  <p:stCondLst>
                                    <p:cond delay="1040"/>
                                  </p:stCondLst>
                                  <p:childTnLst>
                                    <p:set>
                                      <p:cBhvr>
                                        <p:cTn dur="1" fill="hold">
                                          <p:stCondLst>
                                            <p:cond delay="0"/>
                                          </p:stCondLst>
                                        </p:cTn>
                                        <p:tgtEl>
                                          <p:spTgt spid="469"/>
                                        </p:tgtEl>
                                        <p:attrNameLst>
                                          <p:attrName>style.visibility</p:attrName>
                                        </p:attrNameLst>
                                      </p:cBhvr>
                                      <p:to>
                                        <p:strVal val="visible"/>
                                      </p:to>
                                    </p:set>
                                    <p:anim calcmode="lin" valueType="num">
                                      <p:cBhvr additive="base">
                                        <p:cTn dur="500"/>
                                        <p:tgtEl>
                                          <p:spTgt spid="469"/>
                                        </p:tgtEl>
                                        <p:attrNameLst>
                                          <p:attrName>ppt_w</p:attrName>
                                        </p:attrNameLst>
                                      </p:cBhvr>
                                      <p:tavLst>
                                        <p:tav fmla="" tm="0">
                                          <p:val>
                                            <p:strVal val="0"/>
                                          </p:val>
                                        </p:tav>
                                        <p:tav fmla="" tm="100000">
                                          <p:val>
                                            <p:strVal val="#ppt_w"/>
                                          </p:val>
                                        </p:tav>
                                      </p:tavLst>
                                    </p:anim>
                                    <p:anim calcmode="lin" valueType="num">
                                      <p:cBhvr additive="base">
                                        <p:cTn dur="500"/>
                                        <p:tgtEl>
                                          <p:spTgt spid="46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040"/>
                                  </p:stCondLst>
                                  <p:childTnLst>
                                    <p:set>
                                      <p:cBhvr>
                                        <p:cTn dur="1" fill="hold">
                                          <p:stCondLst>
                                            <p:cond delay="0"/>
                                          </p:stCondLst>
                                        </p:cTn>
                                        <p:tgtEl>
                                          <p:spTgt spid="470"/>
                                        </p:tgtEl>
                                        <p:attrNameLst>
                                          <p:attrName>style.visibility</p:attrName>
                                        </p:attrNameLst>
                                      </p:cBhvr>
                                      <p:to>
                                        <p:strVal val="visible"/>
                                      </p:to>
                                    </p:set>
                                    <p:anim calcmode="lin" valueType="num">
                                      <p:cBhvr additive="base">
                                        <p:cTn dur="500"/>
                                        <p:tgtEl>
                                          <p:spTgt spid="470"/>
                                        </p:tgtEl>
                                        <p:attrNameLst>
                                          <p:attrName>ppt_w</p:attrName>
                                        </p:attrNameLst>
                                      </p:cBhvr>
                                      <p:tavLst>
                                        <p:tav fmla="" tm="0">
                                          <p:val>
                                            <p:strVal val="0"/>
                                          </p:val>
                                        </p:tav>
                                        <p:tav fmla="" tm="100000">
                                          <p:val>
                                            <p:strVal val="#ppt_w"/>
                                          </p:val>
                                        </p:tav>
                                      </p:tavLst>
                                    </p:anim>
                                    <p:anim calcmode="lin" valueType="num">
                                      <p:cBhvr additive="base">
                                        <p:cTn dur="500"/>
                                        <p:tgtEl>
                                          <p:spTgt spid="47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040"/>
                                  </p:stCondLst>
                                  <p:childTnLst>
                                    <p:set>
                                      <p:cBhvr>
                                        <p:cTn dur="1" fill="hold">
                                          <p:stCondLst>
                                            <p:cond delay="0"/>
                                          </p:stCondLst>
                                        </p:cTn>
                                        <p:tgtEl>
                                          <p:spTgt spid="471"/>
                                        </p:tgtEl>
                                        <p:attrNameLst>
                                          <p:attrName>style.visibility</p:attrName>
                                        </p:attrNameLst>
                                      </p:cBhvr>
                                      <p:to>
                                        <p:strVal val="visible"/>
                                      </p:to>
                                    </p:set>
                                    <p:anim calcmode="lin" valueType="num">
                                      <p:cBhvr additive="base">
                                        <p:cTn dur="500"/>
                                        <p:tgtEl>
                                          <p:spTgt spid="471"/>
                                        </p:tgtEl>
                                        <p:attrNameLst>
                                          <p:attrName>ppt_w</p:attrName>
                                        </p:attrNameLst>
                                      </p:cBhvr>
                                      <p:tavLst>
                                        <p:tav fmla="" tm="0">
                                          <p:val>
                                            <p:strVal val="0"/>
                                          </p:val>
                                        </p:tav>
                                        <p:tav fmla="" tm="100000">
                                          <p:val>
                                            <p:strVal val="#ppt_w"/>
                                          </p:val>
                                        </p:tav>
                                      </p:tavLst>
                                    </p:anim>
                                    <p:anim calcmode="lin" valueType="num">
                                      <p:cBhvr additive="base">
                                        <p:cTn dur="500"/>
                                        <p:tgtEl>
                                          <p:spTgt spid="47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0" name="Google Shape;230;p9"/>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07  ·  FUENTES</a:t>
            </a:r>
            <a:endParaRPr b="0" i="0" sz="1200" u="none" cap="none" strike="noStrike">
              <a:solidFill>
                <a:schemeClr val="dk1"/>
              </a:solidFill>
              <a:latin typeface="Calibri"/>
              <a:ea typeface="Calibri"/>
              <a:cs typeface="Calibri"/>
              <a:sym typeface="Calibri"/>
            </a:endParaRPr>
          </a:p>
        </p:txBody>
      </p:sp>
      <p:sp>
        <p:nvSpPr>
          <p:cNvPr id="231" name="Google Shape;231;p9"/>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Fuentes consultadas</a:t>
            </a:r>
            <a:endParaRPr sz="3400"/>
          </a:p>
        </p:txBody>
      </p:sp>
      <p:sp>
        <p:nvSpPr>
          <p:cNvPr id="232" name="Google Shape;232;p9"/>
          <p:cNvSpPr/>
          <p:nvPr/>
        </p:nvSpPr>
        <p:spPr>
          <a:xfrm>
            <a:off x="640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3" name="Google Shape;233;p9"/>
          <p:cNvPicPr preferRelativeResize="0"/>
          <p:nvPr/>
        </p:nvPicPr>
        <p:blipFill rotWithShape="1">
          <a:blip r:embed="rId6">
            <a:alphaModFix/>
          </a:blip>
          <a:srcRect b="0" l="0" r="0" t="0"/>
          <a:stretch/>
        </p:blipFill>
        <p:spPr>
          <a:xfrm>
            <a:off x="890000" y="2377000"/>
            <a:ext cx="640000" cy="640000"/>
          </a:xfrm>
          <a:prstGeom prst="rect">
            <a:avLst/>
          </a:prstGeom>
          <a:noFill/>
          <a:ln>
            <a:noFill/>
          </a:ln>
        </p:spPr>
      </p:pic>
      <p:sp>
        <p:nvSpPr>
          <p:cNvPr id="234" name="Google Shape;234;p9"/>
          <p:cNvSpPr txBox="1"/>
          <p:nvPr/>
        </p:nvSpPr>
        <p:spPr>
          <a:xfrm>
            <a:off x="1730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Daylio</a:t>
            </a:r>
            <a:endParaRPr b="0" i="0" sz="2000" u="none" cap="none" strike="noStrike">
              <a:solidFill>
                <a:schemeClr val="dk1"/>
              </a:solidFill>
              <a:latin typeface="Calibri"/>
              <a:ea typeface="Calibri"/>
              <a:cs typeface="Calibri"/>
              <a:sym typeface="Calibri"/>
            </a:endParaRPr>
          </a:p>
        </p:txBody>
      </p:sp>
      <p:sp>
        <p:nvSpPr>
          <p:cNvPr id="235" name="Google Shape;235;p9"/>
          <p:cNvSpPr txBox="1"/>
          <p:nvPr/>
        </p:nvSpPr>
        <p:spPr>
          <a:xfrm>
            <a:off x="1730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daylio.net · App Store (Relaxio s.r.o.) · MobileSyrup</a:t>
            </a:r>
            <a:endParaRPr b="0" i="0" sz="1500" u="none" cap="none" strike="noStrike">
              <a:solidFill>
                <a:schemeClr val="dk1"/>
              </a:solidFill>
              <a:latin typeface="Calibri"/>
              <a:ea typeface="Calibri"/>
              <a:cs typeface="Calibri"/>
              <a:sym typeface="Calibri"/>
            </a:endParaRPr>
          </a:p>
        </p:txBody>
      </p:sp>
      <p:sp>
        <p:nvSpPr>
          <p:cNvPr id="236" name="Google Shape;236;p9"/>
          <p:cNvSpPr/>
          <p:nvPr/>
        </p:nvSpPr>
        <p:spPr>
          <a:xfrm>
            <a:off x="4343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37" name="Google Shape;237;p9"/>
          <p:cNvPicPr preferRelativeResize="0"/>
          <p:nvPr/>
        </p:nvPicPr>
        <p:blipFill rotWithShape="1">
          <a:blip r:embed="rId2">
            <a:alphaModFix/>
          </a:blip>
          <a:srcRect b="0" l="0" r="0" t="0"/>
          <a:stretch/>
        </p:blipFill>
        <p:spPr>
          <a:xfrm>
            <a:off x="4593000" y="2377000"/>
            <a:ext cx="640000" cy="640000"/>
          </a:xfrm>
          <a:prstGeom prst="rect">
            <a:avLst/>
          </a:prstGeom>
          <a:noFill/>
          <a:ln>
            <a:noFill/>
          </a:ln>
        </p:spPr>
      </p:pic>
      <p:sp>
        <p:nvSpPr>
          <p:cNvPr id="238" name="Google Shape;238;p9"/>
          <p:cNvSpPr txBox="1"/>
          <p:nvPr/>
        </p:nvSpPr>
        <p:spPr>
          <a:xfrm>
            <a:off x="5433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Habitica</a:t>
            </a:r>
            <a:endParaRPr b="0" i="0" sz="2000" u="none" cap="none" strike="noStrike">
              <a:solidFill>
                <a:schemeClr val="dk1"/>
              </a:solidFill>
              <a:latin typeface="Calibri"/>
              <a:ea typeface="Calibri"/>
              <a:cs typeface="Calibri"/>
              <a:sym typeface="Calibri"/>
            </a:endParaRPr>
          </a:p>
        </p:txBody>
      </p:sp>
      <p:sp>
        <p:nvSpPr>
          <p:cNvPr id="239" name="Google Shape;239;p9"/>
          <p:cNvSpPr txBox="1"/>
          <p:nvPr/>
        </p:nvSpPr>
        <p:spPr>
          <a:xfrm>
            <a:off x="5433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App Store · Gizmodo · fitgap · selfhostyourself</a:t>
            </a:r>
            <a:endParaRPr b="0" i="0" sz="1500" u="none" cap="none" strike="noStrike">
              <a:solidFill>
                <a:schemeClr val="dk1"/>
              </a:solidFill>
              <a:latin typeface="Calibri"/>
              <a:ea typeface="Calibri"/>
              <a:cs typeface="Calibri"/>
              <a:sym typeface="Calibri"/>
            </a:endParaRPr>
          </a:p>
        </p:txBody>
      </p:sp>
      <p:sp>
        <p:nvSpPr>
          <p:cNvPr id="240" name="Google Shape;240;p9"/>
          <p:cNvSpPr/>
          <p:nvPr/>
        </p:nvSpPr>
        <p:spPr>
          <a:xfrm>
            <a:off x="8046000" y="1783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1" name="Google Shape;241;p9"/>
          <p:cNvPicPr preferRelativeResize="0"/>
          <p:nvPr/>
        </p:nvPicPr>
        <p:blipFill rotWithShape="1">
          <a:blip r:embed="rId3">
            <a:alphaModFix/>
          </a:blip>
          <a:srcRect b="0" l="0" r="0" t="0"/>
          <a:stretch/>
        </p:blipFill>
        <p:spPr>
          <a:xfrm>
            <a:off x="8296000" y="2377000"/>
            <a:ext cx="640000" cy="640000"/>
          </a:xfrm>
          <a:prstGeom prst="rect">
            <a:avLst/>
          </a:prstGeom>
          <a:noFill/>
          <a:ln>
            <a:noFill/>
          </a:ln>
        </p:spPr>
      </p:pic>
      <p:sp>
        <p:nvSpPr>
          <p:cNvPr id="242" name="Google Shape;242;p9"/>
          <p:cNvSpPr txBox="1"/>
          <p:nvPr/>
        </p:nvSpPr>
        <p:spPr>
          <a:xfrm>
            <a:off x="9136000" y="2113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Reflectly</a:t>
            </a:r>
            <a:endParaRPr b="0" i="0" sz="2000" u="none" cap="none" strike="noStrike">
              <a:solidFill>
                <a:schemeClr val="dk1"/>
              </a:solidFill>
              <a:latin typeface="Calibri"/>
              <a:ea typeface="Calibri"/>
              <a:cs typeface="Calibri"/>
              <a:sym typeface="Calibri"/>
            </a:endParaRPr>
          </a:p>
        </p:txBody>
      </p:sp>
      <p:sp>
        <p:nvSpPr>
          <p:cNvPr id="243" name="Google Shape;243;p9"/>
          <p:cNvSpPr txBox="1"/>
          <p:nvPr/>
        </p:nvSpPr>
        <p:spPr>
          <a:xfrm>
            <a:off x="9136000" y="2563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App Store · TechRadar · ChoosingTherapy</a:t>
            </a:r>
            <a:endParaRPr b="0" i="0" sz="1500" u="none" cap="none" strike="noStrike">
              <a:solidFill>
                <a:schemeClr val="dk1"/>
              </a:solidFill>
              <a:latin typeface="Calibri"/>
              <a:ea typeface="Calibri"/>
              <a:cs typeface="Calibri"/>
              <a:sym typeface="Calibri"/>
            </a:endParaRPr>
          </a:p>
        </p:txBody>
      </p:sp>
      <p:sp>
        <p:nvSpPr>
          <p:cNvPr id="244" name="Google Shape;244;p9"/>
          <p:cNvSpPr/>
          <p:nvPr/>
        </p:nvSpPr>
        <p:spPr>
          <a:xfrm>
            <a:off x="640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245" name="Google Shape;245;p9"/>
          <p:cNvPicPr preferRelativeResize="0"/>
          <p:nvPr/>
        </p:nvPicPr>
        <p:blipFill rotWithShape="1">
          <a:blip r:embed="rId4">
            <a:alphaModFix/>
          </a:blip>
          <a:srcRect b="0" l="0" r="0" t="0"/>
          <a:stretch/>
        </p:blipFill>
        <p:spPr>
          <a:xfrm>
            <a:off x="890000" y="4388000"/>
            <a:ext cx="640000" cy="640000"/>
          </a:xfrm>
          <a:prstGeom prst="rect">
            <a:avLst/>
          </a:prstGeom>
          <a:noFill/>
          <a:ln>
            <a:noFill/>
          </a:ln>
        </p:spPr>
      </p:pic>
      <p:sp>
        <p:nvSpPr>
          <p:cNvPr id="246" name="Google Shape;246;p9"/>
          <p:cNvSpPr txBox="1"/>
          <p:nvPr/>
        </p:nvSpPr>
        <p:spPr>
          <a:xfrm>
            <a:off x="1730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Master2000 y Phidias</a:t>
            </a:r>
            <a:endParaRPr b="0" i="0" sz="2000" u="none" cap="none" strike="noStrike">
              <a:solidFill>
                <a:schemeClr val="dk1"/>
              </a:solidFill>
              <a:latin typeface="Calibri"/>
              <a:ea typeface="Calibri"/>
              <a:cs typeface="Calibri"/>
              <a:sym typeface="Calibri"/>
            </a:endParaRPr>
          </a:p>
        </p:txBody>
      </p:sp>
      <p:sp>
        <p:nvSpPr>
          <p:cNvPr id="247" name="Google Shape;247;p9"/>
          <p:cNvSpPr txBox="1"/>
          <p:nvPr/>
        </p:nvSpPr>
        <p:spPr>
          <a:xfrm>
            <a:off x="1730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comparasoftware.com · TrustRadius · softwaredoit.es</a:t>
            </a:r>
            <a:endParaRPr b="0" i="0" sz="1500" u="none" cap="none" strike="noStrike">
              <a:solidFill>
                <a:schemeClr val="dk1"/>
              </a:solidFill>
              <a:latin typeface="Calibri"/>
              <a:ea typeface="Calibri"/>
              <a:cs typeface="Calibri"/>
              <a:sym typeface="Calibri"/>
            </a:endParaRPr>
          </a:p>
        </p:txBody>
      </p:sp>
      <p:sp>
        <p:nvSpPr>
          <p:cNvPr id="248" name="Google Shape;248;p9"/>
          <p:cNvSpPr txBox="1"/>
          <p:nvPr/>
        </p:nvSpPr>
        <p:spPr>
          <a:xfrm>
            <a:off x="640080" y="5852160"/>
            <a:ext cx="10908792"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400"/>
              <a:buFont typeface="Calibri"/>
              <a:buNone/>
            </a:pPr>
            <a:r>
              <a:rPr b="0" i="0" lang="en-US" sz="1400" u="none" cap="none" strike="noStrike">
                <a:solidFill>
                  <a:schemeClr val="accent6"/>
                </a:solidFill>
                <a:latin typeface="Calibri"/>
                <a:ea typeface="Calibri"/>
                <a:cs typeface="Calibri"/>
                <a:sym typeface="Calibri"/>
              </a:rPr>
              <a:t>Información pública consultada en octubre de 2026; las funciones y precios de cada producto pueden cambiar.</a:t>
            </a:r>
            <a:endParaRPr b="0" i="0" sz="1400" u="none" cap="none" strike="noStrike">
              <a:solidFill>
                <a:schemeClr val="dk1"/>
              </a:solidFill>
              <a:latin typeface="Calibri"/>
              <a:ea typeface="Calibri"/>
              <a:cs typeface="Calibri"/>
              <a:sym typeface="Calibri"/>
            </a:endParaRPr>
          </a:p>
        </p:txBody>
      </p:sp>
      <p:sp>
        <p:nvSpPr>
          <p:cNvPr id="249" name="Google Shape;249;p9"/>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
        <p:nvSpPr>
          <p:cNvPr id="300" name="Tarjeta extra 300"/>
          <p:cNvSpPr/>
          <p:nvPr/>
        </p:nvSpPr>
        <p:spPr>
          <a:xfrm>
            <a:off x="4343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01" name="Tarjeta extra 301"/>
          <p:cNvPicPr preferRelativeResize="0"/>
          <p:nvPr/>
        </p:nvPicPr>
        <p:blipFill rotWithShape="1">
          <a:blip r:embed="rId5">
            <a:alphaModFix/>
          </a:blip>
          <a:srcRect b="0" l="0" r="0" t="0"/>
          <a:stretch/>
        </p:blipFill>
        <p:spPr>
          <a:xfrm>
            <a:off x="4593000" y="4388000"/>
            <a:ext cx="640000" cy="640000"/>
          </a:xfrm>
          <a:prstGeom prst="rect">
            <a:avLst/>
          </a:prstGeom>
          <a:noFill/>
          <a:ln>
            <a:noFill/>
          </a:ln>
        </p:spPr>
      </p:pic>
      <p:sp>
        <p:nvSpPr>
          <p:cNvPr id="302" name="Tarjeta extra 302"/>
          <p:cNvSpPr txBox="1"/>
          <p:nvPr/>
        </p:nvSpPr>
        <p:spPr>
          <a:xfrm>
            <a:off x="5433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Sinaí y Q10</a:t>
            </a:r>
            <a:endParaRPr b="0" i="0" sz="2000" u="none" cap="none" strike="noStrike">
              <a:solidFill>
                <a:schemeClr val="dk1"/>
              </a:solidFill>
              <a:latin typeface="Calibri"/>
              <a:ea typeface="Calibri"/>
              <a:cs typeface="Calibri"/>
              <a:sym typeface="Calibri"/>
            </a:endParaRPr>
          </a:p>
        </p:txBody>
      </p:sp>
      <p:sp>
        <p:nvSpPr>
          <p:cNvPr id="303" name="Tarjeta extra 303"/>
          <p:cNvSpPr txBox="1"/>
          <p:nvPr/>
        </p:nvSpPr>
        <p:spPr>
          <a:xfrm>
            <a:off x="5433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sinai.net.co · portal.sinai.com.co · bit4learn.com · GetApp</a:t>
            </a:r>
            <a:endParaRPr b="0" i="0" sz="1500" u="none" cap="none" strike="noStrike">
              <a:solidFill>
                <a:schemeClr val="dk1"/>
              </a:solidFill>
              <a:latin typeface="Calibri"/>
              <a:ea typeface="Calibri"/>
              <a:cs typeface="Calibri"/>
              <a:sym typeface="Calibri"/>
            </a:endParaRPr>
          </a:p>
        </p:txBody>
      </p:sp>
      <p:sp>
        <p:nvSpPr>
          <p:cNvPr id="310" name="Tarjeta extra 310"/>
          <p:cNvSpPr/>
          <p:nvPr/>
        </p:nvSpPr>
        <p:spPr>
          <a:xfrm>
            <a:off x="8046000" y="3794000"/>
            <a:ext cx="3503000" cy="1828000"/>
          </a:xfrm>
          <a:prstGeom prst="roundRect">
            <a:avLst>
              <a:gd fmla="val 7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o" id="311" name="Tarjeta extra 311"/>
          <p:cNvPicPr preferRelativeResize="0"/>
          <p:nvPr/>
        </p:nvPicPr>
        <p:blipFill rotWithShape="1">
          <a:blip r:embed="rId7">
            <a:alphaModFix/>
          </a:blip>
          <a:srcRect b="0" l="0" r="0" t="0"/>
          <a:stretch/>
        </p:blipFill>
        <p:spPr>
          <a:xfrm>
            <a:off x="8296000" y="4388000"/>
            <a:ext cx="640000" cy="640000"/>
          </a:xfrm>
          <a:prstGeom prst="rect">
            <a:avLst/>
          </a:prstGeom>
          <a:noFill/>
          <a:ln>
            <a:noFill/>
          </a:ln>
        </p:spPr>
      </p:pic>
      <p:sp>
        <p:nvSpPr>
          <p:cNvPr id="312" name="Tarjeta extra 312"/>
          <p:cNvSpPr txBox="1"/>
          <p:nvPr/>
        </p:nvSpPr>
        <p:spPr>
          <a:xfrm>
            <a:off x="9136000" y="4124000"/>
            <a:ext cx="2213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Georgia"/>
              <a:buNone/>
            </a:pPr>
            <a:r>
              <a:rPr b="1" i="0" lang="en-US" sz="1600" u="none" cap="none" strike="noStrike">
                <a:solidFill>
                  <a:schemeClr val="dk2"/>
                </a:solidFill>
                <a:latin typeface="Georgia"/>
                <a:ea typeface="Georgia"/>
                <a:cs typeface="Georgia"/>
                <a:sym typeface="Georgia"/>
              </a:rPr>
              <a:t>Akros</a:t>
            </a:r>
            <a:endParaRPr b="0" i="0" sz="2000" u="none" cap="none" strike="noStrike">
              <a:solidFill>
                <a:schemeClr val="dk1"/>
              </a:solidFill>
              <a:latin typeface="Calibri"/>
              <a:ea typeface="Calibri"/>
              <a:cs typeface="Calibri"/>
              <a:sym typeface="Calibri"/>
            </a:endParaRPr>
          </a:p>
        </p:txBody>
      </p:sp>
      <p:sp>
        <p:nvSpPr>
          <p:cNvPr id="313" name="Tarjeta extra 313"/>
          <p:cNvSpPr txBox="1"/>
          <p:nvPr/>
        </p:nvSpPr>
        <p:spPr>
          <a:xfrm>
            <a:off x="9136000" y="4574000"/>
            <a:ext cx="2213000" cy="9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300" u="none" cap="none" strike="noStrike">
                <a:solidFill>
                  <a:schemeClr val="dk1"/>
                </a:solidFill>
                <a:latin typeface="Calibri"/>
                <a:ea typeface="Calibri"/>
                <a:cs typeface="Calibri"/>
                <a:sym typeface="Calibri"/>
              </a:rPr>
              <a:t>solucionesakros.com · SECOP (colombialicita.com)</a:t>
            </a:r>
            <a:endParaRPr b="0" i="0" sz="1500" u="none" cap="none" strike="noStrike">
              <a:solidFill>
                <a:schemeClr val="dk1"/>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26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26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par>
                                <p:cTn fill="hold" nodeType="withEffect" presetClass="entr" presetID="10" presetSubtype="0">
                                  <p:stCondLst>
                                    <p:cond delay="26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26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52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par>
                                <p:cTn fill="hold" nodeType="withEffect" presetClass="entr" presetID="10" presetSubtype="0">
                                  <p:stCondLst>
                                    <p:cond delay="52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52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52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78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78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78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78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104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104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104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104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130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8"/>
          <p:cNvSpPr txBox="1"/>
          <p:nvPr/>
        </p:nvSpPr>
        <p:spPr>
          <a:xfrm>
            <a:off x="731520" y="1554480"/>
            <a:ext cx="658368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8000"/>
              <a:buFont typeface="Georgia"/>
              <a:buNone/>
            </a:pPr>
            <a:r>
              <a:rPr b="1" i="0" lang="en-US" sz="8000" u="none" cap="none" strike="noStrike">
                <a:solidFill>
                  <a:schemeClr val="lt1"/>
                </a:solidFill>
                <a:latin typeface="Georgia"/>
                <a:ea typeface="Georgia"/>
                <a:cs typeface="Georgia"/>
                <a:sym typeface="Georgia"/>
              </a:rPr>
              <a:t>Gracias</a:t>
            </a:r>
            <a:endParaRPr b="0" i="0" sz="8000" u="none" cap="none" strike="noStrike">
              <a:solidFill>
                <a:schemeClr val="dk1"/>
              </a:solidFill>
              <a:latin typeface="Calibri"/>
              <a:ea typeface="Calibri"/>
              <a:cs typeface="Calibri"/>
              <a:sym typeface="Calibri"/>
            </a:endParaRPr>
          </a:p>
        </p:txBody>
      </p:sp>
      <p:sp>
        <p:nvSpPr>
          <p:cNvPr id="479" name="Google Shape;479;p18"/>
          <p:cNvSpPr/>
          <p:nvPr/>
        </p:nvSpPr>
        <p:spPr>
          <a:xfrm>
            <a:off x="731520" y="3291840"/>
            <a:ext cx="6583680" cy="1920240"/>
          </a:xfrm>
          <a:prstGeom prst="roundRect">
            <a:avLst>
              <a:gd fmla="val 6667" name="adj"/>
            </a:avLst>
          </a:prstGeom>
          <a:solidFill>
            <a:schemeClr val="dk2">
              <a:alpha val="7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8"/>
          <p:cNvSpPr txBox="1"/>
          <p:nvPr/>
        </p:nvSpPr>
        <p:spPr>
          <a:xfrm>
            <a:off x="1051560" y="3520440"/>
            <a:ext cx="59436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200"/>
              <a:buFont typeface="Calibri"/>
              <a:buNone/>
            </a:pPr>
            <a:r>
              <a:rPr b="0" i="0" lang="en-US" sz="2200" u="none" cap="none" strike="noStrike">
                <a:solidFill>
                  <a:schemeClr val="lt1"/>
                </a:solidFill>
                <a:latin typeface="Calibri"/>
                <a:ea typeface="Calibri"/>
                <a:cs typeface="Calibri"/>
                <a:sym typeface="Calibri"/>
              </a:rPr>
              <a:t>Serena: plataforma académica y de bienestar emocional</a:t>
            </a:r>
            <a:endParaRPr b="0" i="0" sz="2200" u="none" cap="none" strike="noStrike">
              <a:solidFill>
                <a:schemeClr val="dk1"/>
              </a:solidFill>
              <a:latin typeface="Calibri"/>
              <a:ea typeface="Calibri"/>
              <a:cs typeface="Calibri"/>
              <a:sym typeface="Calibri"/>
            </a:endParaRPr>
          </a:p>
        </p:txBody>
      </p:sp>
      <p:sp>
        <p:nvSpPr>
          <p:cNvPr id="481" name="Google Shape;481;p18"/>
          <p:cNvSpPr txBox="1"/>
          <p:nvPr/>
        </p:nvSpPr>
        <p:spPr>
          <a:xfrm>
            <a:off x="1051560" y="4526280"/>
            <a:ext cx="59436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David Santiago Mosquera Mosquera  |  Ana Sofía Ángel Moncada</a:t>
            </a:r>
            <a:endParaRPr b="0" i="0" sz="1500" u="none" cap="none" strike="noStrike">
              <a:solidFill>
                <a:schemeClr val="dk1"/>
              </a:solidFill>
              <a:latin typeface="Calibri"/>
              <a:ea typeface="Calibri"/>
              <a:cs typeface="Calibri"/>
              <a:sym typeface="Calibri"/>
            </a:endParaRPr>
          </a:p>
        </p:txBody>
      </p:sp>
      <p:sp>
        <p:nvSpPr>
          <p:cNvPr id="482" name="Google Shape;482;p18"/>
          <p:cNvSpPr txBox="1"/>
          <p:nvPr/>
        </p:nvSpPr>
        <p:spPr>
          <a:xfrm>
            <a:off x="731520" y="5577840"/>
            <a:ext cx="6583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www.sena.edu.co   ·   @SENAComunica</a:t>
            </a:r>
            <a:endParaRPr b="0" i="0" sz="1400" u="none" cap="none" strike="noStrike">
              <a:solidFill>
                <a:schemeClr val="dk1"/>
              </a:solidFill>
              <a:latin typeface="Calibri"/>
              <a:ea typeface="Calibri"/>
              <a:cs typeface="Calibri"/>
              <a:sym typeface="Calibri"/>
            </a:endParaRPr>
          </a:p>
        </p:txBody>
      </p:sp>
      <p:sp>
        <p:nvSpPr>
          <p:cNvPr id="483" name="Google Shape;483;p18"/>
          <p:cNvSpPr/>
          <p:nvPr/>
        </p:nvSpPr>
        <p:spPr>
          <a:xfrm>
            <a:off x="7315200" y="1097280"/>
            <a:ext cx="4754880" cy="4754880"/>
          </a:xfrm>
          <a:prstGeom prst="ellipse">
            <a:avLst/>
          </a:prstGeom>
          <a:solidFill>
            <a:schemeClr val="lt1">
              <a:alpha val="1803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8"/>
          <p:cNvSpPr/>
          <p:nvPr/>
        </p:nvSpPr>
        <p:spPr>
          <a:xfrm>
            <a:off x="7726680" y="1508760"/>
            <a:ext cx="3931920" cy="3931920"/>
          </a:xfrm>
          <a:prstGeom prst="ellipse">
            <a:avLst/>
          </a:prstGeom>
          <a:solidFill>
            <a:schemeClr val="lt1"/>
          </a:solidFill>
          <a:ln>
            <a:noFill/>
          </a:ln>
          <a:effectLst>
            <a:outerShdw blurRad="1016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 de Serena" id="485" name="Google Shape;485;p18"/>
          <p:cNvPicPr preferRelativeResize="0"/>
          <p:nvPr/>
        </p:nvPicPr>
        <p:blipFill rotWithShape="1">
          <a:blip r:embed="rId3">
            <a:alphaModFix/>
          </a:blip>
          <a:srcRect b="0" l="0" r="0" t="0"/>
          <a:stretch/>
        </p:blipFill>
        <p:spPr>
          <a:xfrm>
            <a:off x="8366760" y="2103120"/>
            <a:ext cx="2651760" cy="2715768"/>
          </a:xfrm>
          <a:prstGeom prst="rect">
            <a:avLst/>
          </a:prstGeom>
          <a:noFill/>
          <a:ln>
            <a:noFill/>
          </a:ln>
        </p:spPr>
      </p:pic>
      <p:sp>
        <p:nvSpPr>
          <p:cNvPr id="486" name="Google Shape;486;p18"/>
          <p:cNvSpPr txBox="1"/>
          <p:nvPr>
            <p:ph type="title"/>
          </p:nvPr>
        </p:nvSpPr>
        <p:spPr>
          <a:xfrm>
            <a:off x="640080" y="777240"/>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400"/>
              <a:buFont typeface="Georgia"/>
              <a:buNone/>
            </a:pPr>
            <a:r>
              <a:t/>
            </a:r>
            <a:endParaRPr sz="3400"/>
          </a:p>
        </p:txBody>
      </p:sp>
      <p:sp>
        <p:nvSpPr>
          <p:cNvPr id="487" name="Google Shape;487;p18"/>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500"/>
                                        <p:tgtEl>
                                          <p:spTgt spid="478"/>
                                        </p:tgtEl>
                                      </p:cBhvr>
                                    </p:animEffect>
                                  </p:childTnLst>
                                </p:cTn>
                              </p:par>
                              <p:par>
                                <p:cTn fill="hold" nodeType="withEffect" presetClass="entr" presetID="23" presetSubtype="16">
                                  <p:stCondLst>
                                    <p:cond delay="0"/>
                                  </p:stCondLst>
                                  <p:childTnLst>
                                    <p:set>
                                      <p:cBhvr>
                                        <p:cTn dur="1" fill="hold">
                                          <p:stCondLst>
                                            <p:cond delay="0"/>
                                          </p:stCondLst>
                                        </p:cTn>
                                        <p:tgtEl>
                                          <p:spTgt spid="483"/>
                                        </p:tgtEl>
                                        <p:attrNameLst>
                                          <p:attrName>style.visibility</p:attrName>
                                        </p:attrNameLst>
                                      </p:cBhvr>
                                      <p:to>
                                        <p:strVal val="visible"/>
                                      </p:to>
                                    </p:set>
                                    <p:anim calcmode="lin" valueType="num">
                                      <p:cBhvr additive="base">
                                        <p:cTn dur="500"/>
                                        <p:tgtEl>
                                          <p:spTgt spid="483"/>
                                        </p:tgtEl>
                                        <p:attrNameLst>
                                          <p:attrName>ppt_w</p:attrName>
                                        </p:attrNameLst>
                                      </p:cBhvr>
                                      <p:tavLst>
                                        <p:tav fmla="" tm="0">
                                          <p:val>
                                            <p:strVal val="0"/>
                                          </p:val>
                                        </p:tav>
                                        <p:tav fmla="" tm="100000">
                                          <p:val>
                                            <p:strVal val="#ppt_w"/>
                                          </p:val>
                                        </p:tav>
                                      </p:tavLst>
                                    </p:anim>
                                    <p:anim calcmode="lin" valueType="num">
                                      <p:cBhvr additive="base">
                                        <p:cTn dur="500"/>
                                        <p:tgtEl>
                                          <p:spTgt spid="48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84"/>
                                        </p:tgtEl>
                                        <p:attrNameLst>
                                          <p:attrName>style.visibility</p:attrName>
                                        </p:attrNameLst>
                                      </p:cBhvr>
                                      <p:to>
                                        <p:strVal val="visible"/>
                                      </p:to>
                                    </p:set>
                                    <p:anim calcmode="lin" valueType="num">
                                      <p:cBhvr additive="base">
                                        <p:cTn dur="500"/>
                                        <p:tgtEl>
                                          <p:spTgt spid="484"/>
                                        </p:tgtEl>
                                        <p:attrNameLst>
                                          <p:attrName>ppt_w</p:attrName>
                                        </p:attrNameLst>
                                      </p:cBhvr>
                                      <p:tavLst>
                                        <p:tav fmla="" tm="0">
                                          <p:val>
                                            <p:strVal val="0"/>
                                          </p:val>
                                        </p:tav>
                                        <p:tav fmla="" tm="100000">
                                          <p:val>
                                            <p:strVal val="#ppt_w"/>
                                          </p:val>
                                        </p:tav>
                                      </p:tavLst>
                                    </p:anim>
                                    <p:anim calcmode="lin" valueType="num">
                                      <p:cBhvr additive="base">
                                        <p:cTn dur="500"/>
                                        <p:tgtEl>
                                          <p:spTgt spid="48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85"/>
                                        </p:tgtEl>
                                        <p:attrNameLst>
                                          <p:attrName>style.visibility</p:attrName>
                                        </p:attrNameLst>
                                      </p:cBhvr>
                                      <p:to>
                                        <p:strVal val="visible"/>
                                      </p:to>
                                    </p:set>
                                    <p:anim calcmode="lin" valueType="num">
                                      <p:cBhvr additive="base">
                                        <p:cTn dur="500"/>
                                        <p:tgtEl>
                                          <p:spTgt spid="485"/>
                                        </p:tgtEl>
                                        <p:attrNameLst>
                                          <p:attrName>ppt_w</p:attrName>
                                        </p:attrNameLst>
                                      </p:cBhvr>
                                      <p:tavLst>
                                        <p:tav fmla="" tm="0">
                                          <p:val>
                                            <p:strVal val="0"/>
                                          </p:val>
                                        </p:tav>
                                        <p:tav fmla="" tm="100000">
                                          <p:val>
                                            <p:strVal val="#ppt_w"/>
                                          </p:val>
                                        </p:tav>
                                      </p:tavLst>
                                    </p:anim>
                                    <p:anim calcmode="lin" valueType="num">
                                      <p:cBhvr additive="base">
                                        <p:cTn dur="500"/>
                                        <p:tgtEl>
                                          <p:spTgt spid="48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60"/>
                                  </p:stCondLst>
                                  <p:childTnLst>
                                    <p:set>
                                      <p:cBhvr>
                                        <p:cTn dur="1" fill="hold">
                                          <p:stCondLst>
                                            <p:cond delay="0"/>
                                          </p:stCondLst>
                                        </p:cTn>
                                        <p:tgtEl>
                                          <p:spTgt spid="479"/>
                                        </p:tgtEl>
                                        <p:attrNameLst>
                                          <p:attrName>style.visibility</p:attrName>
                                        </p:attrNameLst>
                                      </p:cBhvr>
                                      <p:to>
                                        <p:strVal val="visible"/>
                                      </p:to>
                                    </p:set>
                                    <p:animEffect filter="fade" transition="in">
                                      <p:cBhvr>
                                        <p:cTn dur="500"/>
                                        <p:tgtEl>
                                          <p:spTgt spid="479"/>
                                        </p:tgtEl>
                                      </p:cBhvr>
                                    </p:animEffect>
                                  </p:childTnLst>
                                </p:cTn>
                              </p:par>
                              <p:par>
                                <p:cTn fill="hold" nodeType="withEffect" presetClass="entr" presetID="10" presetSubtype="0">
                                  <p:stCondLst>
                                    <p:cond delay="260"/>
                                  </p:stCondLst>
                                  <p:childTnLst>
                                    <p:set>
                                      <p:cBhvr>
                                        <p:cTn dur="1" fill="hold">
                                          <p:stCondLst>
                                            <p:cond delay="0"/>
                                          </p:stCondLst>
                                        </p:cTn>
                                        <p:tgtEl>
                                          <p:spTgt spid="480"/>
                                        </p:tgtEl>
                                        <p:attrNameLst>
                                          <p:attrName>style.visibility</p:attrName>
                                        </p:attrNameLst>
                                      </p:cBhvr>
                                      <p:to>
                                        <p:strVal val="visible"/>
                                      </p:to>
                                    </p:set>
                                    <p:animEffect filter="fade" transition="in">
                                      <p:cBhvr>
                                        <p:cTn dur="500"/>
                                        <p:tgtEl>
                                          <p:spTgt spid="480"/>
                                        </p:tgtEl>
                                      </p:cBhvr>
                                    </p:animEffect>
                                  </p:childTnLst>
                                </p:cTn>
                              </p:par>
                              <p:par>
                                <p:cTn fill="hold" nodeType="withEffect" presetClass="entr" presetID="10" presetSubtype="0">
                                  <p:stCondLst>
                                    <p:cond delay="52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par>
                                <p:cTn fill="hold" nodeType="withEffect" presetClass="entr" presetID="10" presetSubtype="0">
                                  <p:stCondLst>
                                    <p:cond delay="78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7"/>
          <p:cNvSpPr/>
          <p:nvPr/>
        </p:nvSpPr>
        <p:spPr>
          <a:xfrm>
            <a:off x="640080" y="365760"/>
            <a:ext cx="3566160" cy="310896"/>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CÓDIGO FUENTE</a:t>
            </a:r>
            <a:endParaRPr b="0" i="0" sz="1100" u="none" cap="none" strike="noStrike">
              <a:solidFill>
                <a:schemeClr val="dk1"/>
              </a:solidFill>
              <a:latin typeface="Calibri"/>
              <a:ea typeface="Calibri"/>
              <a:cs typeface="Calibri"/>
              <a:sym typeface="Calibri"/>
            </a:endParaRPr>
          </a:p>
        </p:txBody>
      </p:sp>
      <p:sp>
        <p:nvSpPr>
          <p:cNvPr id="464" name="Google Shape;464;p17"/>
          <p:cNvSpPr txBox="1"/>
          <p:nvPr>
            <p:ph type="title"/>
          </p:nvPr>
        </p:nvSpPr>
        <p:spPr>
          <a:xfrm>
            <a:off x="640080" y="777240"/>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3400"/>
              <a:buFont typeface="Georgia"/>
              <a:buNone/>
            </a:pPr>
            <a:r>
              <a:rPr b="1" lang="en-US" sz="3400">
                <a:solidFill>
                  <a:schemeClr val="lt1"/>
                </a:solidFill>
              </a:rPr>
              <a:t>Código del proyecto</a:t>
            </a:r>
            <a:endParaRPr sz="3400"/>
          </a:p>
        </p:txBody>
      </p:sp>
      <p:sp>
        <p:nvSpPr>
          <p:cNvPr id="465" name="Google Shape;465;p17"/>
          <p:cNvSpPr txBox="1"/>
          <p:nvPr/>
        </p:nvSpPr>
        <p:spPr>
          <a:xfrm>
            <a:off x="640080" y="2103120"/>
            <a:ext cx="630936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3200"/>
              <a:buFont typeface="Georgia"/>
              <a:buNone/>
            </a:pPr>
            <a:r>
              <a:rPr b="1" i="0" lang="en-US" sz="3200" u="none" cap="none" strike="noStrike">
                <a:solidFill>
                  <a:schemeClr val="lt1"/>
                </a:solidFill>
                <a:latin typeface="Georgia"/>
                <a:ea typeface="Georgia"/>
                <a:cs typeface="Georgia"/>
                <a:sym typeface="Georgia"/>
              </a:rPr>
              <a:t>Repositorio en GitHub con la versión que se socializa</a:t>
            </a:r>
            <a:endParaRPr b="0" i="0" sz="3200" u="none" cap="none" strike="noStrike">
              <a:solidFill>
                <a:schemeClr val="dk1"/>
              </a:solidFill>
              <a:latin typeface="Calibri"/>
              <a:ea typeface="Calibri"/>
              <a:cs typeface="Calibri"/>
              <a:sym typeface="Calibri"/>
            </a:endParaRPr>
          </a:p>
        </p:txBody>
      </p:sp>
      <p:sp>
        <p:nvSpPr>
          <p:cNvPr id="466" name="Google Shape;466;p17"/>
          <p:cNvSpPr/>
          <p:nvPr/>
        </p:nvSpPr>
        <p:spPr>
          <a:xfrm>
            <a:off x="640080" y="3566160"/>
            <a:ext cx="6035040" cy="731520"/>
          </a:xfrm>
          <a:prstGeom prst="roundRect">
            <a:avLst>
              <a:gd fmla="val 50000" name="adj"/>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2400"/>
              <a:buFont typeface="Calibri"/>
              <a:buNone/>
            </a:pPr>
            <a:r>
              <a:rPr b="1" i="0" lang="en-US" sz="2400" u="none" cap="none" strike="noStrike">
                <a:solidFill>
                  <a:schemeClr val="accent2"/>
                </a:solidFill>
                <a:latin typeface="Calibri"/>
                <a:ea typeface="Calibri"/>
                <a:cs typeface="Calibri"/>
                <a:sym typeface="Calibri"/>
              </a:rPr>
              <a:t>github.com/dasanmos/serena</a:t>
            </a:r>
            <a:endParaRPr b="0" i="0" sz="2400" u="none" cap="none" strike="noStrike">
              <a:solidFill>
                <a:schemeClr val="dk1"/>
              </a:solidFill>
              <a:latin typeface="Calibri"/>
              <a:ea typeface="Calibri"/>
              <a:cs typeface="Calibri"/>
              <a:sym typeface="Calibri"/>
            </a:endParaRPr>
          </a:p>
        </p:txBody>
      </p:sp>
      <p:sp>
        <p:nvSpPr>
          <p:cNvPr id="467" name="Google Shape;467;p17"/>
          <p:cNvSpPr/>
          <p:nvPr/>
        </p:nvSpPr>
        <p:spPr>
          <a:xfrm>
            <a:off x="640080" y="4617720"/>
            <a:ext cx="6035040" cy="685800"/>
          </a:xfrm>
          <a:prstGeom prst="roundRect">
            <a:avLst>
              <a:gd fmla="val 18667" name="adj"/>
            </a:avLst>
          </a:prstGeom>
          <a:solidFill>
            <a:schemeClr val="dk2">
              <a:alpha val="7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7"/>
          <p:cNvSpPr txBox="1"/>
          <p:nvPr/>
        </p:nvSpPr>
        <p:spPr>
          <a:xfrm>
            <a:off x="960120" y="4617720"/>
            <a:ext cx="54864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El README explica instalación, roles y estructura</a:t>
            </a:r>
            <a:endParaRPr b="0" i="0" sz="1800" u="none" cap="none" strike="noStrike">
              <a:solidFill>
                <a:schemeClr val="dk1"/>
              </a:solidFill>
              <a:latin typeface="Calibri"/>
              <a:ea typeface="Calibri"/>
              <a:cs typeface="Calibri"/>
              <a:sym typeface="Calibri"/>
            </a:endParaRPr>
          </a:p>
        </p:txBody>
      </p:sp>
      <p:sp>
        <p:nvSpPr>
          <p:cNvPr id="469" name="Google Shape;469;p17"/>
          <p:cNvSpPr/>
          <p:nvPr/>
        </p:nvSpPr>
        <p:spPr>
          <a:xfrm>
            <a:off x="7818120" y="1783080"/>
            <a:ext cx="3730752" cy="4297680"/>
          </a:xfrm>
          <a:prstGeom prst="roundRect">
            <a:avLst>
              <a:gd fmla="val 4902" name="adj"/>
            </a:avLst>
          </a:prstGeom>
          <a:solidFill>
            <a:schemeClr val="lt1"/>
          </a:solidFill>
          <a:ln>
            <a:noFill/>
          </a:ln>
          <a:effectLst>
            <a:outerShdw blurRad="101600" rotWithShape="0" algn="bl" dir="5400000" dist="25400">
              <a:srgbClr val="000000">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ódigo QR para abrir el repositorio de Serena en GitHub" id="470" name="Google Shape;470;p17"/>
          <p:cNvPicPr preferRelativeResize="0"/>
          <p:nvPr/>
        </p:nvPicPr>
        <p:blipFill rotWithShape="1">
          <a:blip r:embed="rId3">
            <a:alphaModFix/>
          </a:blip>
          <a:srcRect b="0" l="0" r="0" t="0"/>
          <a:stretch/>
        </p:blipFill>
        <p:spPr>
          <a:xfrm>
            <a:off x="8138160" y="2103120"/>
            <a:ext cx="3090672" cy="3090672"/>
          </a:xfrm>
          <a:prstGeom prst="rect">
            <a:avLst/>
          </a:prstGeom>
          <a:noFill/>
          <a:ln>
            <a:noFill/>
          </a:ln>
        </p:spPr>
      </p:pic>
      <p:sp>
        <p:nvSpPr>
          <p:cNvPr id="471" name="Google Shape;471;p17"/>
          <p:cNvSpPr txBox="1"/>
          <p:nvPr/>
        </p:nvSpPr>
        <p:spPr>
          <a:xfrm>
            <a:off x="7818120" y="5349240"/>
            <a:ext cx="3730752"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2"/>
              </a:buClr>
              <a:buSzPts val="1800"/>
              <a:buFont typeface="Georgia"/>
              <a:buNone/>
            </a:pPr>
            <a:r>
              <a:rPr b="1" i="0" lang="en-US" sz="1800" u="none" cap="none" strike="noStrike">
                <a:solidFill>
                  <a:schemeClr val="accent2"/>
                </a:solidFill>
                <a:latin typeface="Georgia"/>
                <a:ea typeface="Georgia"/>
                <a:cs typeface="Georgia"/>
                <a:sym typeface="Georgia"/>
              </a:rPr>
              <a:t>Escanea para entrar</a:t>
            </a:r>
            <a:endParaRPr b="0" i="0" sz="1800" u="none" cap="none" strike="noStrike">
              <a:solidFill>
                <a:schemeClr val="dk1"/>
              </a:solidFill>
              <a:latin typeface="Calibri"/>
              <a:ea typeface="Calibri"/>
              <a:cs typeface="Calibri"/>
              <a:sym typeface="Calibri"/>
            </a:endParaRPr>
          </a:p>
        </p:txBody>
      </p:sp>
      <p:sp>
        <p:nvSpPr>
          <p:cNvPr id="472" name="Google Shape;472;p17"/>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FFFFFF"/>
                </a:solidFill>
                <a:latin typeface="Calibri"/>
                <a:ea typeface="Calibri"/>
                <a:cs typeface="Calibri"/>
                <a:sym typeface="Calibri"/>
              </a:rPr>
              <a:t>‹#›</a:t>
            </a:fld>
            <a:endParaRPr b="0" i="0" sz="1000" u="none" cap="none" strike="noStrike">
              <a:solidFill>
                <a:srgbClr val="FFFFFF"/>
              </a:solidFill>
              <a:latin typeface="Calibri"/>
              <a:ea typeface="Calibri"/>
              <a:cs typeface="Calibri"/>
              <a:sym typeface="Calibri"/>
            </a:endParaRPr>
          </a:p>
        </p:txBody>
      </p:sp>
    </p:spTree>
  </p:cSld>
  <p:clrMapOvr>
    <a:masterClrMapping/>
  </p:clrMapOvr>
  <p:transition spd="med">
    <p:wipe dir="l"/>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500"/>
                                        <p:tgtEl>
                                          <p:spTgt spid="463"/>
                                        </p:tgtEl>
                                      </p:cBhvr>
                                    </p:animEffect>
                                  </p:childTnLst>
                                </p:cTn>
                              </p:par>
                              <p:par>
                                <p:cTn fill="hold" nodeType="withEffect" presetClass="entr" presetID="10" presetSubtype="0">
                                  <p:stCondLst>
                                    <p:cond delay="260"/>
                                  </p:stCondLst>
                                  <p:childTnLst>
                                    <p:set>
                                      <p:cBhvr>
                                        <p:cTn dur="1" fill="hold">
                                          <p:stCondLst>
                                            <p:cond delay="0"/>
                                          </p:stCondLst>
                                        </p:cTn>
                                        <p:tgtEl>
                                          <p:spTgt spid="465"/>
                                        </p:tgtEl>
                                        <p:attrNameLst>
                                          <p:attrName>style.visibility</p:attrName>
                                        </p:attrNameLst>
                                      </p:cBhvr>
                                      <p:to>
                                        <p:strVal val="visible"/>
                                      </p:to>
                                    </p:set>
                                    <p:animEffect filter="fade" transition="in">
                                      <p:cBhvr>
                                        <p:cTn dur="500"/>
                                        <p:tgtEl>
                                          <p:spTgt spid="465"/>
                                        </p:tgtEl>
                                      </p:cBhvr>
                                    </p:animEffect>
                                  </p:childTnLst>
                                </p:cTn>
                              </p:par>
                              <p:par>
                                <p:cTn fill="hold" nodeType="withEffect" presetClass="entr" presetID="10" presetSubtype="0">
                                  <p:stCondLst>
                                    <p:cond delay="520"/>
                                  </p:stCondLst>
                                  <p:childTnLst>
                                    <p:set>
                                      <p:cBhvr>
                                        <p:cTn dur="1" fill="hold">
                                          <p:stCondLst>
                                            <p:cond delay="0"/>
                                          </p:stCondLst>
                                        </p:cTn>
                                        <p:tgtEl>
                                          <p:spTgt spid="466"/>
                                        </p:tgtEl>
                                        <p:attrNameLst>
                                          <p:attrName>style.visibility</p:attrName>
                                        </p:attrNameLst>
                                      </p:cBhvr>
                                      <p:to>
                                        <p:strVal val="visible"/>
                                      </p:to>
                                    </p:set>
                                    <p:animEffect filter="fade" transition="in">
                                      <p:cBhvr>
                                        <p:cTn dur="500"/>
                                        <p:tgtEl>
                                          <p:spTgt spid="466"/>
                                        </p:tgtEl>
                                      </p:cBhvr>
                                    </p:animEffect>
                                  </p:childTnLst>
                                </p:cTn>
                              </p:par>
                              <p:par>
                                <p:cTn fill="hold" nodeType="withEffect" presetClass="entr" presetID="10" presetSubtype="0">
                                  <p:stCondLst>
                                    <p:cond delay="780"/>
                                  </p:stCondLst>
                                  <p:childTnLst>
                                    <p:set>
                                      <p:cBhvr>
                                        <p:cTn dur="1" fill="hold">
                                          <p:stCondLst>
                                            <p:cond delay="0"/>
                                          </p:stCondLst>
                                        </p:cTn>
                                        <p:tgtEl>
                                          <p:spTgt spid="467"/>
                                        </p:tgtEl>
                                        <p:attrNameLst>
                                          <p:attrName>style.visibility</p:attrName>
                                        </p:attrNameLst>
                                      </p:cBhvr>
                                      <p:to>
                                        <p:strVal val="visible"/>
                                      </p:to>
                                    </p:set>
                                    <p:animEffect filter="fade" transition="in">
                                      <p:cBhvr>
                                        <p:cTn dur="500"/>
                                        <p:tgtEl>
                                          <p:spTgt spid="467"/>
                                        </p:tgtEl>
                                      </p:cBhvr>
                                    </p:animEffect>
                                  </p:childTnLst>
                                </p:cTn>
                              </p:par>
                              <p:par>
                                <p:cTn fill="hold" nodeType="withEffect" presetClass="entr" presetID="10" presetSubtype="0">
                                  <p:stCondLst>
                                    <p:cond delay="780"/>
                                  </p:stCondLst>
                                  <p:childTnLst>
                                    <p:set>
                                      <p:cBhvr>
                                        <p:cTn dur="1" fill="hold">
                                          <p:stCondLst>
                                            <p:cond delay="0"/>
                                          </p:stCondLst>
                                        </p:cTn>
                                        <p:tgtEl>
                                          <p:spTgt spid="468"/>
                                        </p:tgtEl>
                                        <p:attrNameLst>
                                          <p:attrName>style.visibility</p:attrName>
                                        </p:attrNameLst>
                                      </p:cBhvr>
                                      <p:to>
                                        <p:strVal val="visible"/>
                                      </p:to>
                                    </p:set>
                                    <p:animEffect filter="fade" transition="in">
                                      <p:cBhvr>
                                        <p:cTn dur="500"/>
                                        <p:tgtEl>
                                          <p:spTgt spid="468"/>
                                        </p:tgtEl>
                                      </p:cBhvr>
                                    </p:animEffect>
                                  </p:childTnLst>
                                </p:cTn>
                              </p:par>
                              <p:par>
                                <p:cTn fill="hold" nodeType="withEffect" presetClass="entr" presetID="23" presetSubtype="16">
                                  <p:stCondLst>
                                    <p:cond delay="1040"/>
                                  </p:stCondLst>
                                  <p:childTnLst>
                                    <p:set>
                                      <p:cBhvr>
                                        <p:cTn dur="1" fill="hold">
                                          <p:stCondLst>
                                            <p:cond delay="0"/>
                                          </p:stCondLst>
                                        </p:cTn>
                                        <p:tgtEl>
                                          <p:spTgt spid="469"/>
                                        </p:tgtEl>
                                        <p:attrNameLst>
                                          <p:attrName>style.visibility</p:attrName>
                                        </p:attrNameLst>
                                      </p:cBhvr>
                                      <p:to>
                                        <p:strVal val="visible"/>
                                      </p:to>
                                    </p:set>
                                    <p:anim calcmode="lin" valueType="num">
                                      <p:cBhvr additive="base">
                                        <p:cTn dur="500"/>
                                        <p:tgtEl>
                                          <p:spTgt spid="469"/>
                                        </p:tgtEl>
                                        <p:attrNameLst>
                                          <p:attrName>ppt_w</p:attrName>
                                        </p:attrNameLst>
                                      </p:cBhvr>
                                      <p:tavLst>
                                        <p:tav fmla="" tm="0">
                                          <p:val>
                                            <p:strVal val="0"/>
                                          </p:val>
                                        </p:tav>
                                        <p:tav fmla="" tm="100000">
                                          <p:val>
                                            <p:strVal val="#ppt_w"/>
                                          </p:val>
                                        </p:tav>
                                      </p:tavLst>
                                    </p:anim>
                                    <p:anim calcmode="lin" valueType="num">
                                      <p:cBhvr additive="base">
                                        <p:cTn dur="500"/>
                                        <p:tgtEl>
                                          <p:spTgt spid="46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040"/>
                                  </p:stCondLst>
                                  <p:childTnLst>
                                    <p:set>
                                      <p:cBhvr>
                                        <p:cTn dur="1" fill="hold">
                                          <p:stCondLst>
                                            <p:cond delay="0"/>
                                          </p:stCondLst>
                                        </p:cTn>
                                        <p:tgtEl>
                                          <p:spTgt spid="470"/>
                                        </p:tgtEl>
                                        <p:attrNameLst>
                                          <p:attrName>style.visibility</p:attrName>
                                        </p:attrNameLst>
                                      </p:cBhvr>
                                      <p:to>
                                        <p:strVal val="visible"/>
                                      </p:to>
                                    </p:set>
                                    <p:anim calcmode="lin" valueType="num">
                                      <p:cBhvr additive="base">
                                        <p:cTn dur="500"/>
                                        <p:tgtEl>
                                          <p:spTgt spid="470"/>
                                        </p:tgtEl>
                                        <p:attrNameLst>
                                          <p:attrName>ppt_w</p:attrName>
                                        </p:attrNameLst>
                                      </p:cBhvr>
                                      <p:tavLst>
                                        <p:tav fmla="" tm="0">
                                          <p:val>
                                            <p:strVal val="0"/>
                                          </p:val>
                                        </p:tav>
                                        <p:tav fmla="" tm="100000">
                                          <p:val>
                                            <p:strVal val="#ppt_w"/>
                                          </p:val>
                                        </p:tav>
                                      </p:tavLst>
                                    </p:anim>
                                    <p:anim calcmode="lin" valueType="num">
                                      <p:cBhvr additive="base">
                                        <p:cTn dur="500"/>
                                        <p:tgtEl>
                                          <p:spTgt spid="47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040"/>
                                  </p:stCondLst>
                                  <p:childTnLst>
                                    <p:set>
                                      <p:cBhvr>
                                        <p:cTn dur="1" fill="hold">
                                          <p:stCondLst>
                                            <p:cond delay="0"/>
                                          </p:stCondLst>
                                        </p:cTn>
                                        <p:tgtEl>
                                          <p:spTgt spid="471"/>
                                        </p:tgtEl>
                                        <p:attrNameLst>
                                          <p:attrName>style.visibility</p:attrName>
                                        </p:attrNameLst>
                                      </p:cBhvr>
                                      <p:to>
                                        <p:strVal val="visible"/>
                                      </p:to>
                                    </p:set>
                                    <p:anim calcmode="lin" valueType="num">
                                      <p:cBhvr additive="base">
                                        <p:cTn dur="500"/>
                                        <p:tgtEl>
                                          <p:spTgt spid="471"/>
                                        </p:tgtEl>
                                        <p:attrNameLst>
                                          <p:attrName>ppt_w</p:attrName>
                                        </p:attrNameLst>
                                      </p:cBhvr>
                                      <p:tavLst>
                                        <p:tav fmla="" tm="0">
                                          <p:val>
                                            <p:strVal val="0"/>
                                          </p:val>
                                        </p:tav>
                                        <p:tav fmla="" tm="100000">
                                          <p:val>
                                            <p:strVal val="#ppt_w"/>
                                          </p:val>
                                        </p:tav>
                                      </p:tavLst>
                                    </p:anim>
                                    <p:anim calcmode="lin" valueType="num">
                                      <p:cBhvr additive="base">
                                        <p:cTn dur="500"/>
                                        <p:tgtEl>
                                          <p:spTgt spid="47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3"/>
          <p:cNvSpPr txBox="1"/>
          <p:nvPr/>
        </p:nvSpPr>
        <p:spPr>
          <a:xfrm>
            <a:off x="640080" y="384048"/>
            <a:ext cx="7315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200"/>
              <a:buFont typeface="Calibri"/>
              <a:buNone/>
            </a:pPr>
            <a:r>
              <a:rPr b="1" i="0" lang="en-US" sz="1200" u="none" cap="none" strike="noStrike">
                <a:solidFill>
                  <a:schemeClr val="accent2"/>
                </a:solidFill>
                <a:latin typeface="Calibri"/>
                <a:ea typeface="Calibri"/>
                <a:cs typeface="Calibri"/>
                <a:sym typeface="Calibri"/>
              </a:rPr>
              <a:t>SUSTENTACIÓN</a:t>
            </a:r>
            <a:endParaRPr b="0" i="0" sz="1200" u="none" cap="none" strike="noStrike">
              <a:solidFill>
                <a:schemeClr val="dk1"/>
              </a:solidFill>
              <a:latin typeface="Calibri"/>
              <a:ea typeface="Calibri"/>
              <a:cs typeface="Calibri"/>
              <a:sym typeface="Calibri"/>
            </a:endParaRPr>
          </a:p>
        </p:txBody>
      </p:sp>
      <p:sp>
        <p:nvSpPr>
          <p:cNvPr id="64" name="Google Shape;64;p3"/>
          <p:cNvSpPr txBox="1"/>
          <p:nvPr>
            <p:ph type="title"/>
          </p:nvPr>
        </p:nvSpPr>
        <p:spPr>
          <a:xfrm>
            <a:off x="640080" y="713232"/>
            <a:ext cx="987552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Georgia"/>
              <a:buNone/>
            </a:pPr>
            <a:r>
              <a:rPr b="1" lang="en-US" sz="3400">
                <a:solidFill>
                  <a:schemeClr val="dk2"/>
                </a:solidFill>
              </a:rPr>
              <a:t>Quién presenta qué</a:t>
            </a:r>
            <a:endParaRPr sz="3400"/>
          </a:p>
        </p:txBody>
      </p:sp>
      <p:sp>
        <p:nvSpPr>
          <p:cNvPr id="65" name="Google Shape;65;p3"/>
          <p:cNvSpPr/>
          <p:nvPr/>
        </p:nvSpPr>
        <p:spPr>
          <a:xfrm>
            <a:off x="640080" y="1783080"/>
            <a:ext cx="5349240" cy="1234440"/>
          </a:xfrm>
          <a:prstGeom prst="roundRect">
            <a:avLst>
              <a:gd fmla="val 103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914400" y="2075688"/>
            <a:ext cx="640080" cy="64008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100"/>
              <a:buFont typeface="Georgia"/>
              <a:buNone/>
            </a:pPr>
            <a:r>
              <a:rPr b="1" i="0" lang="en-US" sz="2100" u="none" cap="none" strike="noStrike">
                <a:solidFill>
                  <a:schemeClr val="lt1"/>
                </a:solidFill>
                <a:latin typeface="Georgia"/>
                <a:ea typeface="Georgia"/>
                <a:cs typeface="Georgia"/>
                <a:sym typeface="Georgia"/>
              </a:rPr>
              <a:t>1</a:t>
            </a:r>
            <a:endParaRPr b="0" i="0" sz="2100" u="none" cap="none" strike="noStrike">
              <a:solidFill>
                <a:schemeClr val="dk1"/>
              </a:solidFill>
              <a:latin typeface="Calibri"/>
              <a:ea typeface="Calibri"/>
              <a:cs typeface="Calibri"/>
              <a:sym typeface="Calibri"/>
            </a:endParaRPr>
          </a:p>
        </p:txBody>
      </p:sp>
      <p:sp>
        <p:nvSpPr>
          <p:cNvPr id="67" name="Google Shape;67;p3"/>
          <p:cNvSpPr txBox="1"/>
          <p:nvPr/>
        </p:nvSpPr>
        <p:spPr>
          <a:xfrm>
            <a:off x="1737360" y="2039112"/>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900"/>
              <a:buFont typeface="Georgia"/>
              <a:buNone/>
            </a:pPr>
            <a:r>
              <a:rPr b="1" i="0" lang="en-US" sz="1900" u="none" cap="none" strike="noStrike">
                <a:solidFill>
                  <a:schemeClr val="dk2"/>
                </a:solidFill>
                <a:latin typeface="Georgia"/>
                <a:ea typeface="Georgia"/>
                <a:cs typeface="Georgia"/>
                <a:sym typeface="Georgia"/>
              </a:rPr>
              <a:t>El problema</a:t>
            </a:r>
            <a:endParaRPr b="0" i="0" sz="1900" u="none" cap="none" strike="noStrike">
              <a:solidFill>
                <a:schemeClr val="dk1"/>
              </a:solidFill>
              <a:latin typeface="Calibri"/>
              <a:ea typeface="Calibri"/>
              <a:cs typeface="Calibri"/>
              <a:sym typeface="Calibri"/>
            </a:endParaRPr>
          </a:p>
        </p:txBody>
      </p:sp>
      <p:sp>
        <p:nvSpPr>
          <p:cNvPr id="68" name="Google Shape;68;p3"/>
          <p:cNvSpPr txBox="1"/>
          <p:nvPr/>
        </p:nvSpPr>
        <p:spPr>
          <a:xfrm>
            <a:off x="1737360" y="247802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David Santiago  ·  3 min</a:t>
            </a:r>
            <a:endParaRPr b="0" i="0" sz="1500" u="none" cap="none" strike="noStrike">
              <a:solidFill>
                <a:schemeClr val="dk1"/>
              </a:solidFill>
              <a:latin typeface="Calibri"/>
              <a:ea typeface="Calibri"/>
              <a:cs typeface="Calibri"/>
              <a:sym typeface="Calibri"/>
            </a:endParaRPr>
          </a:p>
        </p:txBody>
      </p:sp>
      <p:sp>
        <p:nvSpPr>
          <p:cNvPr id="69" name="Google Shape;69;p3"/>
          <p:cNvSpPr/>
          <p:nvPr/>
        </p:nvSpPr>
        <p:spPr>
          <a:xfrm>
            <a:off x="6199632" y="1783080"/>
            <a:ext cx="5349240" cy="1234440"/>
          </a:xfrm>
          <a:prstGeom prst="roundRect">
            <a:avLst>
              <a:gd fmla="val 103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6473952" y="2075688"/>
            <a:ext cx="640080" cy="64008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100"/>
              <a:buFont typeface="Georgia"/>
              <a:buNone/>
            </a:pPr>
            <a:r>
              <a:rPr b="1" i="0" lang="en-US" sz="2100" u="none" cap="none" strike="noStrike">
                <a:solidFill>
                  <a:schemeClr val="lt1"/>
                </a:solidFill>
                <a:latin typeface="Georgia"/>
                <a:ea typeface="Georgia"/>
                <a:cs typeface="Georgia"/>
                <a:sym typeface="Georgia"/>
              </a:rPr>
              <a:t>2</a:t>
            </a:r>
            <a:endParaRPr b="0" i="0" sz="2100" u="none" cap="none" strike="noStrike">
              <a:solidFill>
                <a:schemeClr val="dk1"/>
              </a:solidFill>
              <a:latin typeface="Calibri"/>
              <a:ea typeface="Calibri"/>
              <a:cs typeface="Calibri"/>
              <a:sym typeface="Calibri"/>
            </a:endParaRPr>
          </a:p>
        </p:txBody>
      </p:sp>
      <p:sp>
        <p:nvSpPr>
          <p:cNvPr id="71" name="Google Shape;71;p3"/>
          <p:cNvSpPr txBox="1"/>
          <p:nvPr/>
        </p:nvSpPr>
        <p:spPr>
          <a:xfrm>
            <a:off x="7296912" y="2039112"/>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900"/>
              <a:buFont typeface="Georgia"/>
              <a:buNone/>
            </a:pPr>
            <a:r>
              <a:rPr b="1" i="0" lang="en-US" sz="1900" u="none" cap="none" strike="noStrike">
                <a:solidFill>
                  <a:schemeClr val="dk2"/>
                </a:solidFill>
                <a:latin typeface="Georgia"/>
                <a:ea typeface="Georgia"/>
                <a:cs typeface="Georgia"/>
                <a:sym typeface="Georgia"/>
              </a:rPr>
              <a:t>La solución</a:t>
            </a:r>
            <a:endParaRPr b="0" i="0" sz="1900" u="none" cap="none" strike="noStrike">
              <a:solidFill>
                <a:schemeClr val="dk1"/>
              </a:solidFill>
              <a:latin typeface="Calibri"/>
              <a:ea typeface="Calibri"/>
              <a:cs typeface="Calibri"/>
              <a:sym typeface="Calibri"/>
            </a:endParaRPr>
          </a:p>
        </p:txBody>
      </p:sp>
      <p:sp>
        <p:nvSpPr>
          <p:cNvPr id="72" name="Google Shape;72;p3"/>
          <p:cNvSpPr txBox="1"/>
          <p:nvPr/>
        </p:nvSpPr>
        <p:spPr>
          <a:xfrm>
            <a:off x="7296912" y="247802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Ana Sofía  ·  3 min</a:t>
            </a:r>
            <a:endParaRPr b="0" i="0" sz="1500" u="none" cap="none" strike="noStrike">
              <a:solidFill>
                <a:schemeClr val="dk1"/>
              </a:solidFill>
              <a:latin typeface="Calibri"/>
              <a:ea typeface="Calibri"/>
              <a:cs typeface="Calibri"/>
              <a:sym typeface="Calibri"/>
            </a:endParaRPr>
          </a:p>
        </p:txBody>
      </p:sp>
      <p:sp>
        <p:nvSpPr>
          <p:cNvPr id="73" name="Google Shape;73;p3"/>
          <p:cNvSpPr/>
          <p:nvPr/>
        </p:nvSpPr>
        <p:spPr>
          <a:xfrm>
            <a:off x="640080" y="3246120"/>
            <a:ext cx="5349240" cy="1234440"/>
          </a:xfrm>
          <a:prstGeom prst="roundRect">
            <a:avLst>
              <a:gd fmla="val 103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914400" y="3538728"/>
            <a:ext cx="640080" cy="64008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100"/>
              <a:buFont typeface="Georgia"/>
              <a:buNone/>
            </a:pPr>
            <a:r>
              <a:rPr b="1" i="0" lang="en-US" sz="2100" u="none" cap="none" strike="noStrike">
                <a:solidFill>
                  <a:schemeClr val="lt1"/>
                </a:solidFill>
                <a:latin typeface="Georgia"/>
                <a:ea typeface="Georgia"/>
                <a:cs typeface="Georgia"/>
                <a:sym typeface="Georgia"/>
              </a:rPr>
              <a:t>3</a:t>
            </a:r>
            <a:endParaRPr b="0" i="0" sz="2100" u="none" cap="none" strike="noStrike">
              <a:solidFill>
                <a:schemeClr val="dk1"/>
              </a:solidFill>
              <a:latin typeface="Calibri"/>
              <a:ea typeface="Calibri"/>
              <a:cs typeface="Calibri"/>
              <a:sym typeface="Calibri"/>
            </a:endParaRPr>
          </a:p>
        </p:txBody>
      </p:sp>
      <p:sp>
        <p:nvSpPr>
          <p:cNvPr id="75" name="Google Shape;75;p3"/>
          <p:cNvSpPr txBox="1"/>
          <p:nvPr/>
        </p:nvSpPr>
        <p:spPr>
          <a:xfrm>
            <a:off x="1737360" y="3502152"/>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900"/>
              <a:buFont typeface="Georgia"/>
              <a:buNone/>
            </a:pPr>
            <a:r>
              <a:rPr b="1" i="0" lang="en-US" sz="1900" u="none" cap="none" strike="noStrike">
                <a:solidFill>
                  <a:schemeClr val="dk2"/>
                </a:solidFill>
                <a:latin typeface="Georgia"/>
                <a:ea typeface="Georgia"/>
                <a:cs typeface="Georgia"/>
                <a:sym typeface="Georgia"/>
              </a:rPr>
              <a:t>El producto</a:t>
            </a:r>
            <a:endParaRPr b="0" i="0" sz="1900" u="none" cap="none" strike="noStrike">
              <a:solidFill>
                <a:schemeClr val="dk1"/>
              </a:solidFill>
              <a:latin typeface="Calibri"/>
              <a:ea typeface="Calibri"/>
              <a:cs typeface="Calibri"/>
              <a:sym typeface="Calibri"/>
            </a:endParaRPr>
          </a:p>
        </p:txBody>
      </p:sp>
      <p:sp>
        <p:nvSpPr>
          <p:cNvPr id="76" name="Google Shape;76;p3"/>
          <p:cNvSpPr txBox="1"/>
          <p:nvPr/>
        </p:nvSpPr>
        <p:spPr>
          <a:xfrm>
            <a:off x="1737360" y="394106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David Santiago  ·  3 min</a:t>
            </a:r>
            <a:endParaRPr b="0" i="0" sz="1500" u="none" cap="none" strike="noStrike">
              <a:solidFill>
                <a:schemeClr val="dk1"/>
              </a:solidFill>
              <a:latin typeface="Calibri"/>
              <a:ea typeface="Calibri"/>
              <a:cs typeface="Calibri"/>
              <a:sym typeface="Calibri"/>
            </a:endParaRPr>
          </a:p>
        </p:txBody>
      </p:sp>
      <p:sp>
        <p:nvSpPr>
          <p:cNvPr id="77" name="Google Shape;77;p3"/>
          <p:cNvSpPr/>
          <p:nvPr/>
        </p:nvSpPr>
        <p:spPr>
          <a:xfrm>
            <a:off x="6199632" y="3246120"/>
            <a:ext cx="5349240" cy="1234440"/>
          </a:xfrm>
          <a:prstGeom prst="roundRect">
            <a:avLst>
              <a:gd fmla="val 103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6473952" y="3538728"/>
            <a:ext cx="640080" cy="64008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100"/>
              <a:buFont typeface="Georgia"/>
              <a:buNone/>
            </a:pPr>
            <a:r>
              <a:rPr b="1" i="0" lang="en-US" sz="2100" u="none" cap="none" strike="noStrike">
                <a:solidFill>
                  <a:schemeClr val="lt1"/>
                </a:solidFill>
                <a:latin typeface="Georgia"/>
                <a:ea typeface="Georgia"/>
                <a:cs typeface="Georgia"/>
                <a:sym typeface="Georgia"/>
              </a:rPr>
              <a:t>4</a:t>
            </a:r>
            <a:endParaRPr b="0" i="0" sz="2100" u="none" cap="none" strike="noStrike">
              <a:solidFill>
                <a:schemeClr val="dk1"/>
              </a:solidFill>
              <a:latin typeface="Calibri"/>
              <a:ea typeface="Calibri"/>
              <a:cs typeface="Calibri"/>
              <a:sym typeface="Calibri"/>
            </a:endParaRPr>
          </a:p>
        </p:txBody>
      </p:sp>
      <p:sp>
        <p:nvSpPr>
          <p:cNvPr id="79" name="Google Shape;79;p3"/>
          <p:cNvSpPr txBox="1"/>
          <p:nvPr/>
        </p:nvSpPr>
        <p:spPr>
          <a:xfrm>
            <a:off x="7296912" y="3502152"/>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900"/>
              <a:buFont typeface="Georgia"/>
              <a:buNone/>
            </a:pPr>
            <a:r>
              <a:rPr b="1" i="0" lang="en-US" sz="1900" u="none" cap="none" strike="noStrike">
                <a:solidFill>
                  <a:schemeClr val="dk2"/>
                </a:solidFill>
                <a:latin typeface="Georgia"/>
                <a:ea typeface="Georgia"/>
                <a:cs typeface="Georgia"/>
                <a:sym typeface="Georgia"/>
              </a:rPr>
              <a:t>Cómo lo construimos</a:t>
            </a:r>
            <a:endParaRPr b="0" i="0" sz="1900" u="none" cap="none" strike="noStrike">
              <a:solidFill>
                <a:schemeClr val="dk1"/>
              </a:solidFill>
              <a:latin typeface="Calibri"/>
              <a:ea typeface="Calibri"/>
              <a:cs typeface="Calibri"/>
              <a:sym typeface="Calibri"/>
            </a:endParaRPr>
          </a:p>
        </p:txBody>
      </p:sp>
      <p:sp>
        <p:nvSpPr>
          <p:cNvPr id="80" name="Google Shape;80;p3"/>
          <p:cNvSpPr txBox="1"/>
          <p:nvPr/>
        </p:nvSpPr>
        <p:spPr>
          <a:xfrm>
            <a:off x="7296912" y="394106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Ana Sofía  ·  3 min</a:t>
            </a:r>
            <a:endParaRPr b="0" i="0" sz="1500" u="none" cap="none" strike="noStrike">
              <a:solidFill>
                <a:schemeClr val="dk1"/>
              </a:solidFill>
              <a:latin typeface="Calibri"/>
              <a:ea typeface="Calibri"/>
              <a:cs typeface="Calibri"/>
              <a:sym typeface="Calibri"/>
            </a:endParaRPr>
          </a:p>
        </p:txBody>
      </p:sp>
      <p:sp>
        <p:nvSpPr>
          <p:cNvPr id="81" name="Google Shape;81;p3"/>
          <p:cNvSpPr/>
          <p:nvPr/>
        </p:nvSpPr>
        <p:spPr>
          <a:xfrm>
            <a:off x="640080" y="4709160"/>
            <a:ext cx="5349240" cy="1234440"/>
          </a:xfrm>
          <a:prstGeom prst="roundRect">
            <a:avLst>
              <a:gd fmla="val 103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914400" y="5001768"/>
            <a:ext cx="640080" cy="64008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100"/>
              <a:buFont typeface="Georgia"/>
              <a:buNone/>
            </a:pPr>
            <a:r>
              <a:rPr b="1" i="0" lang="en-US" sz="2100" u="none" cap="none" strike="noStrike">
                <a:solidFill>
                  <a:schemeClr val="lt1"/>
                </a:solidFill>
                <a:latin typeface="Georgia"/>
                <a:ea typeface="Georgia"/>
                <a:cs typeface="Georgia"/>
                <a:sym typeface="Georgia"/>
              </a:rPr>
              <a:t>5</a:t>
            </a:r>
            <a:endParaRPr b="0" i="0" sz="2100" u="none" cap="none" strike="noStrike">
              <a:solidFill>
                <a:schemeClr val="dk1"/>
              </a:solidFill>
              <a:latin typeface="Calibri"/>
              <a:ea typeface="Calibri"/>
              <a:cs typeface="Calibri"/>
              <a:sym typeface="Calibri"/>
            </a:endParaRPr>
          </a:p>
        </p:txBody>
      </p:sp>
      <p:sp>
        <p:nvSpPr>
          <p:cNvPr id="83" name="Google Shape;83;p3"/>
          <p:cNvSpPr txBox="1"/>
          <p:nvPr/>
        </p:nvSpPr>
        <p:spPr>
          <a:xfrm>
            <a:off x="1737360" y="4965192"/>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900"/>
              <a:buFont typeface="Georgia"/>
              <a:buNone/>
            </a:pPr>
            <a:r>
              <a:rPr b="1" i="0" lang="en-US" sz="1900" u="none" cap="none" strike="noStrike">
                <a:solidFill>
                  <a:schemeClr val="dk2"/>
                </a:solidFill>
                <a:latin typeface="Georgia"/>
                <a:ea typeface="Georgia"/>
                <a:cs typeface="Georgia"/>
                <a:sym typeface="Georgia"/>
              </a:rPr>
              <a:t>Seguridad y privacidad</a:t>
            </a:r>
            <a:endParaRPr b="0" i="0" sz="1900" u="none" cap="none" strike="noStrike">
              <a:solidFill>
                <a:schemeClr val="dk1"/>
              </a:solidFill>
              <a:latin typeface="Calibri"/>
              <a:ea typeface="Calibri"/>
              <a:cs typeface="Calibri"/>
              <a:sym typeface="Calibri"/>
            </a:endParaRPr>
          </a:p>
        </p:txBody>
      </p:sp>
      <p:sp>
        <p:nvSpPr>
          <p:cNvPr id="84" name="Google Shape;84;p3"/>
          <p:cNvSpPr txBox="1"/>
          <p:nvPr/>
        </p:nvSpPr>
        <p:spPr>
          <a:xfrm>
            <a:off x="1737360" y="540410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David Santiago  ·  2 min</a:t>
            </a:r>
            <a:endParaRPr b="0" i="0" sz="1500" u="none" cap="none" strike="noStrike">
              <a:solidFill>
                <a:schemeClr val="dk1"/>
              </a:solidFill>
              <a:latin typeface="Calibri"/>
              <a:ea typeface="Calibri"/>
              <a:cs typeface="Calibri"/>
              <a:sym typeface="Calibri"/>
            </a:endParaRPr>
          </a:p>
        </p:txBody>
      </p:sp>
      <p:sp>
        <p:nvSpPr>
          <p:cNvPr id="85" name="Google Shape;85;p3"/>
          <p:cNvSpPr/>
          <p:nvPr/>
        </p:nvSpPr>
        <p:spPr>
          <a:xfrm>
            <a:off x="6199632" y="4709160"/>
            <a:ext cx="5349240" cy="1234440"/>
          </a:xfrm>
          <a:prstGeom prst="roundRect">
            <a:avLst>
              <a:gd fmla="val 1037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6473952" y="5001768"/>
            <a:ext cx="640080" cy="640080"/>
          </a:xfrm>
          <a:prstGeom prst="ellipse">
            <a:avLst/>
          </a:prstGeom>
          <a:solidFill>
            <a:schemeClr val="accen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2100"/>
              <a:buFont typeface="Georgia"/>
              <a:buNone/>
            </a:pPr>
            <a:r>
              <a:rPr b="1" i="0" lang="en-US" sz="2100" u="none" cap="none" strike="noStrike">
                <a:solidFill>
                  <a:schemeClr val="lt1"/>
                </a:solidFill>
                <a:latin typeface="Georgia"/>
                <a:ea typeface="Georgia"/>
                <a:cs typeface="Georgia"/>
                <a:sym typeface="Georgia"/>
              </a:rPr>
              <a:t>6</a:t>
            </a:r>
            <a:endParaRPr b="0" i="0" sz="2100" u="none" cap="none" strike="noStrike">
              <a:solidFill>
                <a:schemeClr val="dk1"/>
              </a:solidFill>
              <a:latin typeface="Calibri"/>
              <a:ea typeface="Calibri"/>
              <a:cs typeface="Calibri"/>
              <a:sym typeface="Calibri"/>
            </a:endParaRPr>
          </a:p>
        </p:txBody>
      </p:sp>
      <p:sp>
        <p:nvSpPr>
          <p:cNvPr id="87" name="Google Shape;87;p3"/>
          <p:cNvSpPr txBox="1"/>
          <p:nvPr/>
        </p:nvSpPr>
        <p:spPr>
          <a:xfrm>
            <a:off x="7296912" y="4965192"/>
            <a:ext cx="4023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900"/>
              <a:buFont typeface="Georgia"/>
              <a:buNone/>
            </a:pPr>
            <a:r>
              <a:rPr b="1" i="0" lang="en-US" sz="1900" u="none" cap="none" strike="noStrike">
                <a:solidFill>
                  <a:schemeClr val="dk2"/>
                </a:solidFill>
                <a:latin typeface="Georgia"/>
                <a:ea typeface="Georgia"/>
                <a:cs typeface="Georgia"/>
                <a:sym typeface="Georgia"/>
              </a:rPr>
              <a:t>Impacto y demostración</a:t>
            </a:r>
            <a:endParaRPr b="0" i="0" sz="1900" u="none" cap="none" strike="noStrike">
              <a:solidFill>
                <a:schemeClr val="dk1"/>
              </a:solidFill>
              <a:latin typeface="Calibri"/>
              <a:ea typeface="Calibri"/>
              <a:cs typeface="Calibri"/>
              <a:sym typeface="Calibri"/>
            </a:endParaRPr>
          </a:p>
        </p:txBody>
      </p:sp>
      <p:sp>
        <p:nvSpPr>
          <p:cNvPr id="88" name="Google Shape;88;p3"/>
          <p:cNvSpPr txBox="1"/>
          <p:nvPr/>
        </p:nvSpPr>
        <p:spPr>
          <a:xfrm>
            <a:off x="7296912" y="5404104"/>
            <a:ext cx="40233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500"/>
              <a:buFont typeface="Calibri"/>
              <a:buNone/>
            </a:pPr>
            <a:r>
              <a:rPr b="0" i="0" lang="en-US" sz="1500" u="none" cap="none" strike="noStrike">
                <a:solidFill>
                  <a:schemeClr val="accent6"/>
                </a:solidFill>
                <a:latin typeface="Calibri"/>
                <a:ea typeface="Calibri"/>
                <a:cs typeface="Calibri"/>
                <a:sym typeface="Calibri"/>
              </a:rPr>
              <a:t>Ana Sofía y David  ·  3 min</a:t>
            </a:r>
            <a:endParaRPr b="0" i="0" sz="1500" u="none" cap="none" strike="noStrike">
              <a:solidFill>
                <a:schemeClr val="dk1"/>
              </a:solidFill>
              <a:latin typeface="Calibri"/>
              <a:ea typeface="Calibri"/>
              <a:cs typeface="Calibri"/>
              <a:sym typeface="Calibri"/>
            </a:endParaRPr>
          </a:p>
        </p:txBody>
      </p:sp>
      <p:sp>
        <p:nvSpPr>
          <p:cNvPr id="89" name="Google Shape;89;p3"/>
          <p:cNvSpPr txBox="1"/>
          <p:nvPr>
            <p:ph idx="4294967295" type="sldNum"/>
          </p:nvPr>
        </p:nvSpPr>
        <p:spPr>
          <a:xfrm>
            <a:off x="10881360" y="6400800"/>
            <a:ext cx="6675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rgbClr val="4F6B58"/>
                </a:solidFill>
                <a:latin typeface="Calibri"/>
                <a:ea typeface="Calibri"/>
                <a:cs typeface="Calibri"/>
                <a:sym typeface="Calibri"/>
              </a:rPr>
              <a:t>‹#›</a:t>
            </a:fld>
            <a:endParaRPr b="0" i="0" sz="1000" u="none" cap="none" strike="noStrike">
              <a:solidFill>
                <a:srgbClr val="4F6B58"/>
              </a:solidFill>
              <a:latin typeface="Calibri"/>
              <a:ea typeface="Calibri"/>
              <a:cs typeface="Calibri"/>
              <a:sym typeface="Calibri"/>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500"/>
                                        <p:tgtEl>
                                          <p:spTgt spid="63"/>
                                        </p:tgtEl>
                                      </p:cBhvr>
                                    </p:animEffect>
                                  </p:childTnLst>
                                </p:cTn>
                              </p:par>
                              <p:par>
                                <p:cTn fill="hold" nodeType="withEffect" presetClass="entr" presetID="10" presetSubtype="0">
                                  <p:stCondLst>
                                    <p:cond delay="260"/>
                                  </p:stCondLst>
                                  <p:childTnLst>
                                    <p:set>
                                      <p:cBhvr>
                                        <p:cTn dur="1" fill="hold">
                                          <p:stCondLst>
                                            <p:cond delay="0"/>
                                          </p:stCondLst>
                                        </p:cTn>
                                        <p:tgtEl>
                                          <p:spTgt spid="65"/>
                                        </p:tgtEl>
                                        <p:attrNameLst>
                                          <p:attrName>style.visibility</p:attrName>
                                        </p:attrNameLst>
                                      </p:cBhvr>
                                      <p:to>
                                        <p:strVal val="visible"/>
                                      </p:to>
                                    </p:set>
                                    <p:animEffect filter="fade" transition="in">
                                      <p:cBhvr>
                                        <p:cTn dur="500"/>
                                        <p:tgtEl>
                                          <p:spTgt spid="65"/>
                                        </p:tgtEl>
                                      </p:cBhvr>
                                    </p:animEffect>
                                  </p:childTnLst>
                                </p:cTn>
                              </p:par>
                              <p:par>
                                <p:cTn fill="hold" nodeType="withEffect" presetClass="entr" presetID="10" presetSubtype="0">
                                  <p:stCondLst>
                                    <p:cond delay="260"/>
                                  </p:stCondLst>
                                  <p:childTnLst>
                                    <p:set>
                                      <p:cBhvr>
                                        <p:cTn dur="1" fill="hold">
                                          <p:stCondLst>
                                            <p:cond delay="0"/>
                                          </p:stCondLst>
                                        </p:cTn>
                                        <p:tgtEl>
                                          <p:spTgt spid="66"/>
                                        </p:tgtEl>
                                        <p:attrNameLst>
                                          <p:attrName>style.visibility</p:attrName>
                                        </p:attrNameLst>
                                      </p:cBhvr>
                                      <p:to>
                                        <p:strVal val="visible"/>
                                      </p:to>
                                    </p:set>
                                    <p:animEffect filter="fade" transition="in">
                                      <p:cBhvr>
                                        <p:cTn dur="500"/>
                                        <p:tgtEl>
                                          <p:spTgt spid="66"/>
                                        </p:tgtEl>
                                      </p:cBhvr>
                                    </p:animEffect>
                                  </p:childTnLst>
                                </p:cTn>
                              </p:par>
                              <p:par>
                                <p:cTn fill="hold" nodeType="withEffect" presetClass="entr" presetID="10" presetSubtype="0">
                                  <p:stCondLst>
                                    <p:cond delay="260"/>
                                  </p:stCondLst>
                                  <p:childTnLst>
                                    <p:set>
                                      <p:cBhvr>
                                        <p:cTn dur="1" fill="hold">
                                          <p:stCondLst>
                                            <p:cond delay="0"/>
                                          </p:stCondLst>
                                        </p:cTn>
                                        <p:tgtEl>
                                          <p:spTgt spid="67"/>
                                        </p:tgtEl>
                                        <p:attrNameLst>
                                          <p:attrName>style.visibility</p:attrName>
                                        </p:attrNameLst>
                                      </p:cBhvr>
                                      <p:to>
                                        <p:strVal val="visible"/>
                                      </p:to>
                                    </p:set>
                                    <p:animEffect filter="fade" transition="in">
                                      <p:cBhvr>
                                        <p:cTn dur="500"/>
                                        <p:tgtEl>
                                          <p:spTgt spid="67"/>
                                        </p:tgtEl>
                                      </p:cBhvr>
                                    </p:animEffect>
                                  </p:childTnLst>
                                </p:cTn>
                              </p:par>
                              <p:par>
                                <p:cTn fill="hold" nodeType="withEffect" presetClass="entr" presetID="10" presetSubtype="0">
                                  <p:stCondLst>
                                    <p:cond delay="260"/>
                                  </p:stCondLst>
                                  <p:childTnLst>
                                    <p:set>
                                      <p:cBhvr>
                                        <p:cTn dur="1" fill="hold">
                                          <p:stCondLst>
                                            <p:cond delay="0"/>
                                          </p:stCondLst>
                                        </p:cTn>
                                        <p:tgtEl>
                                          <p:spTgt spid="68"/>
                                        </p:tgtEl>
                                        <p:attrNameLst>
                                          <p:attrName>style.visibility</p:attrName>
                                        </p:attrNameLst>
                                      </p:cBhvr>
                                      <p:to>
                                        <p:strVal val="visible"/>
                                      </p:to>
                                    </p:set>
                                    <p:animEffect filter="fade" transition="in">
                                      <p:cBhvr>
                                        <p:cTn dur="500"/>
                                        <p:tgtEl>
                                          <p:spTgt spid="68"/>
                                        </p:tgtEl>
                                      </p:cBhvr>
                                    </p:animEffect>
                                  </p:childTnLst>
                                </p:cTn>
                              </p:par>
                              <p:par>
                                <p:cTn fill="hold" nodeType="withEffect" presetClass="entr" presetID="10" presetSubtype="0">
                                  <p:stCondLst>
                                    <p:cond delay="520"/>
                                  </p:stCondLst>
                                  <p:childTnLst>
                                    <p:set>
                                      <p:cBhvr>
                                        <p:cTn dur="1" fill="hold">
                                          <p:stCondLst>
                                            <p:cond delay="0"/>
                                          </p:stCondLst>
                                        </p:cTn>
                                        <p:tgtEl>
                                          <p:spTgt spid="69"/>
                                        </p:tgtEl>
                                        <p:attrNameLst>
                                          <p:attrName>style.visibility</p:attrName>
                                        </p:attrNameLst>
                                      </p:cBhvr>
                                      <p:to>
                                        <p:strVal val="visible"/>
                                      </p:to>
                                    </p:set>
                                    <p:animEffect filter="fade" transition="in">
                                      <p:cBhvr>
                                        <p:cTn dur="500"/>
                                        <p:tgtEl>
                                          <p:spTgt spid="69"/>
                                        </p:tgtEl>
                                      </p:cBhvr>
                                    </p:animEffect>
                                  </p:childTnLst>
                                </p:cTn>
                              </p:par>
                              <p:par>
                                <p:cTn fill="hold" nodeType="withEffect" presetClass="entr" presetID="10" presetSubtype="0">
                                  <p:stCondLst>
                                    <p:cond delay="520"/>
                                  </p:stCondLst>
                                  <p:childTnLst>
                                    <p:set>
                                      <p:cBhvr>
                                        <p:cTn dur="1" fill="hold">
                                          <p:stCondLst>
                                            <p:cond delay="0"/>
                                          </p:stCondLst>
                                        </p:cTn>
                                        <p:tgtEl>
                                          <p:spTgt spid="70"/>
                                        </p:tgtEl>
                                        <p:attrNameLst>
                                          <p:attrName>style.visibility</p:attrName>
                                        </p:attrNameLst>
                                      </p:cBhvr>
                                      <p:to>
                                        <p:strVal val="visible"/>
                                      </p:to>
                                    </p:set>
                                    <p:animEffect filter="fade" transition="in">
                                      <p:cBhvr>
                                        <p:cTn dur="500"/>
                                        <p:tgtEl>
                                          <p:spTgt spid="70"/>
                                        </p:tgtEl>
                                      </p:cBhvr>
                                    </p:animEffect>
                                  </p:childTnLst>
                                </p:cTn>
                              </p:par>
                              <p:par>
                                <p:cTn fill="hold" nodeType="withEffect" presetClass="entr" presetID="10" presetSubtype="0">
                                  <p:stCondLst>
                                    <p:cond delay="520"/>
                                  </p:stCondLst>
                                  <p:childTnLst>
                                    <p:set>
                                      <p:cBhvr>
                                        <p:cTn dur="1" fill="hold">
                                          <p:stCondLst>
                                            <p:cond delay="0"/>
                                          </p:stCondLst>
                                        </p:cTn>
                                        <p:tgtEl>
                                          <p:spTgt spid="71"/>
                                        </p:tgtEl>
                                        <p:attrNameLst>
                                          <p:attrName>style.visibility</p:attrName>
                                        </p:attrNameLst>
                                      </p:cBhvr>
                                      <p:to>
                                        <p:strVal val="visible"/>
                                      </p:to>
                                    </p:set>
                                    <p:animEffect filter="fade" transition="in">
                                      <p:cBhvr>
                                        <p:cTn dur="500"/>
                                        <p:tgtEl>
                                          <p:spTgt spid="71"/>
                                        </p:tgtEl>
                                      </p:cBhvr>
                                    </p:animEffect>
                                  </p:childTnLst>
                                </p:cTn>
                              </p:par>
                              <p:par>
                                <p:cTn fill="hold" nodeType="withEffect" presetClass="entr" presetID="10" presetSubtype="0">
                                  <p:stCondLst>
                                    <p:cond delay="520"/>
                                  </p:stCondLst>
                                  <p:childTnLst>
                                    <p:set>
                                      <p:cBhvr>
                                        <p:cTn dur="1" fill="hold">
                                          <p:stCondLst>
                                            <p:cond delay="0"/>
                                          </p:stCondLst>
                                        </p:cTn>
                                        <p:tgtEl>
                                          <p:spTgt spid="72"/>
                                        </p:tgtEl>
                                        <p:attrNameLst>
                                          <p:attrName>style.visibility</p:attrName>
                                        </p:attrNameLst>
                                      </p:cBhvr>
                                      <p:to>
                                        <p:strVal val="visible"/>
                                      </p:to>
                                    </p:set>
                                    <p:animEffect filter="fade" transition="in">
                                      <p:cBhvr>
                                        <p:cTn dur="500"/>
                                        <p:tgtEl>
                                          <p:spTgt spid="72"/>
                                        </p:tgtEl>
                                      </p:cBhvr>
                                    </p:animEffect>
                                  </p:childTnLst>
                                </p:cTn>
                              </p:par>
                              <p:par>
                                <p:cTn fill="hold" nodeType="withEffect" presetClass="entr" presetID="10" presetSubtype="0">
                                  <p:stCondLst>
                                    <p:cond delay="780"/>
                                  </p:stCondLst>
                                  <p:childTnLst>
                                    <p:set>
                                      <p:cBhvr>
                                        <p:cTn dur="1" fill="hold">
                                          <p:stCondLst>
                                            <p:cond delay="0"/>
                                          </p:stCondLst>
                                        </p:cTn>
                                        <p:tgtEl>
                                          <p:spTgt spid="73"/>
                                        </p:tgtEl>
                                        <p:attrNameLst>
                                          <p:attrName>style.visibility</p:attrName>
                                        </p:attrNameLst>
                                      </p:cBhvr>
                                      <p:to>
                                        <p:strVal val="visible"/>
                                      </p:to>
                                    </p:set>
                                    <p:animEffect filter="fade" transition="in">
                                      <p:cBhvr>
                                        <p:cTn dur="500"/>
                                        <p:tgtEl>
                                          <p:spTgt spid="73"/>
                                        </p:tgtEl>
                                      </p:cBhvr>
                                    </p:animEffect>
                                  </p:childTnLst>
                                </p:cTn>
                              </p:par>
                              <p:par>
                                <p:cTn fill="hold" nodeType="withEffect" presetClass="entr" presetID="10" presetSubtype="0">
                                  <p:stCondLst>
                                    <p:cond delay="780"/>
                                  </p:stCondLst>
                                  <p:childTnLst>
                                    <p:set>
                                      <p:cBhvr>
                                        <p:cTn dur="1" fill="hold">
                                          <p:stCondLst>
                                            <p:cond delay="0"/>
                                          </p:stCondLst>
                                        </p:cTn>
                                        <p:tgtEl>
                                          <p:spTgt spid="74"/>
                                        </p:tgtEl>
                                        <p:attrNameLst>
                                          <p:attrName>style.visibility</p:attrName>
                                        </p:attrNameLst>
                                      </p:cBhvr>
                                      <p:to>
                                        <p:strVal val="visible"/>
                                      </p:to>
                                    </p:set>
                                    <p:animEffect filter="fade" transition="in">
                                      <p:cBhvr>
                                        <p:cTn dur="500"/>
                                        <p:tgtEl>
                                          <p:spTgt spid="74"/>
                                        </p:tgtEl>
                                      </p:cBhvr>
                                    </p:animEffect>
                                  </p:childTnLst>
                                </p:cTn>
                              </p:par>
                              <p:par>
                                <p:cTn fill="hold" nodeType="withEffect" presetClass="entr" presetID="10" presetSubtype="0">
                                  <p:stCondLst>
                                    <p:cond delay="780"/>
                                  </p:stCondLst>
                                  <p:childTnLst>
                                    <p:set>
                                      <p:cBhvr>
                                        <p:cTn dur="1" fill="hold">
                                          <p:stCondLst>
                                            <p:cond delay="0"/>
                                          </p:stCondLst>
                                        </p:cTn>
                                        <p:tgtEl>
                                          <p:spTgt spid="75"/>
                                        </p:tgtEl>
                                        <p:attrNameLst>
                                          <p:attrName>style.visibility</p:attrName>
                                        </p:attrNameLst>
                                      </p:cBhvr>
                                      <p:to>
                                        <p:strVal val="visible"/>
                                      </p:to>
                                    </p:set>
                                    <p:animEffect filter="fade" transition="in">
                                      <p:cBhvr>
                                        <p:cTn dur="500"/>
                                        <p:tgtEl>
                                          <p:spTgt spid="75"/>
                                        </p:tgtEl>
                                      </p:cBhvr>
                                    </p:animEffect>
                                  </p:childTnLst>
                                </p:cTn>
                              </p:par>
                              <p:par>
                                <p:cTn fill="hold" nodeType="withEffect" presetClass="entr" presetID="10" presetSubtype="0">
                                  <p:stCondLst>
                                    <p:cond delay="780"/>
                                  </p:stCondLst>
                                  <p:childTnLst>
                                    <p:set>
                                      <p:cBhvr>
                                        <p:cTn dur="1" fill="hold">
                                          <p:stCondLst>
                                            <p:cond delay="0"/>
                                          </p:stCondLst>
                                        </p:cTn>
                                        <p:tgtEl>
                                          <p:spTgt spid="76"/>
                                        </p:tgtEl>
                                        <p:attrNameLst>
                                          <p:attrName>style.visibility</p:attrName>
                                        </p:attrNameLst>
                                      </p:cBhvr>
                                      <p:to>
                                        <p:strVal val="visible"/>
                                      </p:to>
                                    </p:set>
                                    <p:animEffect filter="fade" transition="in">
                                      <p:cBhvr>
                                        <p:cTn dur="500"/>
                                        <p:tgtEl>
                                          <p:spTgt spid="76"/>
                                        </p:tgtEl>
                                      </p:cBhvr>
                                    </p:animEffect>
                                  </p:childTnLst>
                                </p:cTn>
                              </p:par>
                              <p:par>
                                <p:cTn fill="hold" nodeType="withEffect" presetClass="entr" presetID="10" presetSubtype="0">
                                  <p:stCondLst>
                                    <p:cond delay="1040"/>
                                  </p:stCondLst>
                                  <p:childTnLst>
                                    <p:set>
                                      <p:cBhvr>
                                        <p:cTn dur="1" fill="hold">
                                          <p:stCondLst>
                                            <p:cond delay="0"/>
                                          </p:stCondLst>
                                        </p:cTn>
                                        <p:tgtEl>
                                          <p:spTgt spid="77"/>
                                        </p:tgtEl>
                                        <p:attrNameLst>
                                          <p:attrName>style.visibility</p:attrName>
                                        </p:attrNameLst>
                                      </p:cBhvr>
                                      <p:to>
                                        <p:strVal val="visible"/>
                                      </p:to>
                                    </p:set>
                                    <p:animEffect filter="fade" transition="in">
                                      <p:cBhvr>
                                        <p:cTn dur="500"/>
                                        <p:tgtEl>
                                          <p:spTgt spid="77"/>
                                        </p:tgtEl>
                                      </p:cBhvr>
                                    </p:animEffect>
                                  </p:childTnLst>
                                </p:cTn>
                              </p:par>
                              <p:par>
                                <p:cTn fill="hold" nodeType="withEffect" presetClass="entr" presetID="10" presetSubtype="0">
                                  <p:stCondLst>
                                    <p:cond delay="1040"/>
                                  </p:stCondLst>
                                  <p:childTnLst>
                                    <p:set>
                                      <p:cBhvr>
                                        <p:cTn dur="1" fill="hold">
                                          <p:stCondLst>
                                            <p:cond delay="0"/>
                                          </p:stCondLst>
                                        </p:cTn>
                                        <p:tgtEl>
                                          <p:spTgt spid="78"/>
                                        </p:tgtEl>
                                        <p:attrNameLst>
                                          <p:attrName>style.visibility</p:attrName>
                                        </p:attrNameLst>
                                      </p:cBhvr>
                                      <p:to>
                                        <p:strVal val="visible"/>
                                      </p:to>
                                    </p:set>
                                    <p:animEffect filter="fade" transition="in">
                                      <p:cBhvr>
                                        <p:cTn dur="500"/>
                                        <p:tgtEl>
                                          <p:spTgt spid="78"/>
                                        </p:tgtEl>
                                      </p:cBhvr>
                                    </p:animEffect>
                                  </p:childTnLst>
                                </p:cTn>
                              </p:par>
                              <p:par>
                                <p:cTn fill="hold" nodeType="withEffect" presetClass="entr" presetID="10" presetSubtype="0">
                                  <p:stCondLst>
                                    <p:cond delay="1040"/>
                                  </p:stCondLst>
                                  <p:childTnLst>
                                    <p:set>
                                      <p:cBhvr>
                                        <p:cTn dur="1" fill="hold">
                                          <p:stCondLst>
                                            <p:cond delay="0"/>
                                          </p:stCondLst>
                                        </p:cTn>
                                        <p:tgtEl>
                                          <p:spTgt spid="79"/>
                                        </p:tgtEl>
                                        <p:attrNameLst>
                                          <p:attrName>style.visibility</p:attrName>
                                        </p:attrNameLst>
                                      </p:cBhvr>
                                      <p:to>
                                        <p:strVal val="visible"/>
                                      </p:to>
                                    </p:set>
                                    <p:animEffect filter="fade" transition="in">
                                      <p:cBhvr>
                                        <p:cTn dur="500"/>
                                        <p:tgtEl>
                                          <p:spTgt spid="79"/>
                                        </p:tgtEl>
                                      </p:cBhvr>
                                    </p:animEffect>
                                  </p:childTnLst>
                                </p:cTn>
                              </p:par>
                              <p:par>
                                <p:cTn fill="hold" nodeType="withEffect" presetClass="entr" presetID="10" presetSubtype="0">
                                  <p:stCondLst>
                                    <p:cond delay="1040"/>
                                  </p:stCondLst>
                                  <p:childTnLst>
                                    <p:set>
                                      <p:cBhvr>
                                        <p:cTn dur="1" fill="hold">
                                          <p:stCondLst>
                                            <p:cond delay="0"/>
                                          </p:stCondLst>
                                        </p:cTn>
                                        <p:tgtEl>
                                          <p:spTgt spid="80"/>
                                        </p:tgtEl>
                                        <p:attrNameLst>
                                          <p:attrName>style.visibility</p:attrName>
                                        </p:attrNameLst>
                                      </p:cBhvr>
                                      <p:to>
                                        <p:strVal val="visible"/>
                                      </p:to>
                                    </p:set>
                                    <p:animEffect filter="fade" transition="in">
                                      <p:cBhvr>
                                        <p:cTn dur="500"/>
                                        <p:tgtEl>
                                          <p:spTgt spid="80"/>
                                        </p:tgtEl>
                                      </p:cBhvr>
                                    </p:animEffect>
                                  </p:childTnLst>
                                </p:cTn>
                              </p:par>
                              <p:par>
                                <p:cTn fill="hold" nodeType="withEffect" presetClass="entr" presetID="10" presetSubtype="0">
                                  <p:stCondLst>
                                    <p:cond delay="1300"/>
                                  </p:stCondLst>
                                  <p:childTnLst>
                                    <p:set>
                                      <p:cBhvr>
                                        <p:cTn dur="1" fill="hold">
                                          <p:stCondLst>
                                            <p:cond delay="0"/>
                                          </p:stCondLst>
                                        </p:cTn>
                                        <p:tgtEl>
                                          <p:spTgt spid="81"/>
                                        </p:tgtEl>
                                        <p:attrNameLst>
                                          <p:attrName>style.visibility</p:attrName>
                                        </p:attrNameLst>
                                      </p:cBhvr>
                                      <p:to>
                                        <p:strVal val="visible"/>
                                      </p:to>
                                    </p:set>
                                    <p:animEffect filter="fade" transition="in">
                                      <p:cBhvr>
                                        <p:cTn dur="500"/>
                                        <p:tgtEl>
                                          <p:spTgt spid="81"/>
                                        </p:tgtEl>
                                      </p:cBhvr>
                                    </p:animEffect>
                                  </p:childTnLst>
                                </p:cTn>
                              </p:par>
                              <p:par>
                                <p:cTn fill="hold" nodeType="withEffect" presetClass="entr" presetID="10" presetSubtype="0">
                                  <p:stCondLst>
                                    <p:cond delay="1300"/>
                                  </p:stCondLst>
                                  <p:childTnLst>
                                    <p:set>
                                      <p:cBhvr>
                                        <p:cTn dur="1" fill="hold">
                                          <p:stCondLst>
                                            <p:cond delay="0"/>
                                          </p:stCondLst>
                                        </p:cTn>
                                        <p:tgtEl>
                                          <p:spTgt spid="82"/>
                                        </p:tgtEl>
                                        <p:attrNameLst>
                                          <p:attrName>style.visibility</p:attrName>
                                        </p:attrNameLst>
                                      </p:cBhvr>
                                      <p:to>
                                        <p:strVal val="visible"/>
                                      </p:to>
                                    </p:set>
                                    <p:animEffect filter="fade" transition="in">
                                      <p:cBhvr>
                                        <p:cTn dur="500"/>
                                        <p:tgtEl>
                                          <p:spTgt spid="82"/>
                                        </p:tgtEl>
                                      </p:cBhvr>
                                    </p:animEffect>
                                  </p:childTnLst>
                                </p:cTn>
                              </p:par>
                              <p:par>
                                <p:cTn fill="hold" nodeType="withEffect" presetClass="entr" presetID="10" presetSubtype="0">
                                  <p:stCondLst>
                                    <p:cond delay="1300"/>
                                  </p:stCondLst>
                                  <p:childTnLst>
                                    <p:set>
                                      <p:cBhvr>
                                        <p:cTn dur="1" fill="hold">
                                          <p:stCondLst>
                                            <p:cond delay="0"/>
                                          </p:stCondLst>
                                        </p:cTn>
                                        <p:tgtEl>
                                          <p:spTgt spid="83"/>
                                        </p:tgtEl>
                                        <p:attrNameLst>
                                          <p:attrName>style.visibility</p:attrName>
                                        </p:attrNameLst>
                                      </p:cBhvr>
                                      <p:to>
                                        <p:strVal val="visible"/>
                                      </p:to>
                                    </p:set>
                                    <p:animEffect filter="fade" transition="in">
                                      <p:cBhvr>
                                        <p:cTn dur="500"/>
                                        <p:tgtEl>
                                          <p:spTgt spid="83"/>
                                        </p:tgtEl>
                                      </p:cBhvr>
                                    </p:animEffect>
                                  </p:childTnLst>
                                </p:cTn>
                              </p:par>
                              <p:par>
                                <p:cTn fill="hold" nodeType="withEffect" presetClass="entr" presetID="10" presetSubtype="0">
                                  <p:stCondLst>
                                    <p:cond delay="1300"/>
                                  </p:stCondLst>
                                  <p:childTnLst>
                                    <p:set>
                                      <p:cBhvr>
                                        <p:cTn dur="1" fill="hold">
                                          <p:stCondLst>
                                            <p:cond delay="0"/>
                                          </p:stCondLst>
                                        </p:cTn>
                                        <p:tgtEl>
                                          <p:spTgt spid="84"/>
                                        </p:tgtEl>
                                        <p:attrNameLst>
                                          <p:attrName>style.visibility</p:attrName>
                                        </p:attrNameLst>
                                      </p:cBhvr>
                                      <p:to>
                                        <p:strVal val="visible"/>
                                      </p:to>
                                    </p:set>
                                    <p:animEffect filter="fade" transition="in">
                                      <p:cBhvr>
                                        <p:cTn dur="500"/>
                                        <p:tgtEl>
                                          <p:spTgt spid="84"/>
                                        </p:tgtEl>
                                      </p:cBhvr>
                                    </p:animEffect>
                                  </p:childTnLst>
                                </p:cTn>
                              </p:par>
                              <p:par>
                                <p:cTn fill="hold" nodeType="withEffect" presetClass="entr" presetID="10" presetSubtype="0">
                                  <p:stCondLst>
                                    <p:cond delay="156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par>
                                <p:cTn fill="hold" nodeType="withEffect" presetClass="entr" presetID="10" presetSubtype="0">
                                  <p:stCondLst>
                                    <p:cond delay="1560"/>
                                  </p:stCondLst>
                                  <p:childTnLst>
                                    <p:set>
                                      <p:cBhvr>
                                        <p:cTn dur="1" fill="hold">
                                          <p:stCondLst>
                                            <p:cond delay="0"/>
                                          </p:stCondLst>
                                        </p:cTn>
                                        <p:tgtEl>
                                          <p:spTgt spid="86"/>
                                        </p:tgtEl>
                                        <p:attrNameLst>
                                          <p:attrName>style.visibility</p:attrName>
                                        </p:attrNameLst>
                                      </p:cBhvr>
                                      <p:to>
                                        <p:strVal val="visible"/>
                                      </p:to>
                                    </p:set>
                                    <p:animEffect filter="fade" transition="in">
                                      <p:cBhvr>
                                        <p:cTn dur="500"/>
                                        <p:tgtEl>
                                          <p:spTgt spid="86"/>
                                        </p:tgtEl>
                                      </p:cBhvr>
                                    </p:animEffect>
                                  </p:childTnLst>
                                </p:cTn>
                              </p:par>
                              <p:par>
                                <p:cTn fill="hold" nodeType="withEffect" presetClass="entr" presetID="10" presetSubtype="0">
                                  <p:stCondLst>
                                    <p:cond delay="1560"/>
                                  </p:stCondLst>
                                  <p:childTnLst>
                                    <p:set>
                                      <p:cBhvr>
                                        <p:cTn dur="1" fill="hold">
                                          <p:stCondLst>
                                            <p:cond delay="0"/>
                                          </p:stCondLst>
                                        </p:cTn>
                                        <p:tgtEl>
                                          <p:spTgt spid="87"/>
                                        </p:tgtEl>
                                        <p:attrNameLst>
                                          <p:attrName>style.visibility</p:attrName>
                                        </p:attrNameLst>
                                      </p:cBhvr>
                                      <p:to>
                                        <p:strVal val="visible"/>
                                      </p:to>
                                    </p:set>
                                    <p:animEffect filter="fade" transition="in">
                                      <p:cBhvr>
                                        <p:cTn dur="500"/>
                                        <p:tgtEl>
                                          <p:spTgt spid="87"/>
                                        </p:tgtEl>
                                      </p:cBhvr>
                                    </p:animEffect>
                                  </p:childTnLst>
                                </p:cTn>
                              </p:par>
                              <p:par>
                                <p:cTn fill="hold" nodeType="withEffect" presetClass="entr" presetID="10" presetSubtype="0">
                                  <p:stCondLst>
                                    <p:cond delay="1560"/>
                                  </p:stCondLst>
                                  <p:childTnLst>
                                    <p:set>
                                      <p:cBhvr>
                                        <p:cTn dur="1" fill="hold">
                                          <p:stCondLst>
                                            <p:cond delay="0"/>
                                          </p:stCondLst>
                                        </p:cTn>
                                        <p:tgtEl>
                                          <p:spTgt spid="88"/>
                                        </p:tgtEl>
                                        <p:attrNameLst>
                                          <p:attrName>style.visibility</p:attrName>
                                        </p:attrNameLst>
                                      </p:cBhvr>
                                      <p:to>
                                        <p:strVal val="visible"/>
                                      </p:to>
                                    </p:set>
                                    <p:animEffect filter="fade" transition="in">
                                      <p:cBhvr>
                                        <p:cTn dur="500"/>
                                        <p:tgtEl>
                                          <p:spTgt spid="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erena SENA">
  <a:themeElements>
    <a:clrScheme name="Serena SENA">
      <a:dk1>
        <a:srgbClr val="1B2A1B"/>
      </a:dk1>
      <a:lt1>
        <a:srgbClr val="FFFFFF"/>
      </a:lt1>
      <a:dk2>
        <a:srgbClr val="0E3B16"/>
      </a:dk2>
      <a:lt2>
        <a:srgbClr val="EAF5E1"/>
      </a:lt2>
      <a:accent1>
        <a:srgbClr val="39A900"/>
      </a:accent1>
      <a:accent2>
        <a:srgbClr val="2E7D00"/>
      </a:accent2>
      <a:accent3>
        <a:srgbClr val="F2A93B"/>
      </a:accent3>
      <a:accent4>
        <a:srgbClr val="7CC450"/>
      </a:accent4>
      <a:accent5>
        <a:srgbClr val="E4572E"/>
      </a:accent5>
      <a:accent6>
        <a:srgbClr val="4F6B58"/>
      </a:accent6>
      <a:hlink>
        <a:srgbClr val="2E7D00"/>
      </a:hlink>
      <a:folHlink>
        <a:srgbClr val="4F6B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erena SENA">
  <a:themeElements>
    <a:clrScheme name="Serena SENA">
      <a:dk1>
        <a:srgbClr val="1B2A1B"/>
      </a:dk1>
      <a:lt1>
        <a:srgbClr val="FFFFFF"/>
      </a:lt1>
      <a:dk2>
        <a:srgbClr val="0E3B16"/>
      </a:dk2>
      <a:lt2>
        <a:srgbClr val="EAF5E1"/>
      </a:lt2>
      <a:accent1>
        <a:srgbClr val="39A900"/>
      </a:accent1>
      <a:accent2>
        <a:srgbClr val="2E7D00"/>
      </a:accent2>
      <a:accent3>
        <a:srgbClr val="F2A93B"/>
      </a:accent3>
      <a:accent4>
        <a:srgbClr val="7CC450"/>
      </a:accent4>
      <a:accent5>
        <a:srgbClr val="E4572E"/>
      </a:accent5>
      <a:accent6>
        <a:srgbClr val="4F6B58"/>
      </a:accent6>
      <a:hlink>
        <a:srgbClr val="2E7D00"/>
      </a:hlink>
      <a:folHlink>
        <a:srgbClr val="4F6B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2026-10-05T22:23:44Z</dcterms:created>
  <dc:creator>David Santiago Mosquera Mosquera y Ana Sofía Ángel Moncada</dc:creator>
</cp:coreProperties>
</file>